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43"/>
  </p:notesMasterIdLst>
  <p:handoutMasterIdLst>
    <p:handoutMasterId r:id="rId44"/>
  </p:handoutMasterIdLst>
  <p:sldIdLst>
    <p:sldId id="344" r:id="rId2"/>
    <p:sldId id="258" r:id="rId3"/>
    <p:sldId id="264" r:id="rId4"/>
    <p:sldId id="459" r:id="rId5"/>
    <p:sldId id="461" r:id="rId6"/>
    <p:sldId id="462" r:id="rId7"/>
    <p:sldId id="463" r:id="rId8"/>
    <p:sldId id="464" r:id="rId9"/>
    <p:sldId id="460" r:id="rId10"/>
    <p:sldId id="356" r:id="rId11"/>
    <p:sldId id="357" r:id="rId12"/>
    <p:sldId id="438" r:id="rId13"/>
    <p:sldId id="439" r:id="rId14"/>
    <p:sldId id="440" r:id="rId15"/>
    <p:sldId id="458" r:id="rId16"/>
    <p:sldId id="433" r:id="rId17"/>
    <p:sldId id="434" r:id="rId18"/>
    <p:sldId id="435" r:id="rId19"/>
    <p:sldId id="436" r:id="rId20"/>
    <p:sldId id="437" r:id="rId21"/>
    <p:sldId id="413" r:id="rId22"/>
    <p:sldId id="442" r:id="rId23"/>
    <p:sldId id="443" r:id="rId24"/>
    <p:sldId id="265" r:id="rId25"/>
    <p:sldId id="441" r:id="rId26"/>
    <p:sldId id="444" r:id="rId27"/>
    <p:sldId id="410" r:id="rId28"/>
    <p:sldId id="445" r:id="rId29"/>
    <p:sldId id="456" r:id="rId30"/>
    <p:sldId id="446" r:id="rId31"/>
    <p:sldId id="465" r:id="rId32"/>
    <p:sldId id="448" r:id="rId33"/>
    <p:sldId id="350" r:id="rId34"/>
    <p:sldId id="450" r:id="rId35"/>
    <p:sldId id="452" r:id="rId36"/>
    <p:sldId id="453" r:id="rId37"/>
    <p:sldId id="454" r:id="rId38"/>
    <p:sldId id="455" r:id="rId39"/>
    <p:sldId id="457" r:id="rId40"/>
    <p:sldId id="290" r:id="rId41"/>
    <p:sldId id="282" r:id="rId42"/>
  </p:sldIdLst>
  <p:sldSz cx="12192000" cy="6858000"/>
  <p:notesSz cx="6858000" cy="9144000"/>
  <p:custDataLst>
    <p:tags r:id="rId4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6"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7377"/>
    <a:srgbClr val="C8B08A"/>
    <a:srgbClr val="88745B"/>
    <a:srgbClr val="4F4D50"/>
    <a:srgbClr val="F7DCAC"/>
    <a:srgbClr val="FCE1B0"/>
    <a:srgbClr val="FEFC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77" autoAdjust="0"/>
    <p:restoredTop sz="96314" autoAdjust="0"/>
  </p:normalViewPr>
  <p:slideViewPr>
    <p:cSldViewPr snapToGrid="0">
      <p:cViewPr varScale="1">
        <p:scale>
          <a:sx n="82" d="100"/>
          <a:sy n="82" d="100"/>
        </p:scale>
        <p:origin x="739" y="62"/>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6" d="100"/>
          <a:sy n="56" d="100"/>
        </p:scale>
        <p:origin x="2028"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viewProps" Target="view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C8EE63D-CDD1-4C5E-94F7-FA51910C08B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F17FAE88-E9AC-4701-92C2-E316BA68C5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FA756A-9CED-45B2-A3E2-1B38ACB53DA9}" type="datetimeFigureOut">
              <a:rPr lang="zh-CN" altLang="en-US" smtClean="0"/>
              <a:t>2021/7/11</a:t>
            </a:fld>
            <a:endParaRPr lang="zh-CN" altLang="en-US"/>
          </a:p>
        </p:txBody>
      </p:sp>
      <p:sp>
        <p:nvSpPr>
          <p:cNvPr id="4" name="页脚占位符 3">
            <a:extLst>
              <a:ext uri="{FF2B5EF4-FFF2-40B4-BE49-F238E27FC236}">
                <a16:creationId xmlns:a16="http://schemas.microsoft.com/office/drawing/2014/main" id="{F2E7A1AE-8570-4722-97E6-E20108E2389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FBE9A790-25C6-4040-8641-8909AD71431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3677230-6F38-445E-BCCA-CE113461A249}" type="slidenum">
              <a:rPr lang="zh-CN" altLang="en-US" smtClean="0"/>
              <a:t>‹#›</a:t>
            </a:fld>
            <a:endParaRPr lang="zh-CN" altLang="en-US"/>
          </a:p>
        </p:txBody>
      </p:sp>
    </p:spTree>
    <p:extLst>
      <p:ext uri="{BB962C8B-B14F-4D97-AF65-F5344CB8AC3E}">
        <p14:creationId xmlns:p14="http://schemas.microsoft.com/office/powerpoint/2010/main" val="30728403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A86506-327F-4788-BAF0-4B794890C8AC}" type="datetimeFigureOut">
              <a:rPr lang="zh-CN" altLang="en-US" smtClean="0"/>
              <a:t>2021/7/11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31F724-51D9-486B-9BFF-C542D0E12BC5}" type="slidenum">
              <a:rPr lang="zh-CN" altLang="en-US" smtClean="0"/>
              <a:t>‹#›</a:t>
            </a:fld>
            <a:endParaRPr lang="zh-CN" altLang="en-US"/>
          </a:p>
        </p:txBody>
      </p:sp>
    </p:spTree>
    <p:extLst>
      <p:ext uri="{BB962C8B-B14F-4D97-AF65-F5344CB8AC3E}">
        <p14:creationId xmlns:p14="http://schemas.microsoft.com/office/powerpoint/2010/main" val="1224807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B31F724-51D9-486B-9BFF-C542D0E12BC5}" type="slidenum">
              <a:rPr lang="zh-CN" altLang="en-US" smtClean="0"/>
              <a:t>1</a:t>
            </a:fld>
            <a:endParaRPr lang="zh-CN" altLang="en-US"/>
          </a:p>
        </p:txBody>
      </p:sp>
    </p:spTree>
    <p:extLst>
      <p:ext uri="{BB962C8B-B14F-4D97-AF65-F5344CB8AC3E}">
        <p14:creationId xmlns:p14="http://schemas.microsoft.com/office/powerpoint/2010/main" val="345144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a:rPr>
              <a:pPr/>
              <a:t>2</a:t>
            </a:fld>
            <a:endParaRPr lang="zh-CN" altLang="en-US">
              <a:solidFill>
                <a:prstClr val="black"/>
              </a:solidFill>
              <a:latin typeface="等线"/>
            </a:endParaRPr>
          </a:p>
        </p:txBody>
      </p:sp>
    </p:spTree>
    <p:extLst>
      <p:ext uri="{BB962C8B-B14F-4D97-AF65-F5344CB8AC3E}">
        <p14:creationId xmlns:p14="http://schemas.microsoft.com/office/powerpoint/2010/main" val="433989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a:rPr>
              <a:pPr/>
              <a:t>3</a:t>
            </a:fld>
            <a:endParaRPr lang="zh-CN" altLang="en-US">
              <a:solidFill>
                <a:prstClr val="black"/>
              </a:solidFill>
              <a:latin typeface="等线"/>
            </a:endParaRPr>
          </a:p>
        </p:txBody>
      </p:sp>
    </p:spTree>
    <p:extLst>
      <p:ext uri="{BB962C8B-B14F-4D97-AF65-F5344CB8AC3E}">
        <p14:creationId xmlns:p14="http://schemas.microsoft.com/office/powerpoint/2010/main" val="2033308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a:rPr>
              <a:pPr/>
              <a:t>4</a:t>
            </a:fld>
            <a:endParaRPr lang="zh-CN" altLang="en-US">
              <a:solidFill>
                <a:prstClr val="black"/>
              </a:solidFill>
              <a:latin typeface="等线"/>
            </a:endParaRPr>
          </a:p>
        </p:txBody>
      </p:sp>
    </p:spTree>
    <p:extLst>
      <p:ext uri="{BB962C8B-B14F-4D97-AF65-F5344CB8AC3E}">
        <p14:creationId xmlns:p14="http://schemas.microsoft.com/office/powerpoint/2010/main" val="3137375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a:rPr>
              <a:pPr/>
              <a:t>5</a:t>
            </a:fld>
            <a:endParaRPr lang="zh-CN" altLang="en-US">
              <a:solidFill>
                <a:prstClr val="black"/>
              </a:solidFill>
              <a:latin typeface="等线"/>
            </a:endParaRPr>
          </a:p>
        </p:txBody>
      </p:sp>
    </p:spTree>
    <p:extLst>
      <p:ext uri="{BB962C8B-B14F-4D97-AF65-F5344CB8AC3E}">
        <p14:creationId xmlns:p14="http://schemas.microsoft.com/office/powerpoint/2010/main" val="811292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a:rPr>
              <a:pPr/>
              <a:t>6</a:t>
            </a:fld>
            <a:endParaRPr lang="zh-CN" altLang="en-US">
              <a:solidFill>
                <a:prstClr val="black"/>
              </a:solidFill>
              <a:latin typeface="等线"/>
            </a:endParaRPr>
          </a:p>
        </p:txBody>
      </p:sp>
    </p:spTree>
    <p:extLst>
      <p:ext uri="{BB962C8B-B14F-4D97-AF65-F5344CB8AC3E}">
        <p14:creationId xmlns:p14="http://schemas.microsoft.com/office/powerpoint/2010/main" val="2465098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a:rPr>
              <a:pPr/>
              <a:t>7</a:t>
            </a:fld>
            <a:endParaRPr lang="zh-CN" altLang="en-US">
              <a:solidFill>
                <a:prstClr val="black"/>
              </a:solidFill>
              <a:latin typeface="等线"/>
            </a:endParaRPr>
          </a:p>
        </p:txBody>
      </p:sp>
    </p:spTree>
    <p:extLst>
      <p:ext uri="{BB962C8B-B14F-4D97-AF65-F5344CB8AC3E}">
        <p14:creationId xmlns:p14="http://schemas.microsoft.com/office/powerpoint/2010/main" val="3460572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a:rPr>
              <a:pPr/>
              <a:t>8</a:t>
            </a:fld>
            <a:endParaRPr lang="zh-CN" altLang="en-US">
              <a:solidFill>
                <a:prstClr val="black"/>
              </a:solidFill>
              <a:latin typeface="等线"/>
            </a:endParaRPr>
          </a:p>
        </p:txBody>
      </p:sp>
    </p:spTree>
    <p:extLst>
      <p:ext uri="{BB962C8B-B14F-4D97-AF65-F5344CB8AC3E}">
        <p14:creationId xmlns:p14="http://schemas.microsoft.com/office/powerpoint/2010/main" val="3398868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a:rPr>
              <a:pPr/>
              <a:t>9</a:t>
            </a:fld>
            <a:endParaRPr lang="zh-CN" altLang="en-US">
              <a:solidFill>
                <a:prstClr val="black"/>
              </a:solidFill>
              <a:latin typeface="等线"/>
            </a:endParaRPr>
          </a:p>
        </p:txBody>
      </p:sp>
    </p:spTree>
    <p:extLst>
      <p:ext uri="{BB962C8B-B14F-4D97-AF65-F5344CB8AC3E}">
        <p14:creationId xmlns:p14="http://schemas.microsoft.com/office/powerpoint/2010/main" val="34687610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10</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2364657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11</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12553685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12</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23644654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13</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20723024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14</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33605615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a:rPr>
              <a:pPr/>
              <a:t>15</a:t>
            </a:fld>
            <a:endParaRPr lang="zh-CN" altLang="en-US">
              <a:solidFill>
                <a:prstClr val="black"/>
              </a:solidFill>
              <a:latin typeface="等线"/>
            </a:endParaRPr>
          </a:p>
        </p:txBody>
      </p:sp>
    </p:spTree>
    <p:extLst>
      <p:ext uri="{BB962C8B-B14F-4D97-AF65-F5344CB8AC3E}">
        <p14:creationId xmlns:p14="http://schemas.microsoft.com/office/powerpoint/2010/main" val="6271285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16</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1806667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17</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22961856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18</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21538371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19</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15141115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20</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20278592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21</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26876825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22</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14192045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23</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23241878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a:rPr>
              <a:pPr/>
              <a:t>24</a:t>
            </a:fld>
            <a:endParaRPr lang="zh-CN" altLang="en-US">
              <a:solidFill>
                <a:prstClr val="black"/>
              </a:solidFill>
              <a:latin typeface="等线"/>
            </a:endParaRPr>
          </a:p>
        </p:txBody>
      </p:sp>
    </p:spTree>
    <p:extLst>
      <p:ext uri="{BB962C8B-B14F-4D97-AF65-F5344CB8AC3E}">
        <p14:creationId xmlns:p14="http://schemas.microsoft.com/office/powerpoint/2010/main" val="22161185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25</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11781690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26</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26747425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27</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23937518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28</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9501588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29</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8718895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30</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9031221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31</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15588076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32</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19316250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a:rPr>
              <a:pPr/>
              <a:t>33</a:t>
            </a:fld>
            <a:endParaRPr lang="zh-CN" altLang="en-US">
              <a:solidFill>
                <a:prstClr val="black"/>
              </a:solidFill>
              <a:latin typeface="等线"/>
            </a:endParaRPr>
          </a:p>
        </p:txBody>
      </p:sp>
    </p:spTree>
    <p:extLst>
      <p:ext uri="{BB962C8B-B14F-4D97-AF65-F5344CB8AC3E}">
        <p14:creationId xmlns:p14="http://schemas.microsoft.com/office/powerpoint/2010/main" val="6271285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a:rPr>
              <a:pPr/>
              <a:t>34</a:t>
            </a:fld>
            <a:endParaRPr lang="zh-CN" altLang="en-US">
              <a:solidFill>
                <a:prstClr val="black"/>
              </a:solidFill>
              <a:latin typeface="等线"/>
            </a:endParaRPr>
          </a:p>
        </p:txBody>
      </p:sp>
    </p:spTree>
    <p:extLst>
      <p:ext uri="{BB962C8B-B14F-4D97-AF65-F5344CB8AC3E}">
        <p14:creationId xmlns:p14="http://schemas.microsoft.com/office/powerpoint/2010/main" val="20499878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a:rPr>
              <a:pPr/>
              <a:t>35</a:t>
            </a:fld>
            <a:endParaRPr lang="zh-CN" altLang="en-US">
              <a:solidFill>
                <a:prstClr val="black"/>
              </a:solidFill>
              <a:latin typeface="等线"/>
            </a:endParaRPr>
          </a:p>
        </p:txBody>
      </p:sp>
    </p:spTree>
    <p:extLst>
      <p:ext uri="{BB962C8B-B14F-4D97-AF65-F5344CB8AC3E}">
        <p14:creationId xmlns:p14="http://schemas.microsoft.com/office/powerpoint/2010/main" val="346782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a:rPr>
              <a:pPr/>
              <a:t>36</a:t>
            </a:fld>
            <a:endParaRPr lang="zh-CN" altLang="en-US">
              <a:solidFill>
                <a:prstClr val="black"/>
              </a:solidFill>
              <a:latin typeface="等线"/>
            </a:endParaRPr>
          </a:p>
        </p:txBody>
      </p:sp>
    </p:spTree>
    <p:extLst>
      <p:ext uri="{BB962C8B-B14F-4D97-AF65-F5344CB8AC3E}">
        <p14:creationId xmlns:p14="http://schemas.microsoft.com/office/powerpoint/2010/main" val="34730679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a:rPr>
              <a:pPr/>
              <a:t>37</a:t>
            </a:fld>
            <a:endParaRPr lang="zh-CN" altLang="en-US">
              <a:solidFill>
                <a:prstClr val="black"/>
              </a:solidFill>
              <a:latin typeface="等线"/>
            </a:endParaRPr>
          </a:p>
        </p:txBody>
      </p:sp>
    </p:spTree>
    <p:extLst>
      <p:ext uri="{BB962C8B-B14F-4D97-AF65-F5344CB8AC3E}">
        <p14:creationId xmlns:p14="http://schemas.microsoft.com/office/powerpoint/2010/main" val="24465712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38</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9122141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39</a:t>
            </a:fld>
            <a:endParaRPr lang="zh-CN" altLang="en-US">
              <a:solidFill>
                <a:prstClr val="black"/>
              </a:solidFill>
              <a:latin typeface="等线" panose="02010600030101010101" charset="-122"/>
            </a:endParaRPr>
          </a:p>
        </p:txBody>
      </p:sp>
    </p:spTree>
    <p:extLst>
      <p:ext uri="{BB962C8B-B14F-4D97-AF65-F5344CB8AC3E}">
        <p14:creationId xmlns:p14="http://schemas.microsoft.com/office/powerpoint/2010/main" val="42396816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4E33503-B4A9-4273-8D5C-F1CAFA6293E2}" type="slidenum">
              <a:rPr lang="zh-CN" altLang="en-US" smtClean="0"/>
              <a:t>40</a:t>
            </a:fld>
            <a:endParaRPr lang="zh-CN" altLang="en-US"/>
          </a:p>
        </p:txBody>
      </p:sp>
    </p:spTree>
    <p:extLst>
      <p:ext uri="{BB962C8B-B14F-4D97-AF65-F5344CB8AC3E}">
        <p14:creationId xmlns:p14="http://schemas.microsoft.com/office/powerpoint/2010/main" val="22005056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a:rPr>
              <a:pPr/>
              <a:t>41</a:t>
            </a:fld>
            <a:endParaRPr lang="zh-CN" altLang="en-US">
              <a:solidFill>
                <a:prstClr val="black"/>
              </a:solidFill>
              <a:latin typeface="等线"/>
            </a:endParaRPr>
          </a:p>
        </p:txBody>
      </p:sp>
    </p:spTree>
    <p:extLst>
      <p:ext uri="{BB962C8B-B14F-4D97-AF65-F5344CB8AC3E}">
        <p14:creationId xmlns:p14="http://schemas.microsoft.com/office/powerpoint/2010/main" val="4128538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1.xml"/><Relationship Id="rId5" Type="http://schemas.openxmlformats.org/officeDocument/2006/relationships/tags" Target="../tags/tag6.xml"/><Relationship Id="rId4"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3169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075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2021/7/11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188995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9F05F9E-E3BF-4D55-9B21-0CA8CF92D8FB}"/>
              </a:ext>
            </a:extLst>
          </p:cNvPr>
          <p:cNvSpPr>
            <a:spLocks noGrp="1"/>
          </p:cNvSpPr>
          <p:nvPr>
            <p:ph type="dt" sz="half" idx="10"/>
          </p:nvPr>
        </p:nvSpPr>
        <p:spPr>
          <a:xfrm>
            <a:off x="838200" y="6356352"/>
            <a:ext cx="2743200" cy="365125"/>
          </a:xfrm>
          <a:prstGeom prst="rect">
            <a:avLst/>
          </a:prstGeom>
        </p:spPr>
        <p:txBody>
          <a:bodyPr/>
          <a:lstStyle/>
          <a:p>
            <a:fld id="{FE158B01-1B94-410B-955F-6A222A70BFA3}" type="datetimeFigureOut">
              <a:rPr lang="zh-CN" altLang="en-US" smtClean="0">
                <a:solidFill>
                  <a:prstClr val="black">
                    <a:tint val="75000"/>
                  </a:prstClr>
                </a:solidFill>
              </a:rPr>
              <a:pPr/>
              <a:t>2021/7/11</a:t>
            </a:fld>
            <a:endParaRPr lang="zh-CN" altLang="en-US">
              <a:solidFill>
                <a:prstClr val="black">
                  <a:tint val="75000"/>
                </a:prstClr>
              </a:solidFill>
            </a:endParaRPr>
          </a:p>
        </p:txBody>
      </p:sp>
      <p:sp>
        <p:nvSpPr>
          <p:cNvPr id="3" name="页脚占位符 2">
            <a:extLst>
              <a:ext uri="{FF2B5EF4-FFF2-40B4-BE49-F238E27FC236}">
                <a16:creationId xmlns:a16="http://schemas.microsoft.com/office/drawing/2014/main" id="{765DDF11-6287-4228-B667-23360537339F}"/>
              </a:ext>
            </a:extLst>
          </p:cNvPr>
          <p:cNvSpPr>
            <a:spLocks noGrp="1"/>
          </p:cNvSpPr>
          <p:nvPr>
            <p:ph type="ftr" sz="quarter" idx="11"/>
          </p:nvPr>
        </p:nvSpPr>
        <p:spPr>
          <a:xfrm>
            <a:off x="4038600" y="6356352"/>
            <a:ext cx="4114800" cy="365125"/>
          </a:xfrm>
          <a:prstGeom prst="rect">
            <a:avLst/>
          </a:prstGeom>
        </p:spPr>
        <p:txBody>
          <a:bodyPr/>
          <a:lstStyle/>
          <a:p>
            <a:endParaRPr lang="zh-CN" altLang="en-US">
              <a:solidFill>
                <a:prstClr val="black">
                  <a:tint val="75000"/>
                </a:prstClr>
              </a:solidFill>
            </a:endParaRPr>
          </a:p>
        </p:txBody>
      </p:sp>
      <p:sp>
        <p:nvSpPr>
          <p:cNvPr id="4" name="灯片编号占位符 3">
            <a:extLst>
              <a:ext uri="{FF2B5EF4-FFF2-40B4-BE49-F238E27FC236}">
                <a16:creationId xmlns:a16="http://schemas.microsoft.com/office/drawing/2014/main" id="{F495C292-412B-4065-AC0A-580E49FABDC8}"/>
              </a:ext>
            </a:extLst>
          </p:cNvPr>
          <p:cNvSpPr>
            <a:spLocks noGrp="1"/>
          </p:cNvSpPr>
          <p:nvPr>
            <p:ph type="sldNum" sz="quarter" idx="12"/>
          </p:nvPr>
        </p:nvSpPr>
        <p:spPr>
          <a:xfrm>
            <a:off x="8610600" y="6356352"/>
            <a:ext cx="2743200" cy="365125"/>
          </a:xfrm>
          <a:prstGeom prst="rect">
            <a:avLst/>
          </a:prstGeom>
        </p:spPr>
        <p:txBody>
          <a:bodyPr/>
          <a:lstStyle/>
          <a:p>
            <a:fld id="{8A3A7E1F-F86D-4EC0-8623-A67CB04E396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703169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EFCF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25363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7" r:id="rId3"/>
    <p:sldLayoutId id="2147483669" r:id="rId4"/>
  </p:sldLayoutIdLst>
  <p:txStyles>
    <p:titleStyle>
      <a:lvl1pPr algn="ctr" defTabSz="1219020" rtl="0" eaLnBrk="1" latinLnBrk="0" hangingPunct="1">
        <a:spcBef>
          <a:spcPct val="0"/>
        </a:spcBef>
        <a:buNone/>
        <a:defRPr sz="5867" kern="1200">
          <a:solidFill>
            <a:schemeClr val="tx1"/>
          </a:solidFill>
          <a:latin typeface="+mj-lt"/>
          <a:ea typeface="+mj-ea"/>
          <a:cs typeface="+mj-cs"/>
        </a:defRPr>
      </a:lvl1pPr>
    </p:titleStyle>
    <p:bodyStyle>
      <a:lvl1pPr marL="457133" indent="-457133" algn="l" defTabSz="121902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454" indent="-380944" algn="l" defTabSz="121902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777" indent="-304755" algn="l" defTabSz="121902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287" indent="-304755" algn="l" defTabSz="121902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2797" indent="-304755" algn="l" defTabSz="121902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307" indent="-304755" algn="l" defTabSz="121902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1817" indent="-304755" algn="l" defTabSz="121902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328" indent="-304755" algn="l" defTabSz="121902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0838" indent="-304755" algn="l" defTabSz="121902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020" rtl="0" eaLnBrk="1" latinLnBrk="0" hangingPunct="1">
        <a:defRPr sz="2400" kern="1200">
          <a:solidFill>
            <a:schemeClr val="tx1"/>
          </a:solidFill>
          <a:latin typeface="+mn-lt"/>
          <a:ea typeface="+mn-ea"/>
          <a:cs typeface="+mn-cs"/>
        </a:defRPr>
      </a:lvl1pPr>
      <a:lvl2pPr marL="609510" algn="l" defTabSz="1219020" rtl="0" eaLnBrk="1" latinLnBrk="0" hangingPunct="1">
        <a:defRPr sz="2400" kern="1200">
          <a:solidFill>
            <a:schemeClr val="tx1"/>
          </a:solidFill>
          <a:latin typeface="+mn-lt"/>
          <a:ea typeface="+mn-ea"/>
          <a:cs typeface="+mn-cs"/>
        </a:defRPr>
      </a:lvl2pPr>
      <a:lvl3pPr marL="1219020" algn="l" defTabSz="1219020" rtl="0" eaLnBrk="1" latinLnBrk="0" hangingPunct="1">
        <a:defRPr sz="2400" kern="1200">
          <a:solidFill>
            <a:schemeClr val="tx1"/>
          </a:solidFill>
          <a:latin typeface="+mn-lt"/>
          <a:ea typeface="+mn-ea"/>
          <a:cs typeface="+mn-cs"/>
        </a:defRPr>
      </a:lvl3pPr>
      <a:lvl4pPr marL="1828532" algn="l" defTabSz="1219020" rtl="0" eaLnBrk="1" latinLnBrk="0" hangingPunct="1">
        <a:defRPr sz="2400" kern="1200">
          <a:solidFill>
            <a:schemeClr val="tx1"/>
          </a:solidFill>
          <a:latin typeface="+mn-lt"/>
          <a:ea typeface="+mn-ea"/>
          <a:cs typeface="+mn-cs"/>
        </a:defRPr>
      </a:lvl4pPr>
      <a:lvl5pPr marL="2438042" algn="l" defTabSz="1219020" rtl="0" eaLnBrk="1" latinLnBrk="0" hangingPunct="1">
        <a:defRPr sz="2400" kern="1200">
          <a:solidFill>
            <a:schemeClr val="tx1"/>
          </a:solidFill>
          <a:latin typeface="+mn-lt"/>
          <a:ea typeface="+mn-ea"/>
          <a:cs typeface="+mn-cs"/>
        </a:defRPr>
      </a:lvl5pPr>
      <a:lvl6pPr marL="3047552" algn="l" defTabSz="1219020" rtl="0" eaLnBrk="1" latinLnBrk="0" hangingPunct="1">
        <a:defRPr sz="2400" kern="1200">
          <a:solidFill>
            <a:schemeClr val="tx1"/>
          </a:solidFill>
          <a:latin typeface="+mn-lt"/>
          <a:ea typeface="+mn-ea"/>
          <a:cs typeface="+mn-cs"/>
        </a:defRPr>
      </a:lvl6pPr>
      <a:lvl7pPr marL="3657062" algn="l" defTabSz="1219020" rtl="0" eaLnBrk="1" latinLnBrk="0" hangingPunct="1">
        <a:defRPr sz="2400" kern="1200">
          <a:solidFill>
            <a:schemeClr val="tx1"/>
          </a:solidFill>
          <a:latin typeface="+mn-lt"/>
          <a:ea typeface="+mn-ea"/>
          <a:cs typeface="+mn-cs"/>
        </a:defRPr>
      </a:lvl7pPr>
      <a:lvl8pPr marL="4266572" algn="l" defTabSz="1219020" rtl="0" eaLnBrk="1" latinLnBrk="0" hangingPunct="1">
        <a:defRPr sz="2400" kern="1200">
          <a:solidFill>
            <a:schemeClr val="tx1"/>
          </a:solidFill>
          <a:latin typeface="+mn-lt"/>
          <a:ea typeface="+mn-ea"/>
          <a:cs typeface="+mn-cs"/>
        </a:defRPr>
      </a:lvl8pPr>
      <a:lvl9pPr marL="4876083" algn="l" defTabSz="121902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2.pn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8.png"/><Relationship Id="rId7"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8.png"/><Relationship Id="rId7"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36.png"/><Relationship Id="rId5" Type="http://schemas.microsoft.com/office/2007/relationships/hdphoto" Target="../media/hdphoto2.wdp"/><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9.png"/><Relationship Id="rId5" Type="http://schemas.microsoft.com/office/2007/relationships/hdphoto" Target="../media/hdphoto4.wdp"/><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microsoft.com/office/2007/relationships/hdphoto" Target="../media/hdphoto5.wdp"/><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microsoft.com/office/2007/relationships/hdphoto" Target="../media/hdphoto6.wdp"/><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0339024" y="6351851"/>
            <a:ext cx="1528719" cy="302527"/>
            <a:chOff x="5796136" y="4189567"/>
            <a:chExt cx="1146539" cy="226895"/>
          </a:xfrm>
          <a:effectLst>
            <a:outerShdw blurRad="254000" dist="63500" dir="2700000" algn="tl" rotWithShape="0">
              <a:prstClr val="black">
                <a:alpha val="30000"/>
              </a:prstClr>
            </a:outerShdw>
          </a:effectLst>
        </p:grpSpPr>
        <p:sp>
          <p:nvSpPr>
            <p:cNvPr id="12" name="流程图: 数据 9"/>
            <p:cNvSpPr/>
            <p:nvPr/>
          </p:nvSpPr>
          <p:spPr>
            <a:xfrm>
              <a:off x="5796136" y="4189567"/>
              <a:ext cx="156946" cy="22689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8208"/>
                <a:gd name="connsiteY0" fmla="*/ 10042 h 10042"/>
                <a:gd name="connsiteX1" fmla="*/ 2000 w 18208"/>
                <a:gd name="connsiteY1" fmla="*/ 42 h 10042"/>
                <a:gd name="connsiteX2" fmla="*/ 18208 w 18208"/>
                <a:gd name="connsiteY2" fmla="*/ 0 h 10042"/>
                <a:gd name="connsiteX3" fmla="*/ 8000 w 18208"/>
                <a:gd name="connsiteY3" fmla="*/ 10042 h 10042"/>
                <a:gd name="connsiteX4" fmla="*/ 0 w 18208"/>
                <a:gd name="connsiteY4" fmla="*/ 10042 h 10042"/>
                <a:gd name="connsiteX0" fmla="*/ 0 w 18208"/>
                <a:gd name="connsiteY0" fmla="*/ 10042 h 10042"/>
                <a:gd name="connsiteX1" fmla="*/ 10498 w 18208"/>
                <a:gd name="connsiteY1" fmla="*/ 126 h 10042"/>
                <a:gd name="connsiteX2" fmla="*/ 18208 w 18208"/>
                <a:gd name="connsiteY2" fmla="*/ 0 h 10042"/>
                <a:gd name="connsiteX3" fmla="*/ 8000 w 18208"/>
                <a:gd name="connsiteY3" fmla="*/ 10042 h 10042"/>
                <a:gd name="connsiteX4" fmla="*/ 0 w 18208"/>
                <a:gd name="connsiteY4" fmla="*/ 10042 h 1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8" h="10042">
                  <a:moveTo>
                    <a:pt x="0" y="10042"/>
                  </a:moveTo>
                  <a:lnTo>
                    <a:pt x="10498" y="126"/>
                  </a:lnTo>
                  <a:lnTo>
                    <a:pt x="18208" y="0"/>
                  </a:lnTo>
                  <a:lnTo>
                    <a:pt x="8000" y="10042"/>
                  </a:lnTo>
                  <a:lnTo>
                    <a:pt x="0" y="10042"/>
                  </a:lnTo>
                  <a:close/>
                </a:path>
              </a:pathLst>
            </a:cu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20"/>
              <a:endParaRPr lang="zh-CN" altLang="en-US" sz="2400">
                <a:solidFill>
                  <a:prstClr val="white"/>
                </a:solidFill>
              </a:endParaRPr>
            </a:p>
          </p:txBody>
        </p:sp>
        <p:sp>
          <p:nvSpPr>
            <p:cNvPr id="13" name="流程图: 数据 9"/>
            <p:cNvSpPr/>
            <p:nvPr/>
          </p:nvSpPr>
          <p:spPr>
            <a:xfrm>
              <a:off x="5937506" y="4189567"/>
              <a:ext cx="156946" cy="22689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8208"/>
                <a:gd name="connsiteY0" fmla="*/ 10042 h 10042"/>
                <a:gd name="connsiteX1" fmla="*/ 2000 w 18208"/>
                <a:gd name="connsiteY1" fmla="*/ 42 h 10042"/>
                <a:gd name="connsiteX2" fmla="*/ 18208 w 18208"/>
                <a:gd name="connsiteY2" fmla="*/ 0 h 10042"/>
                <a:gd name="connsiteX3" fmla="*/ 8000 w 18208"/>
                <a:gd name="connsiteY3" fmla="*/ 10042 h 10042"/>
                <a:gd name="connsiteX4" fmla="*/ 0 w 18208"/>
                <a:gd name="connsiteY4" fmla="*/ 10042 h 10042"/>
                <a:gd name="connsiteX0" fmla="*/ 0 w 18208"/>
                <a:gd name="connsiteY0" fmla="*/ 10042 h 10042"/>
                <a:gd name="connsiteX1" fmla="*/ 10498 w 18208"/>
                <a:gd name="connsiteY1" fmla="*/ 126 h 10042"/>
                <a:gd name="connsiteX2" fmla="*/ 18208 w 18208"/>
                <a:gd name="connsiteY2" fmla="*/ 0 h 10042"/>
                <a:gd name="connsiteX3" fmla="*/ 8000 w 18208"/>
                <a:gd name="connsiteY3" fmla="*/ 10042 h 10042"/>
                <a:gd name="connsiteX4" fmla="*/ 0 w 18208"/>
                <a:gd name="connsiteY4" fmla="*/ 10042 h 1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8" h="10042">
                  <a:moveTo>
                    <a:pt x="0" y="10042"/>
                  </a:moveTo>
                  <a:lnTo>
                    <a:pt x="10498" y="126"/>
                  </a:lnTo>
                  <a:lnTo>
                    <a:pt x="18208" y="0"/>
                  </a:lnTo>
                  <a:lnTo>
                    <a:pt x="8000" y="10042"/>
                  </a:lnTo>
                  <a:lnTo>
                    <a:pt x="0" y="10042"/>
                  </a:lnTo>
                  <a:close/>
                </a:path>
              </a:pathLst>
            </a:cu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20"/>
              <a:endParaRPr lang="zh-CN" altLang="en-US" sz="2400">
                <a:solidFill>
                  <a:prstClr val="white"/>
                </a:solidFill>
              </a:endParaRPr>
            </a:p>
          </p:txBody>
        </p:sp>
        <p:sp>
          <p:nvSpPr>
            <p:cNvPr id="14" name="流程图: 数据 9"/>
            <p:cNvSpPr/>
            <p:nvPr/>
          </p:nvSpPr>
          <p:spPr>
            <a:xfrm>
              <a:off x="6078876" y="4189567"/>
              <a:ext cx="156946" cy="22689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8208"/>
                <a:gd name="connsiteY0" fmla="*/ 10042 h 10042"/>
                <a:gd name="connsiteX1" fmla="*/ 2000 w 18208"/>
                <a:gd name="connsiteY1" fmla="*/ 42 h 10042"/>
                <a:gd name="connsiteX2" fmla="*/ 18208 w 18208"/>
                <a:gd name="connsiteY2" fmla="*/ 0 h 10042"/>
                <a:gd name="connsiteX3" fmla="*/ 8000 w 18208"/>
                <a:gd name="connsiteY3" fmla="*/ 10042 h 10042"/>
                <a:gd name="connsiteX4" fmla="*/ 0 w 18208"/>
                <a:gd name="connsiteY4" fmla="*/ 10042 h 10042"/>
                <a:gd name="connsiteX0" fmla="*/ 0 w 18208"/>
                <a:gd name="connsiteY0" fmla="*/ 10042 h 10042"/>
                <a:gd name="connsiteX1" fmla="*/ 10498 w 18208"/>
                <a:gd name="connsiteY1" fmla="*/ 126 h 10042"/>
                <a:gd name="connsiteX2" fmla="*/ 18208 w 18208"/>
                <a:gd name="connsiteY2" fmla="*/ 0 h 10042"/>
                <a:gd name="connsiteX3" fmla="*/ 8000 w 18208"/>
                <a:gd name="connsiteY3" fmla="*/ 10042 h 10042"/>
                <a:gd name="connsiteX4" fmla="*/ 0 w 18208"/>
                <a:gd name="connsiteY4" fmla="*/ 10042 h 1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8" h="10042">
                  <a:moveTo>
                    <a:pt x="0" y="10042"/>
                  </a:moveTo>
                  <a:lnTo>
                    <a:pt x="10498" y="126"/>
                  </a:lnTo>
                  <a:lnTo>
                    <a:pt x="18208" y="0"/>
                  </a:lnTo>
                  <a:lnTo>
                    <a:pt x="8000" y="10042"/>
                  </a:lnTo>
                  <a:lnTo>
                    <a:pt x="0" y="10042"/>
                  </a:lnTo>
                  <a:close/>
                </a:path>
              </a:pathLst>
            </a:cu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20"/>
              <a:endParaRPr lang="zh-CN" altLang="en-US" sz="2400">
                <a:solidFill>
                  <a:prstClr val="white"/>
                </a:solidFill>
              </a:endParaRPr>
            </a:p>
          </p:txBody>
        </p:sp>
        <p:sp>
          <p:nvSpPr>
            <p:cNvPr id="15" name="流程图: 数据 9"/>
            <p:cNvSpPr/>
            <p:nvPr/>
          </p:nvSpPr>
          <p:spPr>
            <a:xfrm>
              <a:off x="6220246" y="4189567"/>
              <a:ext cx="156946" cy="22689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8208"/>
                <a:gd name="connsiteY0" fmla="*/ 10042 h 10042"/>
                <a:gd name="connsiteX1" fmla="*/ 2000 w 18208"/>
                <a:gd name="connsiteY1" fmla="*/ 42 h 10042"/>
                <a:gd name="connsiteX2" fmla="*/ 18208 w 18208"/>
                <a:gd name="connsiteY2" fmla="*/ 0 h 10042"/>
                <a:gd name="connsiteX3" fmla="*/ 8000 w 18208"/>
                <a:gd name="connsiteY3" fmla="*/ 10042 h 10042"/>
                <a:gd name="connsiteX4" fmla="*/ 0 w 18208"/>
                <a:gd name="connsiteY4" fmla="*/ 10042 h 10042"/>
                <a:gd name="connsiteX0" fmla="*/ 0 w 18208"/>
                <a:gd name="connsiteY0" fmla="*/ 10042 h 10042"/>
                <a:gd name="connsiteX1" fmla="*/ 10498 w 18208"/>
                <a:gd name="connsiteY1" fmla="*/ 126 h 10042"/>
                <a:gd name="connsiteX2" fmla="*/ 18208 w 18208"/>
                <a:gd name="connsiteY2" fmla="*/ 0 h 10042"/>
                <a:gd name="connsiteX3" fmla="*/ 8000 w 18208"/>
                <a:gd name="connsiteY3" fmla="*/ 10042 h 10042"/>
                <a:gd name="connsiteX4" fmla="*/ 0 w 18208"/>
                <a:gd name="connsiteY4" fmla="*/ 10042 h 1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8" h="10042">
                  <a:moveTo>
                    <a:pt x="0" y="10042"/>
                  </a:moveTo>
                  <a:lnTo>
                    <a:pt x="10498" y="126"/>
                  </a:lnTo>
                  <a:lnTo>
                    <a:pt x="18208" y="0"/>
                  </a:lnTo>
                  <a:lnTo>
                    <a:pt x="8000" y="10042"/>
                  </a:lnTo>
                  <a:lnTo>
                    <a:pt x="0" y="10042"/>
                  </a:lnTo>
                  <a:close/>
                </a:path>
              </a:pathLst>
            </a:cu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20"/>
              <a:endParaRPr lang="zh-CN" altLang="en-US" sz="2400">
                <a:solidFill>
                  <a:prstClr val="white"/>
                </a:solidFill>
              </a:endParaRPr>
            </a:p>
          </p:txBody>
        </p:sp>
        <p:sp>
          <p:nvSpPr>
            <p:cNvPr id="16" name="流程图: 数据 9"/>
            <p:cNvSpPr/>
            <p:nvPr/>
          </p:nvSpPr>
          <p:spPr>
            <a:xfrm>
              <a:off x="6361616" y="4189567"/>
              <a:ext cx="156946" cy="22689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8208"/>
                <a:gd name="connsiteY0" fmla="*/ 10042 h 10042"/>
                <a:gd name="connsiteX1" fmla="*/ 2000 w 18208"/>
                <a:gd name="connsiteY1" fmla="*/ 42 h 10042"/>
                <a:gd name="connsiteX2" fmla="*/ 18208 w 18208"/>
                <a:gd name="connsiteY2" fmla="*/ 0 h 10042"/>
                <a:gd name="connsiteX3" fmla="*/ 8000 w 18208"/>
                <a:gd name="connsiteY3" fmla="*/ 10042 h 10042"/>
                <a:gd name="connsiteX4" fmla="*/ 0 w 18208"/>
                <a:gd name="connsiteY4" fmla="*/ 10042 h 10042"/>
                <a:gd name="connsiteX0" fmla="*/ 0 w 18208"/>
                <a:gd name="connsiteY0" fmla="*/ 10042 h 10042"/>
                <a:gd name="connsiteX1" fmla="*/ 10498 w 18208"/>
                <a:gd name="connsiteY1" fmla="*/ 126 h 10042"/>
                <a:gd name="connsiteX2" fmla="*/ 18208 w 18208"/>
                <a:gd name="connsiteY2" fmla="*/ 0 h 10042"/>
                <a:gd name="connsiteX3" fmla="*/ 8000 w 18208"/>
                <a:gd name="connsiteY3" fmla="*/ 10042 h 10042"/>
                <a:gd name="connsiteX4" fmla="*/ 0 w 18208"/>
                <a:gd name="connsiteY4" fmla="*/ 10042 h 1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8" h="10042">
                  <a:moveTo>
                    <a:pt x="0" y="10042"/>
                  </a:moveTo>
                  <a:lnTo>
                    <a:pt x="10498" y="126"/>
                  </a:lnTo>
                  <a:lnTo>
                    <a:pt x="18208" y="0"/>
                  </a:lnTo>
                  <a:lnTo>
                    <a:pt x="8000" y="10042"/>
                  </a:lnTo>
                  <a:lnTo>
                    <a:pt x="0" y="10042"/>
                  </a:lnTo>
                  <a:close/>
                </a:path>
              </a:pathLst>
            </a:cu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20"/>
              <a:endParaRPr lang="zh-CN" altLang="en-US" sz="2400">
                <a:solidFill>
                  <a:prstClr val="white"/>
                </a:solidFill>
              </a:endParaRPr>
            </a:p>
          </p:txBody>
        </p:sp>
        <p:sp>
          <p:nvSpPr>
            <p:cNvPr id="17" name="流程图: 数据 9"/>
            <p:cNvSpPr/>
            <p:nvPr/>
          </p:nvSpPr>
          <p:spPr>
            <a:xfrm>
              <a:off x="6502986" y="4189567"/>
              <a:ext cx="156946" cy="22689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8208"/>
                <a:gd name="connsiteY0" fmla="*/ 10042 h 10042"/>
                <a:gd name="connsiteX1" fmla="*/ 2000 w 18208"/>
                <a:gd name="connsiteY1" fmla="*/ 42 h 10042"/>
                <a:gd name="connsiteX2" fmla="*/ 18208 w 18208"/>
                <a:gd name="connsiteY2" fmla="*/ 0 h 10042"/>
                <a:gd name="connsiteX3" fmla="*/ 8000 w 18208"/>
                <a:gd name="connsiteY3" fmla="*/ 10042 h 10042"/>
                <a:gd name="connsiteX4" fmla="*/ 0 w 18208"/>
                <a:gd name="connsiteY4" fmla="*/ 10042 h 10042"/>
                <a:gd name="connsiteX0" fmla="*/ 0 w 18208"/>
                <a:gd name="connsiteY0" fmla="*/ 10042 h 10042"/>
                <a:gd name="connsiteX1" fmla="*/ 10498 w 18208"/>
                <a:gd name="connsiteY1" fmla="*/ 126 h 10042"/>
                <a:gd name="connsiteX2" fmla="*/ 18208 w 18208"/>
                <a:gd name="connsiteY2" fmla="*/ 0 h 10042"/>
                <a:gd name="connsiteX3" fmla="*/ 8000 w 18208"/>
                <a:gd name="connsiteY3" fmla="*/ 10042 h 10042"/>
                <a:gd name="connsiteX4" fmla="*/ 0 w 18208"/>
                <a:gd name="connsiteY4" fmla="*/ 10042 h 1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8" h="10042">
                  <a:moveTo>
                    <a:pt x="0" y="10042"/>
                  </a:moveTo>
                  <a:lnTo>
                    <a:pt x="10498" y="126"/>
                  </a:lnTo>
                  <a:lnTo>
                    <a:pt x="18208" y="0"/>
                  </a:lnTo>
                  <a:lnTo>
                    <a:pt x="8000" y="10042"/>
                  </a:lnTo>
                  <a:lnTo>
                    <a:pt x="0" y="10042"/>
                  </a:lnTo>
                  <a:close/>
                </a:path>
              </a:pathLst>
            </a:cu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20"/>
              <a:endParaRPr lang="zh-CN" altLang="en-US" sz="2400">
                <a:solidFill>
                  <a:prstClr val="white"/>
                </a:solidFill>
              </a:endParaRPr>
            </a:p>
          </p:txBody>
        </p:sp>
        <p:sp>
          <p:nvSpPr>
            <p:cNvPr id="18" name="流程图: 数据 9"/>
            <p:cNvSpPr/>
            <p:nvPr/>
          </p:nvSpPr>
          <p:spPr>
            <a:xfrm>
              <a:off x="6644356" y="4189567"/>
              <a:ext cx="156946" cy="22689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8208"/>
                <a:gd name="connsiteY0" fmla="*/ 10042 h 10042"/>
                <a:gd name="connsiteX1" fmla="*/ 2000 w 18208"/>
                <a:gd name="connsiteY1" fmla="*/ 42 h 10042"/>
                <a:gd name="connsiteX2" fmla="*/ 18208 w 18208"/>
                <a:gd name="connsiteY2" fmla="*/ 0 h 10042"/>
                <a:gd name="connsiteX3" fmla="*/ 8000 w 18208"/>
                <a:gd name="connsiteY3" fmla="*/ 10042 h 10042"/>
                <a:gd name="connsiteX4" fmla="*/ 0 w 18208"/>
                <a:gd name="connsiteY4" fmla="*/ 10042 h 10042"/>
                <a:gd name="connsiteX0" fmla="*/ 0 w 18208"/>
                <a:gd name="connsiteY0" fmla="*/ 10042 h 10042"/>
                <a:gd name="connsiteX1" fmla="*/ 10498 w 18208"/>
                <a:gd name="connsiteY1" fmla="*/ 126 h 10042"/>
                <a:gd name="connsiteX2" fmla="*/ 18208 w 18208"/>
                <a:gd name="connsiteY2" fmla="*/ 0 h 10042"/>
                <a:gd name="connsiteX3" fmla="*/ 8000 w 18208"/>
                <a:gd name="connsiteY3" fmla="*/ 10042 h 10042"/>
                <a:gd name="connsiteX4" fmla="*/ 0 w 18208"/>
                <a:gd name="connsiteY4" fmla="*/ 10042 h 1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8" h="10042">
                  <a:moveTo>
                    <a:pt x="0" y="10042"/>
                  </a:moveTo>
                  <a:lnTo>
                    <a:pt x="10498" y="126"/>
                  </a:lnTo>
                  <a:lnTo>
                    <a:pt x="18208" y="0"/>
                  </a:lnTo>
                  <a:lnTo>
                    <a:pt x="8000" y="10042"/>
                  </a:lnTo>
                  <a:lnTo>
                    <a:pt x="0" y="10042"/>
                  </a:lnTo>
                  <a:close/>
                </a:path>
              </a:pathLst>
            </a:cu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20"/>
              <a:endParaRPr lang="zh-CN" altLang="en-US" sz="2400">
                <a:solidFill>
                  <a:prstClr val="white"/>
                </a:solidFill>
              </a:endParaRPr>
            </a:p>
          </p:txBody>
        </p:sp>
        <p:sp>
          <p:nvSpPr>
            <p:cNvPr id="19" name="流程图: 数据 9"/>
            <p:cNvSpPr/>
            <p:nvPr/>
          </p:nvSpPr>
          <p:spPr>
            <a:xfrm>
              <a:off x="6785729" y="4189567"/>
              <a:ext cx="156946" cy="22689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8208"/>
                <a:gd name="connsiteY0" fmla="*/ 10042 h 10042"/>
                <a:gd name="connsiteX1" fmla="*/ 2000 w 18208"/>
                <a:gd name="connsiteY1" fmla="*/ 42 h 10042"/>
                <a:gd name="connsiteX2" fmla="*/ 18208 w 18208"/>
                <a:gd name="connsiteY2" fmla="*/ 0 h 10042"/>
                <a:gd name="connsiteX3" fmla="*/ 8000 w 18208"/>
                <a:gd name="connsiteY3" fmla="*/ 10042 h 10042"/>
                <a:gd name="connsiteX4" fmla="*/ 0 w 18208"/>
                <a:gd name="connsiteY4" fmla="*/ 10042 h 10042"/>
                <a:gd name="connsiteX0" fmla="*/ 0 w 18208"/>
                <a:gd name="connsiteY0" fmla="*/ 10042 h 10042"/>
                <a:gd name="connsiteX1" fmla="*/ 10498 w 18208"/>
                <a:gd name="connsiteY1" fmla="*/ 126 h 10042"/>
                <a:gd name="connsiteX2" fmla="*/ 18208 w 18208"/>
                <a:gd name="connsiteY2" fmla="*/ 0 h 10042"/>
                <a:gd name="connsiteX3" fmla="*/ 8000 w 18208"/>
                <a:gd name="connsiteY3" fmla="*/ 10042 h 10042"/>
                <a:gd name="connsiteX4" fmla="*/ 0 w 18208"/>
                <a:gd name="connsiteY4" fmla="*/ 10042 h 1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8" h="10042">
                  <a:moveTo>
                    <a:pt x="0" y="10042"/>
                  </a:moveTo>
                  <a:lnTo>
                    <a:pt x="10498" y="126"/>
                  </a:lnTo>
                  <a:lnTo>
                    <a:pt x="18208" y="0"/>
                  </a:lnTo>
                  <a:lnTo>
                    <a:pt x="8000" y="10042"/>
                  </a:lnTo>
                  <a:lnTo>
                    <a:pt x="0" y="10042"/>
                  </a:lnTo>
                  <a:close/>
                </a:path>
              </a:pathLst>
            </a:cu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20"/>
              <a:endParaRPr lang="zh-CN" altLang="en-US" sz="2400">
                <a:solidFill>
                  <a:prstClr val="white"/>
                </a:solidFill>
              </a:endParaRPr>
            </a:p>
          </p:txBody>
        </p:sp>
      </p:grpSp>
      <p:cxnSp>
        <p:nvCxnSpPr>
          <p:cNvPr id="20" name="直接连接符 19"/>
          <p:cNvCxnSpPr/>
          <p:nvPr/>
        </p:nvCxnSpPr>
        <p:spPr>
          <a:xfrm>
            <a:off x="4905949" y="6503115"/>
            <a:ext cx="5189619" cy="0"/>
          </a:xfrm>
          <a:prstGeom prst="line">
            <a:avLst/>
          </a:prstGeom>
          <a:ln w="38100">
            <a:solidFill>
              <a:srgbClr val="4F4D50"/>
            </a:solidFill>
          </a:ln>
          <a:effectLst>
            <a:outerShdw blurRad="254000" dist="63500" dir="2700000" algn="tl" rotWithShape="0">
              <a:prstClr val="black">
                <a:alpha val="30000"/>
              </a:prstClr>
            </a:outerShdw>
          </a:effectLst>
        </p:spPr>
        <p:style>
          <a:lnRef idx="1">
            <a:schemeClr val="accent1"/>
          </a:lnRef>
          <a:fillRef idx="0">
            <a:schemeClr val="accent1"/>
          </a:fillRef>
          <a:effectRef idx="0">
            <a:schemeClr val="accent1"/>
          </a:effectRef>
          <a:fontRef idx="minor">
            <a:schemeClr val="tx1"/>
          </a:fontRef>
        </p:style>
      </p:cxnSp>
      <p:pic>
        <p:nvPicPr>
          <p:cNvPr id="21" name="图片 20">
            <a:extLst>
              <a:ext uri="{FF2B5EF4-FFF2-40B4-BE49-F238E27FC236}">
                <a16:creationId xmlns:a16="http://schemas.microsoft.com/office/drawing/2014/main" id="{155ACEEB-05B4-4765-96B6-125E423D96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2" name="组合 21">
            <a:extLst>
              <a:ext uri="{FF2B5EF4-FFF2-40B4-BE49-F238E27FC236}">
                <a16:creationId xmlns:a16="http://schemas.microsoft.com/office/drawing/2014/main" id="{FF37167E-FDBB-4FA7-84B1-F8A24CF509FF}"/>
              </a:ext>
            </a:extLst>
          </p:cNvPr>
          <p:cNvGrpSpPr/>
          <p:nvPr/>
        </p:nvGrpSpPr>
        <p:grpSpPr>
          <a:xfrm>
            <a:off x="10491424" y="6504251"/>
            <a:ext cx="1528719" cy="302527"/>
            <a:chOff x="5796136" y="4189567"/>
            <a:chExt cx="1146539" cy="226895"/>
          </a:xfrm>
          <a:effectLst>
            <a:outerShdw blurRad="254000" dist="63500" dir="2700000" algn="tl" rotWithShape="0">
              <a:prstClr val="black">
                <a:alpha val="30000"/>
              </a:prstClr>
            </a:outerShdw>
          </a:effectLst>
        </p:grpSpPr>
        <p:sp>
          <p:nvSpPr>
            <p:cNvPr id="23" name="流程图: 数据 9">
              <a:extLst>
                <a:ext uri="{FF2B5EF4-FFF2-40B4-BE49-F238E27FC236}">
                  <a16:creationId xmlns:a16="http://schemas.microsoft.com/office/drawing/2014/main" id="{DDCF3831-D2E6-4683-84C6-EE123FDB1D64}"/>
                </a:ext>
              </a:extLst>
            </p:cNvPr>
            <p:cNvSpPr/>
            <p:nvPr/>
          </p:nvSpPr>
          <p:spPr>
            <a:xfrm>
              <a:off x="5796136" y="4189567"/>
              <a:ext cx="156946" cy="22689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8208"/>
                <a:gd name="connsiteY0" fmla="*/ 10042 h 10042"/>
                <a:gd name="connsiteX1" fmla="*/ 2000 w 18208"/>
                <a:gd name="connsiteY1" fmla="*/ 42 h 10042"/>
                <a:gd name="connsiteX2" fmla="*/ 18208 w 18208"/>
                <a:gd name="connsiteY2" fmla="*/ 0 h 10042"/>
                <a:gd name="connsiteX3" fmla="*/ 8000 w 18208"/>
                <a:gd name="connsiteY3" fmla="*/ 10042 h 10042"/>
                <a:gd name="connsiteX4" fmla="*/ 0 w 18208"/>
                <a:gd name="connsiteY4" fmla="*/ 10042 h 10042"/>
                <a:gd name="connsiteX0" fmla="*/ 0 w 18208"/>
                <a:gd name="connsiteY0" fmla="*/ 10042 h 10042"/>
                <a:gd name="connsiteX1" fmla="*/ 10498 w 18208"/>
                <a:gd name="connsiteY1" fmla="*/ 126 h 10042"/>
                <a:gd name="connsiteX2" fmla="*/ 18208 w 18208"/>
                <a:gd name="connsiteY2" fmla="*/ 0 h 10042"/>
                <a:gd name="connsiteX3" fmla="*/ 8000 w 18208"/>
                <a:gd name="connsiteY3" fmla="*/ 10042 h 10042"/>
                <a:gd name="connsiteX4" fmla="*/ 0 w 18208"/>
                <a:gd name="connsiteY4" fmla="*/ 10042 h 1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8" h="10042">
                  <a:moveTo>
                    <a:pt x="0" y="10042"/>
                  </a:moveTo>
                  <a:lnTo>
                    <a:pt x="10498" y="126"/>
                  </a:lnTo>
                  <a:lnTo>
                    <a:pt x="18208" y="0"/>
                  </a:lnTo>
                  <a:lnTo>
                    <a:pt x="8000" y="10042"/>
                  </a:lnTo>
                  <a:lnTo>
                    <a:pt x="0" y="10042"/>
                  </a:lnTo>
                  <a:close/>
                </a:path>
              </a:pathLst>
            </a:cu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20"/>
              <a:endParaRPr lang="zh-CN" altLang="en-US" sz="2400">
                <a:solidFill>
                  <a:prstClr val="white"/>
                </a:solidFill>
              </a:endParaRPr>
            </a:p>
          </p:txBody>
        </p:sp>
        <p:sp>
          <p:nvSpPr>
            <p:cNvPr id="24" name="流程图: 数据 9">
              <a:extLst>
                <a:ext uri="{FF2B5EF4-FFF2-40B4-BE49-F238E27FC236}">
                  <a16:creationId xmlns:a16="http://schemas.microsoft.com/office/drawing/2014/main" id="{08B139BA-3BDA-4E21-A1BC-257256386A3F}"/>
                </a:ext>
              </a:extLst>
            </p:cNvPr>
            <p:cNvSpPr/>
            <p:nvPr/>
          </p:nvSpPr>
          <p:spPr>
            <a:xfrm>
              <a:off x="5937506" y="4189567"/>
              <a:ext cx="156946" cy="22689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8208"/>
                <a:gd name="connsiteY0" fmla="*/ 10042 h 10042"/>
                <a:gd name="connsiteX1" fmla="*/ 2000 w 18208"/>
                <a:gd name="connsiteY1" fmla="*/ 42 h 10042"/>
                <a:gd name="connsiteX2" fmla="*/ 18208 w 18208"/>
                <a:gd name="connsiteY2" fmla="*/ 0 h 10042"/>
                <a:gd name="connsiteX3" fmla="*/ 8000 w 18208"/>
                <a:gd name="connsiteY3" fmla="*/ 10042 h 10042"/>
                <a:gd name="connsiteX4" fmla="*/ 0 w 18208"/>
                <a:gd name="connsiteY4" fmla="*/ 10042 h 10042"/>
                <a:gd name="connsiteX0" fmla="*/ 0 w 18208"/>
                <a:gd name="connsiteY0" fmla="*/ 10042 h 10042"/>
                <a:gd name="connsiteX1" fmla="*/ 10498 w 18208"/>
                <a:gd name="connsiteY1" fmla="*/ 126 h 10042"/>
                <a:gd name="connsiteX2" fmla="*/ 18208 w 18208"/>
                <a:gd name="connsiteY2" fmla="*/ 0 h 10042"/>
                <a:gd name="connsiteX3" fmla="*/ 8000 w 18208"/>
                <a:gd name="connsiteY3" fmla="*/ 10042 h 10042"/>
                <a:gd name="connsiteX4" fmla="*/ 0 w 18208"/>
                <a:gd name="connsiteY4" fmla="*/ 10042 h 1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8" h="10042">
                  <a:moveTo>
                    <a:pt x="0" y="10042"/>
                  </a:moveTo>
                  <a:lnTo>
                    <a:pt x="10498" y="126"/>
                  </a:lnTo>
                  <a:lnTo>
                    <a:pt x="18208" y="0"/>
                  </a:lnTo>
                  <a:lnTo>
                    <a:pt x="8000" y="10042"/>
                  </a:lnTo>
                  <a:lnTo>
                    <a:pt x="0" y="10042"/>
                  </a:lnTo>
                  <a:close/>
                </a:path>
              </a:pathLst>
            </a:cu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20"/>
              <a:endParaRPr lang="zh-CN" altLang="en-US" sz="2400">
                <a:solidFill>
                  <a:prstClr val="white"/>
                </a:solidFill>
              </a:endParaRPr>
            </a:p>
          </p:txBody>
        </p:sp>
        <p:sp>
          <p:nvSpPr>
            <p:cNvPr id="25" name="流程图: 数据 9">
              <a:extLst>
                <a:ext uri="{FF2B5EF4-FFF2-40B4-BE49-F238E27FC236}">
                  <a16:creationId xmlns:a16="http://schemas.microsoft.com/office/drawing/2014/main" id="{2F97BE41-2169-4F5D-8660-29AD36186D18}"/>
                </a:ext>
              </a:extLst>
            </p:cNvPr>
            <p:cNvSpPr/>
            <p:nvPr/>
          </p:nvSpPr>
          <p:spPr>
            <a:xfrm>
              <a:off x="6078876" y="4189567"/>
              <a:ext cx="156946" cy="22689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8208"/>
                <a:gd name="connsiteY0" fmla="*/ 10042 h 10042"/>
                <a:gd name="connsiteX1" fmla="*/ 2000 w 18208"/>
                <a:gd name="connsiteY1" fmla="*/ 42 h 10042"/>
                <a:gd name="connsiteX2" fmla="*/ 18208 w 18208"/>
                <a:gd name="connsiteY2" fmla="*/ 0 h 10042"/>
                <a:gd name="connsiteX3" fmla="*/ 8000 w 18208"/>
                <a:gd name="connsiteY3" fmla="*/ 10042 h 10042"/>
                <a:gd name="connsiteX4" fmla="*/ 0 w 18208"/>
                <a:gd name="connsiteY4" fmla="*/ 10042 h 10042"/>
                <a:gd name="connsiteX0" fmla="*/ 0 w 18208"/>
                <a:gd name="connsiteY0" fmla="*/ 10042 h 10042"/>
                <a:gd name="connsiteX1" fmla="*/ 10498 w 18208"/>
                <a:gd name="connsiteY1" fmla="*/ 126 h 10042"/>
                <a:gd name="connsiteX2" fmla="*/ 18208 w 18208"/>
                <a:gd name="connsiteY2" fmla="*/ 0 h 10042"/>
                <a:gd name="connsiteX3" fmla="*/ 8000 w 18208"/>
                <a:gd name="connsiteY3" fmla="*/ 10042 h 10042"/>
                <a:gd name="connsiteX4" fmla="*/ 0 w 18208"/>
                <a:gd name="connsiteY4" fmla="*/ 10042 h 1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8" h="10042">
                  <a:moveTo>
                    <a:pt x="0" y="10042"/>
                  </a:moveTo>
                  <a:lnTo>
                    <a:pt x="10498" y="126"/>
                  </a:lnTo>
                  <a:lnTo>
                    <a:pt x="18208" y="0"/>
                  </a:lnTo>
                  <a:lnTo>
                    <a:pt x="8000" y="10042"/>
                  </a:lnTo>
                  <a:lnTo>
                    <a:pt x="0" y="10042"/>
                  </a:lnTo>
                  <a:close/>
                </a:path>
              </a:pathLst>
            </a:cu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20"/>
              <a:endParaRPr lang="zh-CN" altLang="en-US" sz="2400">
                <a:solidFill>
                  <a:prstClr val="white"/>
                </a:solidFill>
              </a:endParaRPr>
            </a:p>
          </p:txBody>
        </p:sp>
        <p:sp>
          <p:nvSpPr>
            <p:cNvPr id="26" name="流程图: 数据 9">
              <a:extLst>
                <a:ext uri="{FF2B5EF4-FFF2-40B4-BE49-F238E27FC236}">
                  <a16:creationId xmlns:a16="http://schemas.microsoft.com/office/drawing/2014/main" id="{AEEA6C7C-2499-4AA0-BC80-42D731621C39}"/>
                </a:ext>
              </a:extLst>
            </p:cNvPr>
            <p:cNvSpPr/>
            <p:nvPr/>
          </p:nvSpPr>
          <p:spPr>
            <a:xfrm>
              <a:off x="6220246" y="4189567"/>
              <a:ext cx="156946" cy="22689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8208"/>
                <a:gd name="connsiteY0" fmla="*/ 10042 h 10042"/>
                <a:gd name="connsiteX1" fmla="*/ 2000 w 18208"/>
                <a:gd name="connsiteY1" fmla="*/ 42 h 10042"/>
                <a:gd name="connsiteX2" fmla="*/ 18208 w 18208"/>
                <a:gd name="connsiteY2" fmla="*/ 0 h 10042"/>
                <a:gd name="connsiteX3" fmla="*/ 8000 w 18208"/>
                <a:gd name="connsiteY3" fmla="*/ 10042 h 10042"/>
                <a:gd name="connsiteX4" fmla="*/ 0 w 18208"/>
                <a:gd name="connsiteY4" fmla="*/ 10042 h 10042"/>
                <a:gd name="connsiteX0" fmla="*/ 0 w 18208"/>
                <a:gd name="connsiteY0" fmla="*/ 10042 h 10042"/>
                <a:gd name="connsiteX1" fmla="*/ 10498 w 18208"/>
                <a:gd name="connsiteY1" fmla="*/ 126 h 10042"/>
                <a:gd name="connsiteX2" fmla="*/ 18208 w 18208"/>
                <a:gd name="connsiteY2" fmla="*/ 0 h 10042"/>
                <a:gd name="connsiteX3" fmla="*/ 8000 w 18208"/>
                <a:gd name="connsiteY3" fmla="*/ 10042 h 10042"/>
                <a:gd name="connsiteX4" fmla="*/ 0 w 18208"/>
                <a:gd name="connsiteY4" fmla="*/ 10042 h 1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8" h="10042">
                  <a:moveTo>
                    <a:pt x="0" y="10042"/>
                  </a:moveTo>
                  <a:lnTo>
                    <a:pt x="10498" y="126"/>
                  </a:lnTo>
                  <a:lnTo>
                    <a:pt x="18208" y="0"/>
                  </a:lnTo>
                  <a:lnTo>
                    <a:pt x="8000" y="10042"/>
                  </a:lnTo>
                  <a:lnTo>
                    <a:pt x="0" y="10042"/>
                  </a:lnTo>
                  <a:close/>
                </a:path>
              </a:pathLst>
            </a:cu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20"/>
              <a:endParaRPr lang="zh-CN" altLang="en-US" sz="2400">
                <a:solidFill>
                  <a:prstClr val="white"/>
                </a:solidFill>
              </a:endParaRPr>
            </a:p>
          </p:txBody>
        </p:sp>
        <p:sp>
          <p:nvSpPr>
            <p:cNvPr id="27" name="流程图: 数据 9">
              <a:extLst>
                <a:ext uri="{FF2B5EF4-FFF2-40B4-BE49-F238E27FC236}">
                  <a16:creationId xmlns:a16="http://schemas.microsoft.com/office/drawing/2014/main" id="{8F9882D4-C623-4F33-ABD0-A62E1E6E9BFF}"/>
                </a:ext>
              </a:extLst>
            </p:cNvPr>
            <p:cNvSpPr/>
            <p:nvPr/>
          </p:nvSpPr>
          <p:spPr>
            <a:xfrm>
              <a:off x="6361616" y="4189567"/>
              <a:ext cx="156946" cy="22689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8208"/>
                <a:gd name="connsiteY0" fmla="*/ 10042 h 10042"/>
                <a:gd name="connsiteX1" fmla="*/ 2000 w 18208"/>
                <a:gd name="connsiteY1" fmla="*/ 42 h 10042"/>
                <a:gd name="connsiteX2" fmla="*/ 18208 w 18208"/>
                <a:gd name="connsiteY2" fmla="*/ 0 h 10042"/>
                <a:gd name="connsiteX3" fmla="*/ 8000 w 18208"/>
                <a:gd name="connsiteY3" fmla="*/ 10042 h 10042"/>
                <a:gd name="connsiteX4" fmla="*/ 0 w 18208"/>
                <a:gd name="connsiteY4" fmla="*/ 10042 h 10042"/>
                <a:gd name="connsiteX0" fmla="*/ 0 w 18208"/>
                <a:gd name="connsiteY0" fmla="*/ 10042 h 10042"/>
                <a:gd name="connsiteX1" fmla="*/ 10498 w 18208"/>
                <a:gd name="connsiteY1" fmla="*/ 126 h 10042"/>
                <a:gd name="connsiteX2" fmla="*/ 18208 w 18208"/>
                <a:gd name="connsiteY2" fmla="*/ 0 h 10042"/>
                <a:gd name="connsiteX3" fmla="*/ 8000 w 18208"/>
                <a:gd name="connsiteY3" fmla="*/ 10042 h 10042"/>
                <a:gd name="connsiteX4" fmla="*/ 0 w 18208"/>
                <a:gd name="connsiteY4" fmla="*/ 10042 h 1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8" h="10042">
                  <a:moveTo>
                    <a:pt x="0" y="10042"/>
                  </a:moveTo>
                  <a:lnTo>
                    <a:pt x="10498" y="126"/>
                  </a:lnTo>
                  <a:lnTo>
                    <a:pt x="18208" y="0"/>
                  </a:lnTo>
                  <a:lnTo>
                    <a:pt x="8000" y="10042"/>
                  </a:lnTo>
                  <a:lnTo>
                    <a:pt x="0" y="10042"/>
                  </a:lnTo>
                  <a:close/>
                </a:path>
              </a:pathLst>
            </a:cu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20"/>
              <a:endParaRPr lang="zh-CN" altLang="en-US" sz="2400">
                <a:solidFill>
                  <a:prstClr val="white"/>
                </a:solidFill>
              </a:endParaRPr>
            </a:p>
          </p:txBody>
        </p:sp>
        <p:sp>
          <p:nvSpPr>
            <p:cNvPr id="28" name="流程图: 数据 9">
              <a:extLst>
                <a:ext uri="{FF2B5EF4-FFF2-40B4-BE49-F238E27FC236}">
                  <a16:creationId xmlns:a16="http://schemas.microsoft.com/office/drawing/2014/main" id="{B5D55A83-D9F6-4C67-9E14-4E7DE1B58D64}"/>
                </a:ext>
              </a:extLst>
            </p:cNvPr>
            <p:cNvSpPr/>
            <p:nvPr/>
          </p:nvSpPr>
          <p:spPr>
            <a:xfrm>
              <a:off x="6502986" y="4189567"/>
              <a:ext cx="156946" cy="22689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8208"/>
                <a:gd name="connsiteY0" fmla="*/ 10042 h 10042"/>
                <a:gd name="connsiteX1" fmla="*/ 2000 w 18208"/>
                <a:gd name="connsiteY1" fmla="*/ 42 h 10042"/>
                <a:gd name="connsiteX2" fmla="*/ 18208 w 18208"/>
                <a:gd name="connsiteY2" fmla="*/ 0 h 10042"/>
                <a:gd name="connsiteX3" fmla="*/ 8000 w 18208"/>
                <a:gd name="connsiteY3" fmla="*/ 10042 h 10042"/>
                <a:gd name="connsiteX4" fmla="*/ 0 w 18208"/>
                <a:gd name="connsiteY4" fmla="*/ 10042 h 10042"/>
                <a:gd name="connsiteX0" fmla="*/ 0 w 18208"/>
                <a:gd name="connsiteY0" fmla="*/ 10042 h 10042"/>
                <a:gd name="connsiteX1" fmla="*/ 10498 w 18208"/>
                <a:gd name="connsiteY1" fmla="*/ 126 h 10042"/>
                <a:gd name="connsiteX2" fmla="*/ 18208 w 18208"/>
                <a:gd name="connsiteY2" fmla="*/ 0 h 10042"/>
                <a:gd name="connsiteX3" fmla="*/ 8000 w 18208"/>
                <a:gd name="connsiteY3" fmla="*/ 10042 h 10042"/>
                <a:gd name="connsiteX4" fmla="*/ 0 w 18208"/>
                <a:gd name="connsiteY4" fmla="*/ 10042 h 1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8" h="10042">
                  <a:moveTo>
                    <a:pt x="0" y="10042"/>
                  </a:moveTo>
                  <a:lnTo>
                    <a:pt x="10498" y="126"/>
                  </a:lnTo>
                  <a:lnTo>
                    <a:pt x="18208" y="0"/>
                  </a:lnTo>
                  <a:lnTo>
                    <a:pt x="8000" y="10042"/>
                  </a:lnTo>
                  <a:lnTo>
                    <a:pt x="0" y="10042"/>
                  </a:lnTo>
                  <a:close/>
                </a:path>
              </a:pathLst>
            </a:cu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20"/>
              <a:endParaRPr lang="zh-CN" altLang="en-US" sz="2400">
                <a:solidFill>
                  <a:prstClr val="white"/>
                </a:solidFill>
              </a:endParaRPr>
            </a:p>
          </p:txBody>
        </p:sp>
        <p:sp>
          <p:nvSpPr>
            <p:cNvPr id="29" name="流程图: 数据 9">
              <a:extLst>
                <a:ext uri="{FF2B5EF4-FFF2-40B4-BE49-F238E27FC236}">
                  <a16:creationId xmlns:a16="http://schemas.microsoft.com/office/drawing/2014/main" id="{5F494CE4-B88E-4DFC-BD44-CEB19E6C7171}"/>
                </a:ext>
              </a:extLst>
            </p:cNvPr>
            <p:cNvSpPr/>
            <p:nvPr/>
          </p:nvSpPr>
          <p:spPr>
            <a:xfrm>
              <a:off x="6644356" y="4189567"/>
              <a:ext cx="156946" cy="22689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8208"/>
                <a:gd name="connsiteY0" fmla="*/ 10042 h 10042"/>
                <a:gd name="connsiteX1" fmla="*/ 2000 w 18208"/>
                <a:gd name="connsiteY1" fmla="*/ 42 h 10042"/>
                <a:gd name="connsiteX2" fmla="*/ 18208 w 18208"/>
                <a:gd name="connsiteY2" fmla="*/ 0 h 10042"/>
                <a:gd name="connsiteX3" fmla="*/ 8000 w 18208"/>
                <a:gd name="connsiteY3" fmla="*/ 10042 h 10042"/>
                <a:gd name="connsiteX4" fmla="*/ 0 w 18208"/>
                <a:gd name="connsiteY4" fmla="*/ 10042 h 10042"/>
                <a:gd name="connsiteX0" fmla="*/ 0 w 18208"/>
                <a:gd name="connsiteY0" fmla="*/ 10042 h 10042"/>
                <a:gd name="connsiteX1" fmla="*/ 10498 w 18208"/>
                <a:gd name="connsiteY1" fmla="*/ 126 h 10042"/>
                <a:gd name="connsiteX2" fmla="*/ 18208 w 18208"/>
                <a:gd name="connsiteY2" fmla="*/ 0 h 10042"/>
                <a:gd name="connsiteX3" fmla="*/ 8000 w 18208"/>
                <a:gd name="connsiteY3" fmla="*/ 10042 h 10042"/>
                <a:gd name="connsiteX4" fmla="*/ 0 w 18208"/>
                <a:gd name="connsiteY4" fmla="*/ 10042 h 1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8" h="10042">
                  <a:moveTo>
                    <a:pt x="0" y="10042"/>
                  </a:moveTo>
                  <a:lnTo>
                    <a:pt x="10498" y="126"/>
                  </a:lnTo>
                  <a:lnTo>
                    <a:pt x="18208" y="0"/>
                  </a:lnTo>
                  <a:lnTo>
                    <a:pt x="8000" y="10042"/>
                  </a:lnTo>
                  <a:lnTo>
                    <a:pt x="0" y="10042"/>
                  </a:lnTo>
                  <a:close/>
                </a:path>
              </a:pathLst>
            </a:cu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20"/>
              <a:endParaRPr lang="zh-CN" altLang="en-US" sz="2400">
                <a:solidFill>
                  <a:prstClr val="white"/>
                </a:solidFill>
              </a:endParaRPr>
            </a:p>
          </p:txBody>
        </p:sp>
        <p:sp>
          <p:nvSpPr>
            <p:cNvPr id="30" name="流程图: 数据 9">
              <a:extLst>
                <a:ext uri="{FF2B5EF4-FFF2-40B4-BE49-F238E27FC236}">
                  <a16:creationId xmlns:a16="http://schemas.microsoft.com/office/drawing/2014/main" id="{51C2E1E0-8F69-4478-A49E-A2F00B2FFB83}"/>
                </a:ext>
              </a:extLst>
            </p:cNvPr>
            <p:cNvSpPr/>
            <p:nvPr/>
          </p:nvSpPr>
          <p:spPr>
            <a:xfrm>
              <a:off x="6785729" y="4189567"/>
              <a:ext cx="156946" cy="22689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8208"/>
                <a:gd name="connsiteY0" fmla="*/ 10042 h 10042"/>
                <a:gd name="connsiteX1" fmla="*/ 2000 w 18208"/>
                <a:gd name="connsiteY1" fmla="*/ 42 h 10042"/>
                <a:gd name="connsiteX2" fmla="*/ 18208 w 18208"/>
                <a:gd name="connsiteY2" fmla="*/ 0 h 10042"/>
                <a:gd name="connsiteX3" fmla="*/ 8000 w 18208"/>
                <a:gd name="connsiteY3" fmla="*/ 10042 h 10042"/>
                <a:gd name="connsiteX4" fmla="*/ 0 w 18208"/>
                <a:gd name="connsiteY4" fmla="*/ 10042 h 10042"/>
                <a:gd name="connsiteX0" fmla="*/ 0 w 18208"/>
                <a:gd name="connsiteY0" fmla="*/ 10042 h 10042"/>
                <a:gd name="connsiteX1" fmla="*/ 10498 w 18208"/>
                <a:gd name="connsiteY1" fmla="*/ 126 h 10042"/>
                <a:gd name="connsiteX2" fmla="*/ 18208 w 18208"/>
                <a:gd name="connsiteY2" fmla="*/ 0 h 10042"/>
                <a:gd name="connsiteX3" fmla="*/ 8000 w 18208"/>
                <a:gd name="connsiteY3" fmla="*/ 10042 h 10042"/>
                <a:gd name="connsiteX4" fmla="*/ 0 w 18208"/>
                <a:gd name="connsiteY4" fmla="*/ 10042 h 1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8" h="10042">
                  <a:moveTo>
                    <a:pt x="0" y="10042"/>
                  </a:moveTo>
                  <a:lnTo>
                    <a:pt x="10498" y="126"/>
                  </a:lnTo>
                  <a:lnTo>
                    <a:pt x="18208" y="0"/>
                  </a:lnTo>
                  <a:lnTo>
                    <a:pt x="8000" y="10042"/>
                  </a:lnTo>
                  <a:lnTo>
                    <a:pt x="0" y="10042"/>
                  </a:lnTo>
                  <a:close/>
                </a:path>
              </a:pathLst>
            </a:cu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20"/>
              <a:endParaRPr lang="zh-CN" altLang="en-US" sz="2400">
                <a:solidFill>
                  <a:prstClr val="white"/>
                </a:solidFill>
              </a:endParaRPr>
            </a:p>
          </p:txBody>
        </p:sp>
      </p:grpSp>
      <p:cxnSp>
        <p:nvCxnSpPr>
          <p:cNvPr id="31" name="直接连接符 30">
            <a:extLst>
              <a:ext uri="{FF2B5EF4-FFF2-40B4-BE49-F238E27FC236}">
                <a16:creationId xmlns:a16="http://schemas.microsoft.com/office/drawing/2014/main" id="{294792F1-AA9B-433B-A408-1461A2C43D78}"/>
              </a:ext>
            </a:extLst>
          </p:cNvPr>
          <p:cNvCxnSpPr>
            <a:cxnSpLocks/>
          </p:cNvCxnSpPr>
          <p:nvPr/>
        </p:nvCxnSpPr>
        <p:spPr>
          <a:xfrm>
            <a:off x="5999584" y="6654378"/>
            <a:ext cx="4248384" cy="1137"/>
          </a:xfrm>
          <a:prstGeom prst="line">
            <a:avLst/>
          </a:prstGeom>
          <a:ln w="38100">
            <a:solidFill>
              <a:srgbClr val="4F4D50"/>
            </a:solidFill>
          </a:ln>
          <a:effectLst>
            <a:outerShdw blurRad="254000" dist="63500" dir="2700000" algn="tl" rotWithShape="0">
              <a:prstClr val="black">
                <a:alpha val="30000"/>
              </a:prstClr>
            </a:outerShdw>
          </a:effectLst>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4E730001-A98D-4D62-BA59-33310C4C4DA1}"/>
              </a:ext>
            </a:extLst>
          </p:cNvPr>
          <p:cNvSpPr/>
          <p:nvPr/>
        </p:nvSpPr>
        <p:spPr>
          <a:xfrm>
            <a:off x="7235725" y="4582378"/>
            <a:ext cx="3291792" cy="460704"/>
          </a:xfrm>
          <a:prstGeom prst="rect">
            <a:avLst/>
          </a:prstGeom>
          <a:noFill/>
          <a:ln>
            <a:noFill/>
          </a:ln>
        </p:spPr>
        <p:txBody>
          <a:bodyPr wrap="square">
            <a:spAutoFit/>
          </a:bodyPr>
          <a:lstStyle/>
          <a:p>
            <a:pPr>
              <a:lnSpc>
                <a:spcPct val="150000"/>
              </a:lnSpc>
            </a:pPr>
            <a:r>
              <a:rPr lang="zh-CN" altLang="en-US" b="1" dirty="0">
                <a:solidFill>
                  <a:srgbClr val="3C5F6B"/>
                </a:solidFill>
                <a:latin typeface="微软雅黑 Light" panose="020F0502020204030204"/>
                <a:ea typeface="微软雅黑 Light" panose="020B0502040204020203" pitchFamily="34" charset="-122"/>
                <a:cs typeface="+mn-ea"/>
                <a:sym typeface="+mn-lt"/>
              </a:rPr>
              <a:t>指 导 老 师：常学立 </a:t>
            </a:r>
          </a:p>
        </p:txBody>
      </p:sp>
      <p:sp>
        <p:nvSpPr>
          <p:cNvPr id="37" name="PA_文本框 1">
            <a:extLst>
              <a:ext uri="{FF2B5EF4-FFF2-40B4-BE49-F238E27FC236}">
                <a16:creationId xmlns:a16="http://schemas.microsoft.com/office/drawing/2014/main" id="{B3B8F544-236E-445E-A548-0B5DD61445C6}"/>
              </a:ext>
            </a:extLst>
          </p:cNvPr>
          <p:cNvSpPr txBox="1"/>
          <p:nvPr>
            <p:custDataLst>
              <p:tags r:id="rId1"/>
            </p:custDataLst>
          </p:nvPr>
        </p:nvSpPr>
        <p:spPr>
          <a:xfrm>
            <a:off x="5469846" y="2442613"/>
            <a:ext cx="5607826" cy="830997"/>
          </a:xfrm>
          <a:prstGeom prst="rect">
            <a:avLst/>
          </a:prstGeom>
          <a:noFill/>
        </p:spPr>
        <p:txBody>
          <a:bodyPr wrap="square" rtlCol="0">
            <a:spAutoFit/>
          </a:bodyPr>
          <a:lstStyle/>
          <a:p>
            <a:pPr algn="ctr" defTabSz="914400"/>
            <a:r>
              <a:rPr lang="en-US" altLang="zh-CN" sz="4800" b="1" spc="600" dirty="0">
                <a:solidFill>
                  <a:srgbClr val="3C5F6B"/>
                </a:solidFill>
                <a:latin typeface="微软雅黑" panose="020B0503020204020204" pitchFamily="34" charset="-122"/>
                <a:ea typeface="微软雅黑" panose="020B0503020204020204" pitchFamily="34" charset="-122"/>
                <a:cs typeface="+mn-ea"/>
                <a:sym typeface="+mn-lt"/>
              </a:rPr>
              <a:t>GDAL</a:t>
            </a:r>
            <a:r>
              <a:rPr lang="zh-CN" altLang="en-US" sz="4800" b="1" spc="600" dirty="0">
                <a:solidFill>
                  <a:srgbClr val="3C5F6B"/>
                </a:solidFill>
                <a:latin typeface="微软雅黑" panose="020B0503020204020204" pitchFamily="34" charset="-122"/>
                <a:ea typeface="微软雅黑" panose="020B0503020204020204" pitchFamily="34" charset="-122"/>
                <a:cs typeface="+mn-ea"/>
                <a:sym typeface="+mn-lt"/>
              </a:rPr>
              <a:t>编程学习</a:t>
            </a:r>
          </a:p>
        </p:txBody>
      </p:sp>
      <p:pic>
        <p:nvPicPr>
          <p:cNvPr id="2" name="图片 1">
            <a:extLst>
              <a:ext uri="{FF2B5EF4-FFF2-40B4-BE49-F238E27FC236}">
                <a16:creationId xmlns:a16="http://schemas.microsoft.com/office/drawing/2014/main" id="{F521B8E9-1154-4546-A83F-6E67562DA9C5}"/>
              </a:ext>
            </a:extLst>
          </p:cNvPr>
          <p:cNvPicPr>
            <a:picLocks noChangeAspect="1"/>
          </p:cNvPicPr>
          <p:nvPr/>
        </p:nvPicPr>
        <p:blipFill>
          <a:blip r:embed="rId5"/>
          <a:stretch>
            <a:fillRect/>
          </a:stretch>
        </p:blipFill>
        <p:spPr>
          <a:xfrm>
            <a:off x="9955682" y="21474"/>
            <a:ext cx="2181353" cy="1004893"/>
          </a:xfrm>
          <a:prstGeom prst="rect">
            <a:avLst/>
          </a:prstGeom>
        </p:spPr>
      </p:pic>
    </p:spTree>
    <p:extLst>
      <p:ext uri="{BB962C8B-B14F-4D97-AF65-F5344CB8AC3E}">
        <p14:creationId xmlns:p14="http://schemas.microsoft.com/office/powerpoint/2010/main" val="1223648069"/>
      </p:ext>
    </p:extLst>
  </p:cSld>
  <p:clrMapOvr>
    <a:masterClrMapping/>
  </p:clrMapOvr>
  <mc:AlternateContent xmlns:mc="http://schemas.openxmlformats.org/markup-compatibility/2006" xmlns:p14="http://schemas.microsoft.com/office/powerpoint/2010/main">
    <mc:Choice Requires="p14">
      <p:transition p14:dur="250" advClick="0" advTm="15484"/>
    </mc:Choice>
    <mc:Fallback xmlns="">
      <p:transition advClick="0" advTm="15484"/>
    </mc:Fallback>
  </mc:AlternateContent>
  <p:extLst>
    <p:ext uri="{E180D4A7-C9FB-4DFB-919C-405C955672EB}">
      <p14:showEvtLst xmlns:p14="http://schemas.microsoft.com/office/powerpoint/2010/main">
        <p14:playEvt time="1654" objId="2"/>
      </p14:showEvtLst>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F4D50"/>
        </a:solidFill>
        <a:effectLst/>
      </p:bgPr>
    </p:bg>
    <p:spTree>
      <p:nvGrpSpPr>
        <p:cNvPr id="1" name=""/>
        <p:cNvGrpSpPr/>
        <p:nvPr/>
      </p:nvGrpSpPr>
      <p:grpSpPr>
        <a:xfrm>
          <a:off x="0" y="0"/>
          <a:ext cx="0" cy="0"/>
          <a:chOff x="0" y="0"/>
          <a:chExt cx="0" cy="0"/>
        </a:xfrm>
      </p:grpSpPr>
      <p:pic>
        <p:nvPicPr>
          <p:cNvPr id="2051" name="Picture 3" descr="E:\LJR\JZ\PPT\01-融资计划\02-切图\矩形 2.png"/>
          <p:cNvPicPr>
            <a:picLocks noChangeAspect="1" noChangeArrowheads="1"/>
          </p:cNvPicPr>
          <p:nvPr/>
        </p:nvPicPr>
        <p:blipFill>
          <a:blip r:embed="rId3" cstate="print"/>
          <a:srcRect/>
          <a:stretch>
            <a:fillRect/>
          </a:stretch>
        </p:blipFill>
        <p:spPr bwMode="auto">
          <a:xfrm>
            <a:off x="5253586" y="333012"/>
            <a:ext cx="6626000" cy="6309320"/>
          </a:xfrm>
          <a:prstGeom prst="rect">
            <a:avLst/>
          </a:prstGeom>
          <a:noFill/>
        </p:spPr>
      </p:pic>
      <p:pic>
        <p:nvPicPr>
          <p:cNvPr id="2050" name="Picture 2" descr="E:\LJR\JZ\PPT\01-融资计划\02-切图\dsfdsf.png"/>
          <p:cNvPicPr>
            <a:picLocks noChangeAspect="1" noChangeArrowheads="1"/>
          </p:cNvPicPr>
          <p:nvPr/>
        </p:nvPicPr>
        <p:blipFill>
          <a:blip r:embed="rId4" cstate="print"/>
          <a:srcRect/>
          <a:stretch>
            <a:fillRect/>
          </a:stretch>
        </p:blipFill>
        <p:spPr bwMode="auto">
          <a:xfrm>
            <a:off x="0" y="-8670"/>
            <a:ext cx="7632171" cy="6875339"/>
          </a:xfrm>
          <a:prstGeom prst="rect">
            <a:avLst/>
          </a:prstGeom>
          <a:noFill/>
        </p:spPr>
      </p:pic>
      <p:sp>
        <p:nvSpPr>
          <p:cNvPr id="7" name="TextBox 6"/>
          <p:cNvSpPr txBox="1"/>
          <p:nvPr/>
        </p:nvSpPr>
        <p:spPr>
          <a:xfrm>
            <a:off x="1007435" y="1610443"/>
            <a:ext cx="5801588" cy="1323439"/>
          </a:xfrm>
          <a:prstGeom prst="rect">
            <a:avLst/>
          </a:prstGeom>
          <a:noFill/>
        </p:spPr>
        <p:txBody>
          <a:bodyPr wrap="none" rtlCol="0">
            <a:spAutoFit/>
          </a:bodyPr>
          <a:lstStyle/>
          <a:p>
            <a:pPr defTabSz="1219020"/>
            <a:r>
              <a:rPr lang="en-US" altLang="zh-CN" sz="8000" dirty="0">
                <a:solidFill>
                  <a:srgbClr val="E1E0D8"/>
                </a:solidFill>
                <a:latin typeface="方正黑体简体" panose="02010601030101010101" pitchFamily="2" charset="-122"/>
                <a:ea typeface="方正黑体简体" panose="02010601030101010101" pitchFamily="2" charset="-122"/>
                <a:cs typeface="+mn-ea"/>
                <a:sym typeface="+mn-lt"/>
              </a:rPr>
              <a:t>CONTENTS</a:t>
            </a:r>
            <a:endParaRPr lang="zh-CN" altLang="en-US" sz="8000"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8" name="TextBox 7"/>
          <p:cNvSpPr txBox="1"/>
          <p:nvPr/>
        </p:nvSpPr>
        <p:spPr>
          <a:xfrm>
            <a:off x="3370533" y="2394481"/>
            <a:ext cx="1569660" cy="923330"/>
          </a:xfrm>
          <a:prstGeom prst="rect">
            <a:avLst/>
          </a:prstGeom>
          <a:noFill/>
        </p:spPr>
        <p:txBody>
          <a:bodyPr wrap="none" rtlCol="0">
            <a:spAutoFit/>
          </a:bodyPr>
          <a:lstStyle/>
          <a:p>
            <a:pPr defTabSz="1219020"/>
            <a:r>
              <a:rPr lang="zh-CN" altLang="en-US" sz="5400" dirty="0">
                <a:solidFill>
                  <a:srgbClr val="4F4D50"/>
                </a:solidFill>
                <a:latin typeface="方正黑体简体" panose="02010601030101010101" pitchFamily="2" charset="-122"/>
                <a:ea typeface="方正黑体简体" panose="02010601030101010101" pitchFamily="2" charset="-122"/>
                <a:cs typeface="+mn-ea"/>
                <a:sym typeface="+mn-lt"/>
              </a:rPr>
              <a:t>目录</a:t>
            </a:r>
            <a:endParaRPr lang="en-US" altLang="zh-CN" sz="54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grpSp>
        <p:nvGrpSpPr>
          <p:cNvPr id="2" name="组合 1"/>
          <p:cNvGrpSpPr/>
          <p:nvPr/>
        </p:nvGrpSpPr>
        <p:grpSpPr>
          <a:xfrm>
            <a:off x="7923885" y="2102094"/>
            <a:ext cx="3764963" cy="707886"/>
            <a:chOff x="5807876" y="1587385"/>
            <a:chExt cx="2823721" cy="530914"/>
          </a:xfrm>
        </p:grpSpPr>
        <p:sp>
          <p:nvSpPr>
            <p:cNvPr id="9" name="TextBox 8"/>
            <p:cNvSpPr txBox="1"/>
            <p:nvPr/>
          </p:nvSpPr>
          <p:spPr>
            <a:xfrm>
              <a:off x="6415607" y="1668833"/>
              <a:ext cx="2215990" cy="346248"/>
            </a:xfrm>
            <a:prstGeom prst="rect">
              <a:avLst/>
            </a:prstGeom>
            <a:noFill/>
          </p:spPr>
          <p:txBody>
            <a:bodyPr wrap="none" rtlCol="0">
              <a:spAutoFit/>
            </a:bodyPr>
            <a:lstStyle/>
            <a:p>
              <a:pPr defTabSz="1219020"/>
              <a:r>
                <a:rPr lang="zh-CN" altLang="en-US" sz="2400" dirty="0">
                  <a:solidFill>
                    <a:prstClr val="white"/>
                  </a:solidFill>
                  <a:latin typeface="方正黑体简体" panose="02010601030101010101" pitchFamily="2" charset="-122"/>
                  <a:ea typeface="方正黑体简体" panose="02010601030101010101" pitchFamily="2" charset="-122"/>
                  <a:cs typeface="+mn-ea"/>
                  <a:sym typeface="+mn-lt"/>
                </a:rPr>
                <a:t>基础介绍与学习目标</a:t>
              </a:r>
            </a:p>
          </p:txBody>
        </p:sp>
        <p:sp>
          <p:nvSpPr>
            <p:cNvPr id="12" name="TextBox 11"/>
            <p:cNvSpPr txBox="1"/>
            <p:nvPr/>
          </p:nvSpPr>
          <p:spPr>
            <a:xfrm>
              <a:off x="5807876" y="1587385"/>
              <a:ext cx="590546" cy="530914"/>
            </a:xfrm>
            <a:prstGeom prst="rect">
              <a:avLst/>
            </a:prstGeom>
            <a:noFill/>
          </p:spPr>
          <p:txBody>
            <a:bodyPr wrap="none" rtlCol="0">
              <a:spAutoFit/>
            </a:bodyPr>
            <a:lstStyle/>
            <a:p>
              <a:pPr defTabSz="1219020"/>
              <a:r>
                <a:rPr lang="en-US" altLang="zh-CN" sz="4000" dirty="0">
                  <a:solidFill>
                    <a:srgbClr val="686769"/>
                  </a:solidFill>
                  <a:latin typeface="方正黑体简体" panose="02010601030101010101" pitchFamily="2" charset="-122"/>
                  <a:ea typeface="方正黑体简体" panose="02010601030101010101" pitchFamily="2" charset="-122"/>
                  <a:cs typeface="+mn-ea"/>
                  <a:sym typeface="+mn-lt"/>
                </a:rPr>
                <a:t>01</a:t>
              </a:r>
            </a:p>
          </p:txBody>
        </p:sp>
      </p:grpSp>
      <p:grpSp>
        <p:nvGrpSpPr>
          <p:cNvPr id="3" name="组合 2"/>
          <p:cNvGrpSpPr/>
          <p:nvPr/>
        </p:nvGrpSpPr>
        <p:grpSpPr>
          <a:xfrm>
            <a:off x="7923879" y="2779786"/>
            <a:ext cx="2818719" cy="707886"/>
            <a:chOff x="5807876" y="2148060"/>
            <a:chExt cx="2114040" cy="530914"/>
          </a:xfrm>
        </p:grpSpPr>
        <p:sp>
          <p:nvSpPr>
            <p:cNvPr id="13" name="TextBox 12"/>
            <p:cNvSpPr txBox="1"/>
            <p:nvPr/>
          </p:nvSpPr>
          <p:spPr>
            <a:xfrm>
              <a:off x="6398422" y="2227642"/>
              <a:ext cx="1523494" cy="346248"/>
            </a:xfrm>
            <a:prstGeom prst="rect">
              <a:avLst/>
            </a:prstGeom>
            <a:noFill/>
          </p:spPr>
          <p:txBody>
            <a:bodyPr wrap="none" rtlCol="0">
              <a:spAutoFit/>
            </a:bodyPr>
            <a:lstStyle/>
            <a:p>
              <a:pPr defTabSz="1219020"/>
              <a:r>
                <a:rPr lang="zh-CN" altLang="en-US" sz="2400" dirty="0">
                  <a:solidFill>
                    <a:prstClr val="white"/>
                  </a:solidFill>
                  <a:latin typeface="方正黑体简体" panose="02010601030101010101" pitchFamily="2" charset="-122"/>
                  <a:ea typeface="方正黑体简体" panose="02010601030101010101" pitchFamily="2" charset="-122"/>
                  <a:cs typeface="+mn-ea"/>
                  <a:sym typeface="+mn-lt"/>
                </a:rPr>
                <a:t>影像信息读取</a:t>
              </a:r>
            </a:p>
          </p:txBody>
        </p:sp>
        <p:sp>
          <p:nvSpPr>
            <p:cNvPr id="15" name="TextBox 14"/>
            <p:cNvSpPr txBox="1"/>
            <p:nvPr/>
          </p:nvSpPr>
          <p:spPr>
            <a:xfrm>
              <a:off x="5807876" y="2148060"/>
              <a:ext cx="590546" cy="530914"/>
            </a:xfrm>
            <a:prstGeom prst="rect">
              <a:avLst/>
            </a:prstGeom>
            <a:noFill/>
          </p:spPr>
          <p:txBody>
            <a:bodyPr wrap="none" rtlCol="0">
              <a:spAutoFit/>
            </a:bodyPr>
            <a:lstStyle/>
            <a:p>
              <a:pPr defTabSz="1219020"/>
              <a:r>
                <a:rPr lang="en-US" altLang="zh-CN" sz="4000" dirty="0">
                  <a:solidFill>
                    <a:srgbClr val="686769"/>
                  </a:solidFill>
                  <a:latin typeface="方正黑体简体" panose="02010601030101010101" pitchFamily="2" charset="-122"/>
                  <a:ea typeface="方正黑体简体" panose="02010601030101010101" pitchFamily="2" charset="-122"/>
                  <a:cs typeface="+mn-ea"/>
                  <a:sym typeface="+mn-lt"/>
                </a:rPr>
                <a:t>02</a:t>
              </a:r>
            </a:p>
          </p:txBody>
        </p:sp>
      </p:grpSp>
      <p:grpSp>
        <p:nvGrpSpPr>
          <p:cNvPr id="4" name="组合 3"/>
          <p:cNvGrpSpPr/>
          <p:nvPr/>
        </p:nvGrpSpPr>
        <p:grpSpPr>
          <a:xfrm>
            <a:off x="7923881" y="3457479"/>
            <a:ext cx="2198061" cy="707886"/>
            <a:chOff x="5807876" y="2724124"/>
            <a:chExt cx="1648546" cy="530914"/>
          </a:xfrm>
        </p:grpSpPr>
        <p:sp>
          <p:nvSpPr>
            <p:cNvPr id="19" name="TextBox 18"/>
            <p:cNvSpPr txBox="1"/>
            <p:nvPr/>
          </p:nvSpPr>
          <p:spPr>
            <a:xfrm>
              <a:off x="6394593" y="2810300"/>
              <a:ext cx="1061829" cy="346248"/>
            </a:xfrm>
            <a:prstGeom prst="rect">
              <a:avLst/>
            </a:prstGeom>
            <a:noFill/>
          </p:spPr>
          <p:txBody>
            <a:bodyPr wrap="none" rtlCol="0">
              <a:spAutoFit/>
            </a:bodyPr>
            <a:lstStyle/>
            <a:p>
              <a:pPr defTabSz="1219020"/>
              <a:r>
                <a:rPr lang="zh-CN" altLang="en-US" sz="2400" dirty="0">
                  <a:solidFill>
                    <a:prstClr val="white"/>
                  </a:solidFill>
                  <a:latin typeface="方正黑体简体" panose="02010601030101010101" pitchFamily="2" charset="-122"/>
                  <a:ea typeface="方正黑体简体" panose="02010601030101010101" pitchFamily="2" charset="-122"/>
                  <a:cs typeface="+mn-ea"/>
                  <a:sym typeface="+mn-lt"/>
                </a:rPr>
                <a:t>格式转换</a:t>
              </a:r>
            </a:p>
          </p:txBody>
        </p:sp>
        <p:sp>
          <p:nvSpPr>
            <p:cNvPr id="21" name="TextBox 20"/>
            <p:cNvSpPr txBox="1"/>
            <p:nvPr/>
          </p:nvSpPr>
          <p:spPr>
            <a:xfrm>
              <a:off x="5807876" y="2724124"/>
              <a:ext cx="590546" cy="530914"/>
            </a:xfrm>
            <a:prstGeom prst="rect">
              <a:avLst/>
            </a:prstGeom>
            <a:noFill/>
          </p:spPr>
          <p:txBody>
            <a:bodyPr wrap="none" rtlCol="0">
              <a:spAutoFit/>
            </a:bodyPr>
            <a:lstStyle/>
            <a:p>
              <a:pPr defTabSz="1219020"/>
              <a:r>
                <a:rPr lang="en-US" altLang="zh-CN" sz="4000" dirty="0">
                  <a:solidFill>
                    <a:srgbClr val="686769"/>
                  </a:solidFill>
                  <a:latin typeface="方正黑体简体" panose="02010601030101010101" pitchFamily="2" charset="-122"/>
                  <a:ea typeface="方正黑体简体" panose="02010601030101010101" pitchFamily="2" charset="-122"/>
                  <a:cs typeface="+mn-ea"/>
                  <a:sym typeface="+mn-lt"/>
                </a:rPr>
                <a:t>03</a:t>
              </a:r>
            </a:p>
          </p:txBody>
        </p:sp>
      </p:grpSp>
      <p:grpSp>
        <p:nvGrpSpPr>
          <p:cNvPr id="5" name="组合 4"/>
          <p:cNvGrpSpPr/>
          <p:nvPr/>
        </p:nvGrpSpPr>
        <p:grpSpPr>
          <a:xfrm>
            <a:off x="7908224" y="4135171"/>
            <a:ext cx="2241736" cy="707886"/>
            <a:chOff x="5796136" y="3285380"/>
            <a:chExt cx="1681303" cy="530914"/>
          </a:xfrm>
        </p:grpSpPr>
        <p:sp>
          <p:nvSpPr>
            <p:cNvPr id="22" name="TextBox 21"/>
            <p:cNvSpPr txBox="1"/>
            <p:nvPr/>
          </p:nvSpPr>
          <p:spPr>
            <a:xfrm>
              <a:off x="6415609" y="3394983"/>
              <a:ext cx="1061830" cy="346248"/>
            </a:xfrm>
            <a:prstGeom prst="rect">
              <a:avLst/>
            </a:prstGeom>
            <a:noFill/>
          </p:spPr>
          <p:txBody>
            <a:bodyPr wrap="none" rtlCol="0">
              <a:spAutoFit/>
            </a:bodyPr>
            <a:lstStyle/>
            <a:p>
              <a:pPr defTabSz="1219020"/>
              <a:r>
                <a:rPr lang="zh-CN" altLang="en-US" sz="2400" dirty="0">
                  <a:solidFill>
                    <a:prstClr val="white"/>
                  </a:solidFill>
                  <a:latin typeface="方正黑体简体" panose="02010601030101010101" pitchFamily="2" charset="-122"/>
                  <a:ea typeface="方正黑体简体" panose="02010601030101010101" pitchFamily="2" charset="-122"/>
                  <a:cs typeface="+mn-ea"/>
                  <a:sym typeface="+mn-lt"/>
                </a:rPr>
                <a:t>分块读写</a:t>
              </a:r>
            </a:p>
          </p:txBody>
        </p:sp>
        <p:sp>
          <p:nvSpPr>
            <p:cNvPr id="24" name="TextBox 23"/>
            <p:cNvSpPr txBox="1"/>
            <p:nvPr/>
          </p:nvSpPr>
          <p:spPr>
            <a:xfrm>
              <a:off x="5796136" y="3285380"/>
              <a:ext cx="590546" cy="530914"/>
            </a:xfrm>
            <a:prstGeom prst="rect">
              <a:avLst/>
            </a:prstGeom>
            <a:noFill/>
          </p:spPr>
          <p:txBody>
            <a:bodyPr wrap="none" rtlCol="0">
              <a:spAutoFit/>
            </a:bodyPr>
            <a:lstStyle/>
            <a:p>
              <a:pPr defTabSz="1219020"/>
              <a:r>
                <a:rPr lang="en-US" altLang="zh-CN" sz="4000" dirty="0">
                  <a:solidFill>
                    <a:srgbClr val="686769"/>
                  </a:solidFill>
                  <a:latin typeface="方正黑体简体" panose="02010601030101010101" pitchFamily="2" charset="-122"/>
                  <a:ea typeface="方正黑体简体" panose="02010601030101010101" pitchFamily="2" charset="-122"/>
                  <a:cs typeface="+mn-ea"/>
                  <a:sym typeface="+mn-lt"/>
                </a:rPr>
                <a:t>04</a:t>
              </a:r>
            </a:p>
          </p:txBody>
        </p:sp>
      </p:grpSp>
      <p:sp>
        <p:nvSpPr>
          <p:cNvPr id="18" name="TextBox 21">
            <a:extLst>
              <a:ext uri="{FF2B5EF4-FFF2-40B4-BE49-F238E27FC236}">
                <a16:creationId xmlns:a16="http://schemas.microsoft.com/office/drawing/2014/main" id="{16904B6F-04B1-4F91-A702-E9C9F479D906}"/>
              </a:ext>
            </a:extLst>
          </p:cNvPr>
          <p:cNvSpPr txBox="1"/>
          <p:nvPr/>
        </p:nvSpPr>
        <p:spPr>
          <a:xfrm>
            <a:off x="8746629" y="5012203"/>
            <a:ext cx="1415772" cy="461664"/>
          </a:xfrm>
          <a:prstGeom prst="rect">
            <a:avLst/>
          </a:prstGeom>
          <a:noFill/>
        </p:spPr>
        <p:txBody>
          <a:bodyPr wrap="none" rtlCol="0">
            <a:spAutoFit/>
          </a:bodyPr>
          <a:lstStyle/>
          <a:p>
            <a:pPr defTabSz="1219020"/>
            <a:r>
              <a:rPr lang="zh-CN" altLang="en-US" sz="2400" dirty="0">
                <a:solidFill>
                  <a:prstClr val="white"/>
                </a:solidFill>
                <a:latin typeface="方正黑体简体" panose="02010601030101010101" pitchFamily="2" charset="-122"/>
                <a:ea typeface="方正黑体简体" panose="02010601030101010101" pitchFamily="2" charset="-122"/>
                <a:cs typeface="+mn-ea"/>
                <a:sym typeface="+mn-lt"/>
              </a:rPr>
              <a:t>其他算法</a:t>
            </a:r>
          </a:p>
        </p:txBody>
      </p:sp>
      <p:sp>
        <p:nvSpPr>
          <p:cNvPr id="20" name="TextBox 23">
            <a:extLst>
              <a:ext uri="{FF2B5EF4-FFF2-40B4-BE49-F238E27FC236}">
                <a16:creationId xmlns:a16="http://schemas.microsoft.com/office/drawing/2014/main" id="{CF6DD98A-7CDE-4094-9536-0FBE025CF6ED}"/>
              </a:ext>
            </a:extLst>
          </p:cNvPr>
          <p:cNvSpPr txBox="1"/>
          <p:nvPr/>
        </p:nvSpPr>
        <p:spPr>
          <a:xfrm>
            <a:off x="7920665" y="4856735"/>
            <a:ext cx="787395" cy="707886"/>
          </a:xfrm>
          <a:prstGeom prst="rect">
            <a:avLst/>
          </a:prstGeom>
          <a:noFill/>
        </p:spPr>
        <p:txBody>
          <a:bodyPr wrap="none" rtlCol="0">
            <a:spAutoFit/>
          </a:bodyPr>
          <a:lstStyle/>
          <a:p>
            <a:pPr defTabSz="1219020"/>
            <a:r>
              <a:rPr lang="en-US" altLang="zh-CN" sz="4000" dirty="0">
                <a:solidFill>
                  <a:srgbClr val="686769"/>
                </a:solidFill>
                <a:latin typeface="方正黑体简体" panose="02010601030101010101" pitchFamily="2" charset="-122"/>
                <a:ea typeface="方正黑体简体" panose="02010601030101010101" pitchFamily="2" charset="-122"/>
                <a:cs typeface="+mn-ea"/>
                <a:sym typeface="+mn-lt"/>
              </a:rPr>
              <a:t>05</a:t>
            </a:r>
          </a:p>
        </p:txBody>
      </p:sp>
    </p:spTree>
    <p:extLst>
      <p:ext uri="{BB962C8B-B14F-4D97-AF65-F5344CB8AC3E}">
        <p14:creationId xmlns:p14="http://schemas.microsoft.com/office/powerpoint/2010/main" val="24079487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p14:dur="250" advClick="0" advTm="9136">
        <p15:prstTrans prst="airplane"/>
      </p:transition>
    </mc:Choice>
    <mc:Fallback xmlns="">
      <p:transition advClick="0" advTm="913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0-#ppt_w/2"/>
                                          </p:val>
                                        </p:tav>
                                        <p:tav tm="100000">
                                          <p:val>
                                            <p:strVal val="#ppt_x"/>
                                          </p:val>
                                        </p:tav>
                                      </p:tavLst>
                                    </p:anim>
                                    <p:anim calcmode="lin" valueType="num">
                                      <p:cBhvr additive="base">
                                        <p:cTn id="8" dur="500" fill="hold"/>
                                        <p:tgtEl>
                                          <p:spTgt spid="205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0-#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0-#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1+#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2"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1+#ppt_w/2"/>
                                          </p:val>
                                        </p:tav>
                                        <p:tav tm="100000">
                                          <p:val>
                                            <p:strVal val="#ppt_x"/>
                                          </p:val>
                                        </p:tav>
                                      </p:tavLst>
                                    </p:anim>
                                    <p:anim calcmode="lin" valueType="num">
                                      <p:cBhvr additive="base">
                                        <p:cTn id="28" dur="500" fill="hold"/>
                                        <p:tgtEl>
                                          <p:spTgt spid="3"/>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2" fill="hold" nodeType="after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additive="base">
                                        <p:cTn id="32" dur="500" fill="hold"/>
                                        <p:tgtEl>
                                          <p:spTgt spid="4"/>
                                        </p:tgtEl>
                                        <p:attrNameLst>
                                          <p:attrName>ppt_x</p:attrName>
                                        </p:attrNameLst>
                                      </p:cBhvr>
                                      <p:tavLst>
                                        <p:tav tm="0">
                                          <p:val>
                                            <p:strVal val="1+#ppt_w/2"/>
                                          </p:val>
                                        </p:tav>
                                        <p:tav tm="100000">
                                          <p:val>
                                            <p:strVal val="#ppt_x"/>
                                          </p:val>
                                        </p:tav>
                                      </p:tavLst>
                                    </p:anim>
                                    <p:anim calcmode="lin" valueType="num">
                                      <p:cBhvr additive="base">
                                        <p:cTn id="33" dur="500" fill="hold"/>
                                        <p:tgtEl>
                                          <p:spTgt spid="4"/>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2"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1+#ppt_w/2"/>
                                          </p:val>
                                        </p:tav>
                                        <p:tav tm="100000">
                                          <p:val>
                                            <p:strVal val="#ppt_x"/>
                                          </p:val>
                                        </p:tav>
                                      </p:tavLst>
                                    </p:anim>
                                    <p:anim calcmode="lin" valueType="num">
                                      <p:cBhvr additive="base">
                                        <p:cTn id="3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CF0"/>
        </a:solidFill>
        <a:effectLst/>
      </p:bgPr>
    </p:bg>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363F6583-FC68-4C1D-A80F-9E9E237520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75456" y="0"/>
            <a:ext cx="4716544" cy="6858000"/>
          </a:xfrm>
          <a:prstGeom prst="rect">
            <a:avLst/>
          </a:prstGeom>
        </p:spPr>
      </p:pic>
      <p:pic>
        <p:nvPicPr>
          <p:cNvPr id="3" name="图片 2">
            <a:extLst>
              <a:ext uri="{FF2B5EF4-FFF2-40B4-BE49-F238E27FC236}">
                <a16:creationId xmlns:a16="http://schemas.microsoft.com/office/drawing/2014/main" id="{5D405D4A-9CEE-4F04-838A-B4FD713D04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11968" y="635721"/>
            <a:ext cx="4980032" cy="5915832"/>
          </a:xfrm>
          <a:prstGeom prst="rect">
            <a:avLst/>
          </a:prstGeom>
        </p:spPr>
      </p:pic>
      <p:sp>
        <p:nvSpPr>
          <p:cNvPr id="10" name="TextBox 6">
            <a:extLst>
              <a:ext uri="{FF2B5EF4-FFF2-40B4-BE49-F238E27FC236}">
                <a16:creationId xmlns:a16="http://schemas.microsoft.com/office/drawing/2014/main" id="{723E779C-3F67-4C55-AD01-F5B7C72092FC}"/>
              </a:ext>
            </a:extLst>
          </p:cNvPr>
          <p:cNvSpPr txBox="1"/>
          <p:nvPr/>
        </p:nvSpPr>
        <p:spPr>
          <a:xfrm>
            <a:off x="1007435" y="1892830"/>
            <a:ext cx="4183774" cy="1323439"/>
          </a:xfrm>
          <a:prstGeom prst="rect">
            <a:avLst/>
          </a:prstGeom>
          <a:noFill/>
        </p:spPr>
        <p:txBody>
          <a:bodyPr wrap="none" rtlCol="0">
            <a:spAutoFit/>
          </a:bodyPr>
          <a:lstStyle/>
          <a:p>
            <a:pPr defTabSz="1219020"/>
            <a:r>
              <a:rPr lang="en-US" altLang="zh-CN" sz="8000" dirty="0">
                <a:solidFill>
                  <a:srgbClr val="E1E0D8"/>
                </a:solidFill>
                <a:latin typeface="方正黑体简体" panose="02010601030101010101" pitchFamily="2" charset="-122"/>
                <a:ea typeface="方正黑体简体" panose="02010601030101010101" pitchFamily="2" charset="-122"/>
                <a:cs typeface="+mn-ea"/>
                <a:sym typeface="+mn-lt"/>
              </a:rPr>
              <a:t>PART 01</a:t>
            </a:r>
            <a:endParaRPr lang="zh-CN" altLang="en-US" sz="8000"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11" name="TextBox 7">
            <a:extLst>
              <a:ext uri="{FF2B5EF4-FFF2-40B4-BE49-F238E27FC236}">
                <a16:creationId xmlns:a16="http://schemas.microsoft.com/office/drawing/2014/main" id="{09FD52BB-F97A-424A-9BEA-B4FAD72885EE}"/>
              </a:ext>
            </a:extLst>
          </p:cNvPr>
          <p:cNvSpPr txBox="1"/>
          <p:nvPr/>
        </p:nvSpPr>
        <p:spPr>
          <a:xfrm>
            <a:off x="51804" y="3067160"/>
            <a:ext cx="7390549" cy="1569660"/>
          </a:xfrm>
          <a:prstGeom prst="rect">
            <a:avLst/>
          </a:prstGeom>
          <a:noFill/>
        </p:spPr>
        <p:txBody>
          <a:bodyPr wrap="none" rtlCol="0">
            <a:spAutoFit/>
          </a:bodyPr>
          <a:lstStyle/>
          <a:p>
            <a:pPr defTabSz="1219020"/>
            <a:r>
              <a:rPr lang="en-US" altLang="zh-CN" sz="4800" dirty="0">
                <a:solidFill>
                  <a:srgbClr val="4F4D50"/>
                </a:solidFill>
                <a:latin typeface="方正黑体简体" panose="02010601030101010101" pitchFamily="2" charset="-122"/>
                <a:ea typeface="方正黑体简体" panose="02010601030101010101" pitchFamily="2" charset="-122"/>
                <a:cs typeface="+mn-ea"/>
                <a:sym typeface="+mn-lt"/>
              </a:rPr>
              <a:t>GDAL</a:t>
            </a:r>
            <a:r>
              <a:rPr lang="zh-CN" altLang="en-US" sz="4800" dirty="0">
                <a:solidFill>
                  <a:srgbClr val="4F4D50"/>
                </a:solidFill>
                <a:latin typeface="方正黑体简体" panose="02010601030101010101" pitchFamily="2" charset="-122"/>
                <a:ea typeface="方正黑体简体" panose="02010601030101010101" pitchFamily="2" charset="-122"/>
                <a:cs typeface="+mn-ea"/>
                <a:sym typeface="+mn-lt"/>
              </a:rPr>
              <a:t>基础介绍与学习目标</a:t>
            </a:r>
          </a:p>
          <a:p>
            <a:pPr defTabSz="1219020"/>
            <a:endParaRPr lang="zh-CN" altLang="en-US" sz="48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
        <p:nvSpPr>
          <p:cNvPr id="13" name="TextBox 6">
            <a:extLst>
              <a:ext uri="{FF2B5EF4-FFF2-40B4-BE49-F238E27FC236}">
                <a16:creationId xmlns:a16="http://schemas.microsoft.com/office/drawing/2014/main" id="{723E779C-3F67-4C55-AD01-F5B7C72092FC}"/>
              </a:ext>
            </a:extLst>
          </p:cNvPr>
          <p:cNvSpPr txBox="1"/>
          <p:nvPr/>
        </p:nvSpPr>
        <p:spPr>
          <a:xfrm>
            <a:off x="9388833" y="2168473"/>
            <a:ext cx="694421" cy="2646878"/>
          </a:xfrm>
          <a:prstGeom prst="rect">
            <a:avLst/>
          </a:prstGeom>
          <a:noFill/>
        </p:spPr>
        <p:txBody>
          <a:bodyPr wrap="none" rtlCol="0">
            <a:spAutoFit/>
          </a:bodyPr>
          <a:lstStyle/>
          <a:p>
            <a:pPr defTabSz="1219020"/>
            <a:r>
              <a:rPr lang="en-US" altLang="zh-CN" sz="16600" spc="600" dirty="0">
                <a:gradFill>
                  <a:gsLst>
                    <a:gs pos="0">
                      <a:srgbClr val="F7DCAC"/>
                    </a:gs>
                    <a:gs pos="100000">
                      <a:srgbClr val="88745B"/>
                    </a:gs>
                  </a:gsLst>
                  <a:lin ang="1800000" scaled="0"/>
                </a:gradFill>
                <a:effectLst>
                  <a:outerShdw blurRad="190500" dist="63500" dir="2700000" algn="tl">
                    <a:srgbClr val="000000">
                      <a:alpha val="30000"/>
                    </a:srgbClr>
                  </a:outerShdw>
                </a:effectLst>
                <a:latin typeface="Agency FB" panose="020B0503020202020204" pitchFamily="34" charset="0"/>
                <a:ea typeface="方正黑体简体" panose="02010601030101010101" pitchFamily="2" charset="-122"/>
                <a:cs typeface="+mn-ea"/>
                <a:sym typeface="+mn-lt"/>
              </a:rPr>
              <a:t>1</a:t>
            </a:r>
            <a:endParaRPr lang="zh-CN" altLang="en-US" sz="16600" spc="600" dirty="0">
              <a:gradFill>
                <a:gsLst>
                  <a:gs pos="0">
                    <a:srgbClr val="F7DCAC"/>
                  </a:gs>
                  <a:gs pos="100000">
                    <a:srgbClr val="88745B"/>
                  </a:gs>
                </a:gsLst>
                <a:lin ang="1800000" scaled="0"/>
              </a:gradFill>
              <a:effectLst>
                <a:outerShdw blurRad="190500" dist="63500" dir="2700000" algn="tl">
                  <a:srgbClr val="000000">
                    <a:alpha val="30000"/>
                  </a:srgbClr>
                </a:outerShdw>
              </a:effectLst>
              <a:latin typeface="Agency FB" panose="020B0503020202020204" pitchFamily="34" charset="0"/>
              <a:ea typeface="方正黑体简体" panose="02010601030101010101" pitchFamily="2" charset="-122"/>
              <a:cs typeface="+mn-ea"/>
              <a:sym typeface="+mn-lt"/>
            </a:endParaRPr>
          </a:p>
        </p:txBody>
      </p:sp>
    </p:spTree>
    <p:extLst>
      <p:ext uri="{BB962C8B-B14F-4D97-AF65-F5344CB8AC3E}">
        <p14:creationId xmlns:p14="http://schemas.microsoft.com/office/powerpoint/2010/main" val="3618797812"/>
      </p:ext>
    </p:extLst>
  </p:cSld>
  <p:clrMapOvr>
    <a:masterClrMapping/>
  </p:clrMapOvr>
  <mc:AlternateContent xmlns:mc="http://schemas.openxmlformats.org/markup-compatibility/2006" xmlns:p14="http://schemas.microsoft.com/office/powerpoint/2010/main">
    <mc:Choice Requires="p14">
      <p:transition p14:dur="250" advClick="0" advTm="3035">
        <p14:flip dir="r"/>
      </p:transition>
    </mc:Choice>
    <mc:Fallback xmlns="">
      <p:transition advClick="0" advTm="303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3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30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5A5B6729-8EA1-406B-9546-72A4E8AA54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3882" y="3524648"/>
            <a:ext cx="7544237" cy="3333352"/>
          </a:xfrm>
          <a:prstGeom prst="rect">
            <a:avLst/>
          </a:prstGeom>
        </p:spPr>
      </p:pic>
      <p:pic>
        <p:nvPicPr>
          <p:cNvPr id="2" name="图片 1">
            <a:extLst>
              <a:ext uri="{FF2B5EF4-FFF2-40B4-BE49-F238E27FC236}">
                <a16:creationId xmlns:a16="http://schemas.microsoft.com/office/drawing/2014/main" id="{AB57C0F8-B204-4584-AB17-3A4B9892388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a:extLst>
              <a:ext uri="{FF2B5EF4-FFF2-40B4-BE49-F238E27FC236}">
                <a16:creationId xmlns:a16="http://schemas.microsoft.com/office/drawing/2014/main" id="{E85550B3-3070-4D72-8FA2-A190686442CB}"/>
              </a:ext>
            </a:extLst>
          </p:cNvPr>
          <p:cNvSpPr txBox="1"/>
          <p:nvPr/>
        </p:nvSpPr>
        <p:spPr>
          <a:xfrm>
            <a:off x="539983" y="440281"/>
            <a:ext cx="1415772" cy="461665"/>
          </a:xfrm>
          <a:prstGeom prst="rect">
            <a:avLst/>
          </a:prstGeom>
          <a:noFill/>
        </p:spPr>
        <p:txBody>
          <a:bodyPr wrap="none" rtlCol="0">
            <a:spAutoFit/>
          </a:bodyPr>
          <a:lstStyle/>
          <a:p>
            <a:pPr defTabSz="121902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基础介绍</a:t>
            </a:r>
            <a:endParaRPr lang="zh-CN" altLang="en-US" sz="2400" dirty="0">
              <a:solidFill>
                <a:srgbClr val="FF0000"/>
              </a:solidFill>
              <a:latin typeface="方正黑体简体" panose="02010601030101010101" pitchFamily="2" charset="-122"/>
              <a:ea typeface="方正黑体简体" panose="02010601030101010101" pitchFamily="2" charset="-122"/>
              <a:cs typeface="+mn-ea"/>
              <a:sym typeface="+mn-lt"/>
            </a:endParaRPr>
          </a:p>
        </p:txBody>
      </p:sp>
      <p:sp>
        <p:nvSpPr>
          <p:cNvPr id="21" name="文本框 20">
            <a:extLst>
              <a:ext uri="{FF2B5EF4-FFF2-40B4-BE49-F238E27FC236}">
                <a16:creationId xmlns:a16="http://schemas.microsoft.com/office/drawing/2014/main" id="{6990941F-4538-4CDB-BC5E-8B37C47BAF4D}"/>
              </a:ext>
            </a:extLst>
          </p:cNvPr>
          <p:cNvSpPr txBox="1"/>
          <p:nvPr/>
        </p:nvSpPr>
        <p:spPr>
          <a:xfrm>
            <a:off x="984454" y="1386037"/>
            <a:ext cx="6098458" cy="523220"/>
          </a:xfrm>
          <a:prstGeom prst="rect">
            <a:avLst/>
          </a:prstGeom>
          <a:noFill/>
        </p:spPr>
        <p:txBody>
          <a:bodyPr wrap="square">
            <a:spAutoFit/>
          </a:bodyPr>
          <a:lstStyle/>
          <a:p>
            <a:r>
              <a:rPr lang="en-US" altLang="zh-CN" sz="2800" b="1" dirty="0">
                <a:effectLst/>
                <a:latin typeface="Times New Roman" panose="02020603050405020304" pitchFamily="18" charset="0"/>
                <a:cs typeface="Times New Roman" panose="02020603050405020304" pitchFamily="18" charset="0"/>
              </a:rPr>
              <a:t>GDAL</a:t>
            </a:r>
            <a:r>
              <a:rPr lang="zh-CN" altLang="zh-CN" sz="2800" b="1" dirty="0">
                <a:effectLst/>
                <a:ea typeface="宋体" panose="02010600030101010101" pitchFamily="2" charset="-122"/>
                <a:cs typeface="Times New Roman" panose="02020603050405020304" pitchFamily="18" charset="0"/>
              </a:rPr>
              <a:t>核心类结构设计</a:t>
            </a:r>
            <a:endParaRPr lang="zh-CN" altLang="en-US" sz="2800" dirty="0"/>
          </a:p>
        </p:txBody>
      </p:sp>
      <p:pic>
        <p:nvPicPr>
          <p:cNvPr id="27" name="图片 26">
            <a:extLst>
              <a:ext uri="{FF2B5EF4-FFF2-40B4-BE49-F238E27FC236}">
                <a16:creationId xmlns:a16="http://schemas.microsoft.com/office/drawing/2014/main" id="{CB0F7E25-47DA-4C78-8563-43206F6C672E}"/>
              </a:ext>
            </a:extLst>
          </p:cNvPr>
          <p:cNvPicPr/>
          <p:nvPr/>
        </p:nvPicPr>
        <p:blipFill>
          <a:blip r:embed="rId5"/>
          <a:stretch>
            <a:fillRect/>
          </a:stretch>
        </p:blipFill>
        <p:spPr>
          <a:xfrm>
            <a:off x="5514027" y="191729"/>
            <a:ext cx="6185320" cy="1890971"/>
          </a:xfrm>
          <a:prstGeom prst="rect">
            <a:avLst/>
          </a:prstGeom>
        </p:spPr>
      </p:pic>
      <p:sp>
        <p:nvSpPr>
          <p:cNvPr id="5" name="文本框 4">
            <a:extLst>
              <a:ext uri="{FF2B5EF4-FFF2-40B4-BE49-F238E27FC236}">
                <a16:creationId xmlns:a16="http://schemas.microsoft.com/office/drawing/2014/main" id="{F99CA49A-7771-4957-958B-DE4D2A66A849}"/>
              </a:ext>
            </a:extLst>
          </p:cNvPr>
          <p:cNvSpPr txBox="1"/>
          <p:nvPr/>
        </p:nvSpPr>
        <p:spPr>
          <a:xfrm>
            <a:off x="978309" y="2566791"/>
            <a:ext cx="10235381" cy="3939540"/>
          </a:xfrm>
          <a:prstGeom prst="rect">
            <a:avLst/>
          </a:prstGeom>
          <a:noFill/>
        </p:spPr>
        <p:txBody>
          <a:bodyPr wrap="square" rtlCol="0">
            <a:spAutoFit/>
          </a:bodyPr>
          <a:lstStyle/>
          <a:p>
            <a:pPr>
              <a:spcBef>
                <a:spcPts val="120"/>
              </a:spcBef>
              <a:spcAft>
                <a:spcPts val="120"/>
              </a:spcAft>
            </a:pPr>
            <a:r>
              <a:rPr lang="en-US" altLang="zh-CN" sz="2400" b="1" kern="100" dirty="0">
                <a:effectLst/>
                <a:latin typeface="Times New Roman" panose="02020603050405020304" pitchFamily="18" charset="0"/>
                <a:ea typeface="等线" panose="02010600030101010101" pitchFamily="2" charset="-122"/>
                <a:cs typeface="Times New Roman" panose="02020603050405020304" pitchFamily="18" charset="0"/>
              </a:rPr>
              <a:t>GDALMajorObject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类：</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带有元数据的对象。</a:t>
            </a:r>
            <a:endParaRPr lang="zh-CN" altLang="zh-CN" sz="2400" kern="100" dirty="0">
              <a:effectLst/>
              <a:latin typeface="Times New Roman" panose="02020603050405020304" pitchFamily="18" charset="0"/>
              <a:ea typeface="等线" panose="02010600030101010101" pitchFamily="2" charset="-122"/>
              <a:cs typeface="Times New Roman" panose="02020603050405020304" pitchFamily="18" charset="0"/>
            </a:endParaRPr>
          </a:p>
          <a:p>
            <a:pPr>
              <a:spcBef>
                <a:spcPts val="120"/>
              </a:spcBef>
              <a:spcAft>
                <a:spcPts val="120"/>
              </a:spcAft>
            </a:pPr>
            <a:r>
              <a:rPr lang="en-US" altLang="zh-CN" sz="2400" kern="100" dirty="0">
                <a:effectLst/>
                <a:latin typeface="Times New Roman" panose="02020603050405020304" pitchFamily="18" charset="0"/>
                <a:ea typeface="等线" panose="02010600030101010101" pitchFamily="2" charset="-122"/>
                <a:cs typeface="Times New Roman" panose="02020603050405020304" pitchFamily="18" charset="0"/>
              </a:rPr>
              <a:t> </a:t>
            </a:r>
            <a:endParaRPr lang="zh-CN" altLang="zh-CN" sz="2400" kern="100" dirty="0">
              <a:effectLst/>
              <a:latin typeface="Times New Roman" panose="02020603050405020304" pitchFamily="18" charset="0"/>
              <a:ea typeface="等线" panose="02010600030101010101" pitchFamily="2" charset="-122"/>
              <a:cs typeface="Times New Roman" panose="02020603050405020304" pitchFamily="18" charset="0"/>
            </a:endParaRPr>
          </a:p>
          <a:p>
            <a:pPr>
              <a:spcBef>
                <a:spcPts val="120"/>
              </a:spcBef>
              <a:spcAft>
                <a:spcPts val="120"/>
              </a:spcAft>
            </a:pPr>
            <a:r>
              <a:rPr lang="en-US" altLang="zh-CN" sz="2400" b="1" kern="100" dirty="0" err="1">
                <a:effectLst/>
                <a:latin typeface="Times New Roman" panose="02020603050405020304" pitchFamily="18" charset="0"/>
                <a:ea typeface="等线" panose="02010600030101010101" pitchFamily="2" charset="-122"/>
                <a:cs typeface="Times New Roman" panose="02020603050405020304" pitchFamily="18" charset="0"/>
              </a:rPr>
              <a:t>GDALDdataset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类：</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通常是从一个栅格文件中提取的相关联的栅格波段集合和这些波段的元数据；</a:t>
            </a:r>
            <a:r>
              <a:rPr lang="en-US" altLang="zh-CN" sz="2400" kern="100" dirty="0" err="1">
                <a:effectLst/>
                <a:latin typeface="Times New Roman" panose="02020603050405020304" pitchFamily="18" charset="0"/>
                <a:ea typeface="宋体" panose="02010600030101010101" pitchFamily="2" charset="-122"/>
                <a:cs typeface="Times New Roman" panose="02020603050405020304" pitchFamily="18" charset="0"/>
              </a:rPr>
              <a:t>GDALDdataset</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也负责所有栅格波段的地理坐标转换</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err="1">
                <a:effectLst/>
                <a:latin typeface="Times New Roman" panose="02020603050405020304" pitchFamily="18" charset="0"/>
                <a:ea typeface="宋体" panose="02010600030101010101" pitchFamily="2" charset="-122"/>
                <a:cs typeface="Times New Roman" panose="02020603050405020304" pitchFamily="18" charset="0"/>
              </a:rPr>
              <a:t>georeferencingtransform</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和坐标系定义。</a:t>
            </a:r>
            <a:endParaRPr lang="zh-CN" altLang="zh-CN" sz="2400" kern="100" dirty="0">
              <a:effectLst/>
              <a:latin typeface="Times New Roman" panose="02020603050405020304" pitchFamily="18" charset="0"/>
              <a:ea typeface="等线" panose="02010600030101010101" pitchFamily="2" charset="-122"/>
              <a:cs typeface="Times New Roman" panose="02020603050405020304" pitchFamily="18" charset="0"/>
            </a:endParaRPr>
          </a:p>
          <a:p>
            <a:pPr>
              <a:spcBef>
                <a:spcPts val="120"/>
              </a:spcBef>
              <a:spcAft>
                <a:spcPts val="120"/>
              </a:spcAft>
            </a:pPr>
            <a:r>
              <a:rPr lang="en-US" altLang="zh-CN" sz="2400" kern="100" dirty="0">
                <a:effectLst/>
                <a:latin typeface="Times New Roman" panose="02020603050405020304" pitchFamily="18" charset="0"/>
                <a:ea typeface="等线" panose="02010600030101010101" pitchFamily="2" charset="-122"/>
                <a:cs typeface="Times New Roman" panose="02020603050405020304" pitchFamily="18" charset="0"/>
              </a:rPr>
              <a:t> </a:t>
            </a:r>
            <a:endParaRPr lang="zh-CN" altLang="zh-CN" sz="2400" kern="100" dirty="0">
              <a:effectLst/>
              <a:latin typeface="Times New Roman" panose="02020603050405020304" pitchFamily="18" charset="0"/>
              <a:ea typeface="等线" panose="02010600030101010101" pitchFamily="2" charset="-122"/>
              <a:cs typeface="Times New Roman" panose="02020603050405020304" pitchFamily="18" charset="0"/>
            </a:endParaRPr>
          </a:p>
          <a:p>
            <a:pPr>
              <a:spcBef>
                <a:spcPts val="120"/>
              </a:spcBef>
              <a:spcAft>
                <a:spcPts val="120"/>
              </a:spcAft>
            </a:pPr>
            <a:r>
              <a:rPr lang="en-US" altLang="zh-CN" sz="2400" b="1" kern="100" dirty="0" err="1">
                <a:effectLst/>
                <a:latin typeface="Times New Roman" panose="02020603050405020304" pitchFamily="18" charset="0"/>
                <a:ea typeface="等线" panose="02010600030101010101" pitchFamily="2" charset="-122"/>
                <a:cs typeface="Times New Roman" panose="02020603050405020304" pitchFamily="18" charset="0"/>
              </a:rPr>
              <a:t>GDALDriver</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类：</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文件格式驱动类，</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GDAL</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会为每一个所支持的文件格式创建一个该类的实体，来管理该文件格式。</a:t>
            </a:r>
            <a:endParaRPr lang="zh-CN" altLang="zh-CN" sz="2400" kern="100" dirty="0">
              <a:effectLst/>
              <a:latin typeface="Times New Roman" panose="02020603050405020304" pitchFamily="18" charset="0"/>
              <a:ea typeface="等线" panose="02010600030101010101" pitchFamily="2" charset="-122"/>
              <a:cs typeface="Times New Roman" panose="02020603050405020304" pitchFamily="18" charset="0"/>
            </a:endParaRPr>
          </a:p>
          <a:p>
            <a:pPr>
              <a:spcBef>
                <a:spcPts val="120"/>
              </a:spcBef>
              <a:spcAft>
                <a:spcPts val="120"/>
              </a:spcAft>
            </a:pPr>
            <a:r>
              <a:rPr lang="en-US" altLang="zh-CN" sz="2400" kern="100" dirty="0">
                <a:effectLst/>
                <a:latin typeface="Times New Roman" panose="02020603050405020304" pitchFamily="18" charset="0"/>
                <a:ea typeface="等线" panose="02010600030101010101" pitchFamily="2" charset="-122"/>
                <a:cs typeface="Times New Roman" panose="02020603050405020304" pitchFamily="18" charset="0"/>
              </a:rPr>
              <a:t> </a:t>
            </a:r>
            <a:endParaRPr lang="zh-CN" altLang="zh-CN" sz="2400" kern="100" dirty="0">
              <a:effectLst/>
              <a:latin typeface="Times New Roman" panose="02020603050405020304" pitchFamily="18" charset="0"/>
              <a:ea typeface="等线" panose="02010600030101010101" pitchFamily="2" charset="-122"/>
              <a:cs typeface="Times New Roman" panose="02020603050405020304" pitchFamily="18" charset="0"/>
            </a:endParaRPr>
          </a:p>
          <a:p>
            <a:pPr>
              <a:spcBef>
                <a:spcPts val="120"/>
              </a:spcBef>
              <a:spcAft>
                <a:spcPts val="120"/>
              </a:spcAft>
            </a:pPr>
            <a:r>
              <a:rPr lang="en-US" altLang="zh-CN" sz="2400" b="1" kern="100" dirty="0" err="1">
                <a:effectLst/>
                <a:latin typeface="Times New Roman" panose="02020603050405020304" pitchFamily="18" charset="0"/>
                <a:ea typeface="等线" panose="02010600030101010101" pitchFamily="2" charset="-122"/>
                <a:cs typeface="Times New Roman" panose="02020603050405020304" pitchFamily="18" charset="0"/>
              </a:rPr>
              <a:t>GDALDriverManager</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类：</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文件格式驱动管理类，用来管理</a:t>
            </a:r>
            <a:r>
              <a:rPr lang="en-US" altLang="zh-CN" sz="2400" kern="100" dirty="0" err="1">
                <a:effectLst/>
                <a:latin typeface="Times New Roman" panose="02020603050405020304" pitchFamily="18" charset="0"/>
                <a:ea typeface="宋体" panose="02010600030101010101" pitchFamily="2" charset="-122"/>
                <a:cs typeface="Times New Roman" panose="02020603050405020304" pitchFamily="18" charset="0"/>
              </a:rPr>
              <a:t>GDALDriver</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类</a:t>
            </a:r>
            <a:endParaRPr lang="zh-CN" altLang="zh-CN" sz="2400" kern="100" dirty="0">
              <a:effectLst/>
              <a:latin typeface="Times New Roman" panose="02020603050405020304" pitchFamily="18"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605093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par>
                          <p:cTn id="13" fill="hold">
                            <p:stCondLst>
                              <p:cond delay="600"/>
                            </p:stCondLst>
                            <p:childTnLst>
                              <p:par>
                                <p:cTn id="14" presetID="53" presetClass="entr" presetSubtype="16"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5A5B6729-8EA1-406B-9546-72A4E8AA54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3882" y="3524648"/>
            <a:ext cx="7544237" cy="3333352"/>
          </a:xfrm>
          <a:prstGeom prst="rect">
            <a:avLst/>
          </a:prstGeom>
        </p:spPr>
      </p:pic>
      <p:pic>
        <p:nvPicPr>
          <p:cNvPr id="2" name="图片 1">
            <a:extLst>
              <a:ext uri="{FF2B5EF4-FFF2-40B4-BE49-F238E27FC236}">
                <a16:creationId xmlns:a16="http://schemas.microsoft.com/office/drawing/2014/main" id="{AB57C0F8-B204-4584-AB17-3A4B9892388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a:extLst>
              <a:ext uri="{FF2B5EF4-FFF2-40B4-BE49-F238E27FC236}">
                <a16:creationId xmlns:a16="http://schemas.microsoft.com/office/drawing/2014/main" id="{E85550B3-3070-4D72-8FA2-A190686442CB}"/>
              </a:ext>
            </a:extLst>
          </p:cNvPr>
          <p:cNvSpPr txBox="1"/>
          <p:nvPr/>
        </p:nvSpPr>
        <p:spPr>
          <a:xfrm>
            <a:off x="539983" y="440281"/>
            <a:ext cx="1959191" cy="523220"/>
          </a:xfrm>
          <a:prstGeom prst="rect">
            <a:avLst/>
          </a:prstGeom>
          <a:noFill/>
        </p:spPr>
        <p:txBody>
          <a:bodyPr wrap="none" rtlCol="0">
            <a:spAutoFit/>
          </a:bodyPr>
          <a:lstStyle/>
          <a:p>
            <a:r>
              <a:rPr lang="en-US" altLang="zh-CN" sz="2800" b="1" dirty="0">
                <a:latin typeface="宋体" panose="02010600030101010101" pitchFamily="2" charset="-122"/>
                <a:cs typeface="Times New Roman" panose="02020603050405020304" pitchFamily="18" charset="0"/>
              </a:rPr>
              <a:t>OGR</a:t>
            </a:r>
            <a:r>
              <a:rPr lang="zh-CN" altLang="en-US" sz="2400" dirty="0">
                <a:latin typeface="宋体" panose="02010600030101010101" pitchFamily="2" charset="-122"/>
                <a:cs typeface="Times New Roman" panose="02020603050405020304" pitchFamily="18" charset="0"/>
              </a:rPr>
              <a:t>体系结构</a:t>
            </a:r>
            <a:endParaRPr lang="zh-CN" altLang="en-US" sz="2800" dirty="0">
              <a:latin typeface="宋体"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F99CA49A-7771-4957-958B-DE4D2A66A849}"/>
              </a:ext>
            </a:extLst>
          </p:cNvPr>
          <p:cNvSpPr txBox="1"/>
          <p:nvPr/>
        </p:nvSpPr>
        <p:spPr>
          <a:xfrm>
            <a:off x="1372714" y="1854210"/>
            <a:ext cx="10235381" cy="4503797"/>
          </a:xfrm>
          <a:prstGeom prst="rect">
            <a:avLst/>
          </a:prstGeom>
          <a:noFill/>
        </p:spPr>
        <p:txBody>
          <a:bodyPr wrap="square" rtlCol="0">
            <a:spAutoFit/>
          </a:bodyPr>
          <a:lstStyle/>
          <a:p>
            <a:pPr>
              <a:spcBef>
                <a:spcPts val="120"/>
              </a:spcBef>
              <a:spcAft>
                <a:spcPts val="120"/>
              </a:spcAft>
            </a:pPr>
            <a:r>
              <a:rPr lang="en-US" altLang="zh-CN" sz="2800" b="1" kern="100" dirty="0">
                <a:effectLst/>
                <a:latin typeface="宋体" panose="02010600030101010101" pitchFamily="2" charset="-122"/>
                <a:ea typeface="等线" panose="02010600030101010101" pitchFamily="2" charset="-122"/>
                <a:cs typeface="Times New Roman" panose="02020603050405020304" pitchFamily="18" charset="0"/>
              </a:rPr>
              <a:t>Geometry</a:t>
            </a:r>
            <a:r>
              <a:rPr lang="zh-CN" altLang="zh-CN" sz="2800" b="1"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类</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Geometry (</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包括</a:t>
            </a:r>
            <a:r>
              <a:rPr lang="en-US" altLang="zh-CN" sz="2800" kern="100" dirty="0" err="1">
                <a:effectLst/>
                <a:latin typeface="等线" panose="02010600030101010101" pitchFamily="2" charset="-122"/>
                <a:ea typeface="宋体" panose="02010600030101010101" pitchFamily="2" charset="-122"/>
                <a:cs typeface="Times New Roman" panose="02020603050405020304" pitchFamily="18" charset="0"/>
              </a:rPr>
              <a:t>OGRGeometry</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等类</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封装了</a:t>
            </a:r>
            <a:r>
              <a:rPr lang="en-US" altLang="zh-CN" sz="2800" kern="100" dirty="0" err="1">
                <a:effectLst/>
                <a:latin typeface="等线" panose="02010600030101010101" pitchFamily="2" charset="-122"/>
                <a:ea typeface="宋体" panose="02010600030101010101" pitchFamily="2" charset="-122"/>
                <a:cs typeface="Times New Roman" panose="02020603050405020304" pitchFamily="18" charset="0"/>
              </a:rPr>
              <a:t>OpenGIS</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的矢量数据模型，并提供了一些几何操作，</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WKB(Well Knows Binary)</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和</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WKT(Well Known Text)</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格式之间的相互转换，以及空间参考系统</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投影</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spcBef>
                <a:spcPts val="120"/>
              </a:spcBef>
              <a:spcAft>
                <a:spcPts val="120"/>
              </a:spcAft>
            </a:pPr>
            <a:r>
              <a:rPr lang="en-US" altLang="zh-CN" sz="2800" kern="100" dirty="0">
                <a:effectLst/>
                <a:latin typeface="宋体" panose="02010600030101010101" pitchFamily="2" charset="-122"/>
                <a:ea typeface="等线" panose="02010600030101010101" pitchFamily="2" charset="-122"/>
                <a:cs typeface="Times New Roman" panose="02020603050405020304" pitchFamily="18" charset="0"/>
              </a:rPr>
              <a:t> </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spcBef>
                <a:spcPts val="120"/>
              </a:spcBef>
              <a:spcAft>
                <a:spcPts val="120"/>
              </a:spcAft>
            </a:pPr>
            <a:r>
              <a:rPr lang="en-US" altLang="zh-CN" sz="2800" b="1" kern="100" dirty="0">
                <a:effectLst/>
                <a:latin typeface="宋体" panose="02010600030101010101" pitchFamily="2" charset="-122"/>
                <a:ea typeface="等线" panose="02010600030101010101" pitchFamily="2" charset="-122"/>
                <a:cs typeface="Times New Roman" panose="02020603050405020304" pitchFamily="18" charset="0"/>
              </a:rPr>
              <a:t>Spatial Reference</a:t>
            </a:r>
            <a:r>
              <a:rPr lang="zh-CN" altLang="zh-CN" sz="2800" b="1"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类</a:t>
            </a:r>
            <a:r>
              <a:rPr lang="en-US" altLang="zh-CN" sz="2800" kern="100" dirty="0" err="1">
                <a:effectLst/>
                <a:latin typeface="等线" panose="02010600030101010101" pitchFamily="2" charset="-122"/>
                <a:ea typeface="宋体" panose="02010600030101010101" pitchFamily="2" charset="-122"/>
                <a:cs typeface="Times New Roman" panose="02020603050405020304" pitchFamily="18" charset="0"/>
              </a:rPr>
              <a:t>OGRSpatialReference</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封装了投影和基准面的定义。</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spcBef>
                <a:spcPts val="120"/>
              </a:spcBef>
              <a:spcAft>
                <a:spcPts val="120"/>
              </a:spcAft>
            </a:pPr>
            <a:r>
              <a:rPr lang="en-US" altLang="zh-CN" sz="2800" kern="100" dirty="0">
                <a:effectLst/>
                <a:latin typeface="宋体" panose="02010600030101010101" pitchFamily="2" charset="-122"/>
                <a:ea typeface="等线" panose="02010600030101010101" pitchFamily="2" charset="-122"/>
                <a:cs typeface="Times New Roman" panose="02020603050405020304" pitchFamily="18" charset="0"/>
              </a:rPr>
              <a:t> </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spcBef>
                <a:spcPts val="120"/>
              </a:spcBef>
              <a:spcAft>
                <a:spcPts val="120"/>
              </a:spcAft>
            </a:pPr>
            <a:r>
              <a:rPr lang="en-US" altLang="zh-CN" sz="2800" b="1" kern="100" dirty="0">
                <a:effectLst/>
                <a:latin typeface="宋体" panose="02010600030101010101" pitchFamily="2" charset="-122"/>
                <a:ea typeface="等线" panose="02010600030101010101" pitchFamily="2" charset="-122"/>
                <a:cs typeface="Times New Roman" panose="02020603050405020304" pitchFamily="18" charset="0"/>
              </a:rPr>
              <a:t>Feature</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：类</a:t>
            </a:r>
            <a:r>
              <a:rPr lang="en-US" altLang="zh-CN" sz="2800" kern="100" dirty="0" err="1">
                <a:effectLst/>
                <a:latin typeface="等线" panose="02010600030101010101" pitchFamily="2" charset="-122"/>
                <a:ea typeface="宋体" panose="02010600030101010101" pitchFamily="2" charset="-122"/>
                <a:cs typeface="Times New Roman" panose="02020603050405020304" pitchFamily="18" charset="0"/>
              </a:rPr>
              <a:t>OGRFeature</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封装了一个完整</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feature</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的定义，一个完整的</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feature</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包括一个</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geometry</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和</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geometry</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的一系列属性。</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794538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par>
                          <p:cTn id="13" fill="hold">
                            <p:stCondLst>
                              <p:cond delay="600"/>
                            </p:stCondLst>
                            <p:childTnLst>
                              <p:par>
                                <p:cTn id="14" presetID="53" presetClass="entr" presetSubtype="16"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5A5B6729-8EA1-406B-9546-72A4E8AA54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3882" y="3524648"/>
            <a:ext cx="7544237" cy="3333352"/>
          </a:xfrm>
          <a:prstGeom prst="rect">
            <a:avLst/>
          </a:prstGeom>
        </p:spPr>
      </p:pic>
      <p:pic>
        <p:nvPicPr>
          <p:cNvPr id="2" name="图片 1">
            <a:extLst>
              <a:ext uri="{FF2B5EF4-FFF2-40B4-BE49-F238E27FC236}">
                <a16:creationId xmlns:a16="http://schemas.microsoft.com/office/drawing/2014/main" id="{AB57C0F8-B204-4584-AB17-3A4B9892388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a:extLst>
              <a:ext uri="{FF2B5EF4-FFF2-40B4-BE49-F238E27FC236}">
                <a16:creationId xmlns:a16="http://schemas.microsoft.com/office/drawing/2014/main" id="{E85550B3-3070-4D72-8FA2-A190686442CB}"/>
              </a:ext>
            </a:extLst>
          </p:cNvPr>
          <p:cNvSpPr txBox="1"/>
          <p:nvPr/>
        </p:nvSpPr>
        <p:spPr>
          <a:xfrm>
            <a:off x="539983" y="440281"/>
            <a:ext cx="1959191" cy="523220"/>
          </a:xfrm>
          <a:prstGeom prst="rect">
            <a:avLst/>
          </a:prstGeom>
          <a:noFill/>
        </p:spPr>
        <p:txBody>
          <a:bodyPr wrap="none" rtlCol="0">
            <a:spAutoFit/>
          </a:bodyPr>
          <a:lstStyle/>
          <a:p>
            <a:r>
              <a:rPr lang="en-US" altLang="zh-CN" sz="2800" b="1" dirty="0">
                <a:latin typeface="宋体" panose="02010600030101010101" pitchFamily="2" charset="-122"/>
                <a:cs typeface="Times New Roman" panose="02020603050405020304" pitchFamily="18" charset="0"/>
              </a:rPr>
              <a:t>OGR</a:t>
            </a:r>
            <a:r>
              <a:rPr lang="zh-CN" altLang="en-US" sz="2400" dirty="0">
                <a:latin typeface="宋体" panose="02010600030101010101" pitchFamily="2" charset="-122"/>
                <a:cs typeface="Times New Roman" panose="02020603050405020304" pitchFamily="18" charset="0"/>
              </a:rPr>
              <a:t>体系结构</a:t>
            </a:r>
            <a:endParaRPr lang="zh-CN" altLang="en-US" sz="2800" dirty="0">
              <a:latin typeface="宋体"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F99CA49A-7771-4957-958B-DE4D2A66A849}"/>
              </a:ext>
            </a:extLst>
          </p:cNvPr>
          <p:cNvSpPr txBox="1"/>
          <p:nvPr/>
        </p:nvSpPr>
        <p:spPr>
          <a:xfrm>
            <a:off x="1372714" y="1854210"/>
            <a:ext cx="10235381" cy="4678204"/>
          </a:xfrm>
          <a:prstGeom prst="rect">
            <a:avLst/>
          </a:prstGeom>
          <a:noFill/>
        </p:spPr>
        <p:txBody>
          <a:bodyPr wrap="square" rtlCol="0">
            <a:spAutoFit/>
          </a:bodyPr>
          <a:lstStyle/>
          <a:p>
            <a:pPr>
              <a:spcBef>
                <a:spcPts val="120"/>
              </a:spcBef>
              <a:spcAft>
                <a:spcPts val="120"/>
              </a:spcAft>
            </a:pPr>
            <a:r>
              <a:rPr lang="en-US" altLang="zh-CN" sz="2400" b="1" kern="100" dirty="0">
                <a:effectLst/>
                <a:latin typeface="宋体" panose="02010600030101010101" pitchFamily="2" charset="-122"/>
                <a:ea typeface="等线" panose="02010600030101010101" pitchFamily="2" charset="-122"/>
                <a:cs typeface="Times New Roman" panose="02020603050405020304" pitchFamily="18" charset="0"/>
              </a:rPr>
              <a:t>Feature Definition</a:t>
            </a:r>
            <a:r>
              <a:rPr lang="zh-CN" altLang="zh-CN" sz="2400" b="1"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类</a:t>
            </a:r>
            <a:r>
              <a:rPr lang="en-US" altLang="zh-CN" sz="2400" kern="100" dirty="0" err="1">
                <a:effectLst/>
                <a:latin typeface="等线" panose="02010600030101010101" pitchFamily="2" charset="-122"/>
                <a:ea typeface="宋体" panose="02010600030101010101" pitchFamily="2" charset="-122"/>
                <a:cs typeface="Times New Roman" panose="02020603050405020304" pitchFamily="18" charset="0"/>
              </a:rPr>
              <a:t>OGRFeatureDefn</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里面封装了</a:t>
            </a:r>
            <a:r>
              <a:rPr lang="en-US" altLang="zh-CN" sz="2400" kern="100" dirty="0">
                <a:effectLst/>
                <a:latin typeface="等线" panose="02010600030101010101" pitchFamily="2" charset="-122"/>
                <a:ea typeface="宋体" panose="02010600030101010101" pitchFamily="2" charset="-122"/>
                <a:cs typeface="Times New Roman" panose="02020603050405020304" pitchFamily="18" charset="0"/>
              </a:rPr>
              <a:t>feature</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的属性，类型、名称及其默认的空间参考系统等。一个</a:t>
            </a:r>
            <a:r>
              <a:rPr lang="en-US" altLang="zh-CN" sz="2400" kern="100" dirty="0" err="1">
                <a:effectLst/>
                <a:latin typeface="等线" panose="02010600030101010101" pitchFamily="2" charset="-122"/>
                <a:ea typeface="宋体" panose="02010600030101010101" pitchFamily="2" charset="-122"/>
                <a:cs typeface="Times New Roman" panose="02020603050405020304" pitchFamily="18" charset="0"/>
              </a:rPr>
              <a:t>OGRFeatureDefn</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对象通常与一个层</a:t>
            </a:r>
            <a:r>
              <a:rPr lang="en-US" altLang="zh-CN" sz="2400" kern="100" dirty="0">
                <a:effectLst/>
                <a:latin typeface="等线" panose="02010600030101010101" pitchFamily="2" charset="-122"/>
                <a:ea typeface="宋体" panose="02010600030101010101" pitchFamily="2" charset="-122"/>
                <a:cs typeface="Times New Roman" panose="02020603050405020304" pitchFamily="18" charset="0"/>
              </a:rPr>
              <a:t>(layer)</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对应。</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spcBef>
                <a:spcPts val="120"/>
              </a:spcBef>
              <a:spcAft>
                <a:spcPts val="120"/>
              </a:spcAft>
            </a:pPr>
            <a:r>
              <a:rPr lang="en-US" altLang="zh-CN" sz="2400" kern="100" dirty="0">
                <a:effectLst/>
                <a:latin typeface="宋体" panose="02010600030101010101" pitchFamily="2" charset="-122"/>
                <a:ea typeface="等线" panose="02010600030101010101" pitchFamily="2" charset="-122"/>
                <a:cs typeface="Times New Roman" panose="02020603050405020304" pitchFamily="18" charset="0"/>
              </a:rPr>
              <a:t> </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spcBef>
                <a:spcPts val="120"/>
              </a:spcBef>
              <a:spcAft>
                <a:spcPts val="120"/>
              </a:spcAft>
            </a:pPr>
            <a:r>
              <a:rPr lang="en-US" altLang="zh-CN" sz="2400" b="1" kern="100" dirty="0">
                <a:effectLst/>
                <a:latin typeface="宋体" panose="02010600030101010101" pitchFamily="2" charset="-122"/>
                <a:ea typeface="等线" panose="02010600030101010101" pitchFamily="2" charset="-122"/>
                <a:cs typeface="Times New Roman" panose="02020603050405020304" pitchFamily="18" charset="0"/>
              </a:rPr>
              <a:t>Layer</a:t>
            </a:r>
            <a:r>
              <a:rPr lang="zh-CN" altLang="zh-CN" sz="2400" b="1"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类</a:t>
            </a:r>
            <a:r>
              <a:rPr lang="en-US" altLang="zh-CN" sz="2400" kern="100" dirty="0" err="1">
                <a:effectLst/>
                <a:latin typeface="等线" panose="02010600030101010101" pitchFamily="2" charset="-122"/>
                <a:ea typeface="宋体" panose="02010600030101010101" pitchFamily="2" charset="-122"/>
                <a:cs typeface="Times New Roman" panose="02020603050405020304" pitchFamily="18" charset="0"/>
              </a:rPr>
              <a:t>OGRLayer</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是一个抽象基类，表示数据源类</a:t>
            </a:r>
            <a:r>
              <a:rPr lang="en-US" altLang="zh-CN" sz="2400" kern="100" dirty="0" err="1">
                <a:effectLst/>
                <a:latin typeface="等线" panose="02010600030101010101" pitchFamily="2" charset="-122"/>
                <a:ea typeface="宋体" panose="02010600030101010101" pitchFamily="2" charset="-122"/>
                <a:cs typeface="Times New Roman" panose="02020603050405020304" pitchFamily="18" charset="0"/>
              </a:rPr>
              <a:t>OGRDataSource</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里面的一层要素</a:t>
            </a:r>
            <a:r>
              <a:rPr lang="en-US" altLang="zh-CN" sz="2400" kern="100" dirty="0">
                <a:effectLst/>
                <a:latin typeface="等线" panose="02010600030101010101" pitchFamily="2" charset="-122"/>
                <a:ea typeface="宋体" panose="02010600030101010101" pitchFamily="2" charset="-122"/>
                <a:cs typeface="Times New Roman" panose="02020603050405020304" pitchFamily="18" charset="0"/>
              </a:rPr>
              <a:t>(feature)</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spcBef>
                <a:spcPts val="120"/>
              </a:spcBef>
              <a:spcAft>
                <a:spcPts val="120"/>
              </a:spcAft>
            </a:pPr>
            <a:r>
              <a:rPr lang="en-US" altLang="zh-CN" sz="2400" kern="100" dirty="0">
                <a:effectLst/>
                <a:latin typeface="宋体" panose="02010600030101010101" pitchFamily="2" charset="-122"/>
                <a:ea typeface="等线" panose="02010600030101010101" pitchFamily="2" charset="-122"/>
                <a:cs typeface="Times New Roman" panose="02020603050405020304" pitchFamily="18" charset="0"/>
              </a:rPr>
              <a:t> </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spcBef>
                <a:spcPts val="120"/>
              </a:spcBef>
              <a:spcAft>
                <a:spcPts val="120"/>
              </a:spcAft>
            </a:pPr>
            <a:r>
              <a:rPr lang="en-US" altLang="zh-CN" sz="2400" b="1" kern="100" dirty="0">
                <a:effectLst/>
                <a:latin typeface="宋体" panose="02010600030101010101" pitchFamily="2" charset="-122"/>
                <a:ea typeface="等线" panose="02010600030101010101" pitchFamily="2" charset="-122"/>
                <a:cs typeface="Times New Roman" panose="02020603050405020304" pitchFamily="18" charset="0"/>
              </a:rPr>
              <a:t>Data Source</a:t>
            </a:r>
            <a:r>
              <a:rPr lang="zh-CN" altLang="zh-CN" sz="2400" b="1"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类</a:t>
            </a:r>
            <a:r>
              <a:rPr lang="en-US" altLang="zh-CN" sz="2400" kern="100" dirty="0" err="1">
                <a:effectLst/>
                <a:latin typeface="等线" panose="02010600030101010101" pitchFamily="2" charset="-122"/>
                <a:ea typeface="宋体" panose="02010600030101010101" pitchFamily="2" charset="-122"/>
                <a:cs typeface="Times New Roman" panose="02020603050405020304" pitchFamily="18" charset="0"/>
              </a:rPr>
              <a:t>OGRDataSource</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是一个抽象基类，表示含有</a:t>
            </a:r>
            <a:r>
              <a:rPr lang="en-US" altLang="zh-CN" sz="2400" kern="100" dirty="0" err="1">
                <a:effectLst/>
                <a:latin typeface="等线" panose="02010600030101010101" pitchFamily="2" charset="-122"/>
                <a:ea typeface="宋体" panose="02010600030101010101" pitchFamily="2" charset="-122"/>
                <a:cs typeface="Times New Roman" panose="02020603050405020304" pitchFamily="18" charset="0"/>
              </a:rPr>
              <a:t>OGRLayer</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对象的一个文件或一个数据库。</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spcBef>
                <a:spcPts val="120"/>
              </a:spcBef>
              <a:spcAft>
                <a:spcPts val="120"/>
              </a:spcAft>
            </a:pPr>
            <a:r>
              <a:rPr lang="en-US" altLang="zh-CN" sz="2400" kern="100" dirty="0">
                <a:effectLst/>
                <a:latin typeface="宋体" panose="02010600030101010101" pitchFamily="2" charset="-122"/>
                <a:ea typeface="等线" panose="02010600030101010101" pitchFamily="2" charset="-122"/>
                <a:cs typeface="Times New Roman" panose="02020603050405020304" pitchFamily="18" charset="0"/>
              </a:rPr>
              <a:t> </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spcBef>
                <a:spcPts val="120"/>
              </a:spcBef>
              <a:spcAft>
                <a:spcPts val="120"/>
              </a:spcAft>
            </a:pPr>
            <a:r>
              <a:rPr lang="en-US" altLang="zh-CN" sz="2400" b="1" kern="100" dirty="0">
                <a:effectLst/>
                <a:latin typeface="宋体" panose="02010600030101010101" pitchFamily="2" charset="-122"/>
                <a:ea typeface="等线" panose="02010600030101010101" pitchFamily="2" charset="-122"/>
                <a:cs typeface="Times New Roman" panose="02020603050405020304" pitchFamily="18" charset="0"/>
              </a:rPr>
              <a:t>Drivers</a:t>
            </a:r>
            <a:r>
              <a:rPr lang="zh-CN" altLang="zh-CN" sz="2400" b="1"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类</a:t>
            </a:r>
            <a:r>
              <a:rPr lang="en-US" altLang="zh-CN" sz="2400" kern="100" dirty="0" err="1">
                <a:effectLst/>
                <a:latin typeface="等线" panose="02010600030101010101" pitchFamily="2" charset="-122"/>
                <a:ea typeface="宋体" panose="02010600030101010101" pitchFamily="2" charset="-122"/>
                <a:cs typeface="Times New Roman" panose="02020603050405020304" pitchFamily="18" charset="0"/>
              </a:rPr>
              <a:t>OGRSFDriver</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对应于每一个所支持的矢量文件格式。类</a:t>
            </a:r>
            <a:r>
              <a:rPr lang="en-US" altLang="zh-CN" sz="2400" kern="100" dirty="0" err="1">
                <a:effectLst/>
                <a:latin typeface="等线" panose="02010600030101010101" pitchFamily="2" charset="-122"/>
                <a:ea typeface="宋体" panose="02010600030101010101" pitchFamily="2" charset="-122"/>
                <a:cs typeface="Times New Roman" panose="02020603050405020304" pitchFamily="18" charset="0"/>
              </a:rPr>
              <a:t>OGRSFDriver</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由类</a:t>
            </a:r>
            <a:r>
              <a:rPr lang="en-US" altLang="zh-CN" sz="2400" kern="100" dirty="0" err="1">
                <a:effectLst/>
                <a:latin typeface="等线" panose="02010600030101010101" pitchFamily="2" charset="-122"/>
                <a:ea typeface="宋体" panose="02010600030101010101" pitchFamily="2" charset="-122"/>
                <a:cs typeface="Times New Roman" panose="02020603050405020304" pitchFamily="18" charset="0"/>
              </a:rPr>
              <a:t>OGRSFDriverRegistrar</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来注册和管理。</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5302381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par>
                          <p:cTn id="13" fill="hold">
                            <p:stCondLst>
                              <p:cond delay="600"/>
                            </p:stCondLst>
                            <p:childTnLst>
                              <p:par>
                                <p:cTn id="14" presetID="53" presetClass="entr" presetSubtype="16"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5A5B6729-8EA1-406B-9546-72A4E8AA54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3882" y="3524648"/>
            <a:ext cx="7544237" cy="3333352"/>
          </a:xfrm>
          <a:prstGeom prst="rect">
            <a:avLst/>
          </a:prstGeom>
        </p:spPr>
      </p:pic>
      <p:pic>
        <p:nvPicPr>
          <p:cNvPr id="2" name="图片 1">
            <a:extLst>
              <a:ext uri="{FF2B5EF4-FFF2-40B4-BE49-F238E27FC236}">
                <a16:creationId xmlns:a16="http://schemas.microsoft.com/office/drawing/2014/main" id="{AB57C0F8-B204-4584-AB17-3A4B9892388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a:extLst>
              <a:ext uri="{FF2B5EF4-FFF2-40B4-BE49-F238E27FC236}">
                <a16:creationId xmlns:a16="http://schemas.microsoft.com/office/drawing/2014/main" id="{E85550B3-3070-4D72-8FA2-A190686442CB}"/>
              </a:ext>
            </a:extLst>
          </p:cNvPr>
          <p:cNvSpPr txBox="1"/>
          <p:nvPr/>
        </p:nvSpPr>
        <p:spPr>
          <a:xfrm>
            <a:off x="539983" y="440281"/>
            <a:ext cx="1959191" cy="523220"/>
          </a:xfrm>
          <a:prstGeom prst="rect">
            <a:avLst/>
          </a:prstGeom>
          <a:noFill/>
        </p:spPr>
        <p:txBody>
          <a:bodyPr wrap="none" rtlCol="0">
            <a:spAutoFit/>
          </a:bodyPr>
          <a:lstStyle/>
          <a:p>
            <a:r>
              <a:rPr lang="en-US" altLang="zh-CN" sz="2800" b="1" dirty="0">
                <a:latin typeface="宋体" panose="02010600030101010101" pitchFamily="2" charset="-122"/>
                <a:cs typeface="Times New Roman" panose="02020603050405020304" pitchFamily="18" charset="0"/>
              </a:rPr>
              <a:t>OGR</a:t>
            </a:r>
            <a:r>
              <a:rPr lang="zh-CN" altLang="en-US" sz="2400" dirty="0">
                <a:latin typeface="宋体" panose="02010600030101010101" pitchFamily="2" charset="-122"/>
                <a:cs typeface="Times New Roman" panose="02020603050405020304" pitchFamily="18" charset="0"/>
              </a:rPr>
              <a:t>常用函数</a:t>
            </a:r>
            <a:endParaRPr lang="zh-CN" altLang="en-US" sz="2800" dirty="0">
              <a:latin typeface="宋体"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F99CA49A-7771-4957-958B-DE4D2A66A849}"/>
              </a:ext>
            </a:extLst>
          </p:cNvPr>
          <p:cNvSpPr txBox="1"/>
          <p:nvPr/>
        </p:nvSpPr>
        <p:spPr>
          <a:xfrm>
            <a:off x="1372714" y="1854210"/>
            <a:ext cx="10235381" cy="4503797"/>
          </a:xfrm>
          <a:prstGeom prst="rect">
            <a:avLst/>
          </a:prstGeom>
          <a:noFill/>
        </p:spPr>
        <p:txBody>
          <a:bodyPr wrap="square" rtlCol="0">
            <a:spAutoFit/>
          </a:bodyPr>
          <a:lstStyle/>
          <a:p>
            <a:pPr indent="306070">
              <a:spcBef>
                <a:spcPts val="120"/>
              </a:spcBef>
              <a:spcAft>
                <a:spcPts val="120"/>
              </a:spcAft>
            </a:pPr>
            <a:r>
              <a:rPr lang="en-US" altLang="zh-CN" sz="2800" b="1" kern="100" dirty="0">
                <a:effectLst/>
                <a:latin typeface="宋体" panose="02010600030101010101" pitchFamily="2" charset="-122"/>
                <a:ea typeface="等线" panose="02010600030101010101" pitchFamily="2" charset="-122"/>
                <a:cs typeface="Times New Roman" panose="02020603050405020304" pitchFamily="18" charset="0"/>
              </a:rPr>
              <a:t>Geometry(</a:t>
            </a:r>
            <a:r>
              <a:rPr lang="en-US" altLang="zh-CN" sz="2800" b="1" kern="100" dirty="0" err="1">
                <a:effectLst/>
                <a:latin typeface="宋体" panose="02010600030101010101" pitchFamily="2" charset="-122"/>
                <a:ea typeface="等线" panose="02010600030101010101" pitchFamily="2" charset="-122"/>
                <a:cs typeface="Times New Roman" panose="02020603050405020304" pitchFamily="18" charset="0"/>
              </a:rPr>
              <a:t>ogr_geometry</a:t>
            </a:r>
            <a:r>
              <a:rPr lang="en-US" altLang="zh-CN" sz="2800" b="1" kern="100" dirty="0">
                <a:effectLst/>
                <a:latin typeface="宋体" panose="02010600030101010101" pitchFamily="2" charset="-122"/>
                <a:ea typeface="等线" panose="02010600030101010101" pitchFamily="2" charset="-122"/>
                <a:cs typeface="Times New Roman" panose="02020603050405020304" pitchFamily="18" charset="0"/>
              </a:rPr>
              <a:t>)</a:t>
            </a:r>
            <a:r>
              <a:rPr lang="zh-CN" altLang="zh-CN" sz="2800" b="1" kern="100" dirty="0">
                <a:effectLst/>
                <a:latin typeface="等线" panose="02010600030101010101" pitchFamily="2" charset="-122"/>
                <a:ea typeface="宋体" panose="02010600030101010101" pitchFamily="2" charset="-122"/>
                <a:cs typeface="Times New Roman" panose="02020603050405020304" pitchFamily="18" charset="0"/>
              </a:rPr>
              <a:t>几何对象</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：几何对象类（</a:t>
            </a:r>
            <a:r>
              <a:rPr lang="en-US" altLang="zh-CN" sz="2800" kern="100" dirty="0" err="1">
                <a:effectLst/>
                <a:latin typeface="等线" panose="02010600030101010101" pitchFamily="2" charset="-122"/>
                <a:ea typeface="宋体" panose="02010600030101010101" pitchFamily="2" charset="-122"/>
                <a:cs typeface="Times New Roman" panose="02020603050405020304" pitchFamily="18" charset="0"/>
              </a:rPr>
              <a:t>OGRGeometry</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等）封装了</a:t>
            </a:r>
            <a:r>
              <a:rPr lang="en-US" altLang="zh-CN" sz="2800" kern="100" dirty="0" err="1">
                <a:effectLst/>
                <a:latin typeface="等线" panose="02010600030101010101" pitchFamily="2" charset="-122"/>
                <a:ea typeface="宋体" panose="02010600030101010101" pitchFamily="2" charset="-122"/>
                <a:cs typeface="Times New Roman" panose="02020603050405020304" pitchFamily="18" charset="0"/>
              </a:rPr>
              <a:t>OpenGIS</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模型矢量数据以及一些几何操作，并且提供常用的二进制格式和文本格式之间的转换。一个几何对象包含一个空间参考（即投影）。</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04800">
              <a:spcBef>
                <a:spcPts val="120"/>
              </a:spcBef>
              <a:spcAft>
                <a:spcPts val="120"/>
              </a:spcAft>
            </a:pPr>
            <a:r>
              <a:rPr lang="en-US" altLang="zh-CN" sz="2800" kern="100" dirty="0">
                <a:effectLst/>
                <a:latin typeface="宋体" panose="02010600030101010101" pitchFamily="2" charset="-122"/>
                <a:ea typeface="等线" panose="02010600030101010101" pitchFamily="2" charset="-122"/>
                <a:cs typeface="Times New Roman" panose="02020603050405020304" pitchFamily="18" charset="0"/>
              </a:rPr>
              <a:t> </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06070">
              <a:spcBef>
                <a:spcPts val="120"/>
              </a:spcBef>
              <a:spcAft>
                <a:spcPts val="120"/>
              </a:spcAft>
            </a:pPr>
            <a:r>
              <a:rPr lang="en-US" altLang="zh-CN" sz="2800" b="1" kern="100" dirty="0">
                <a:effectLst/>
                <a:latin typeface="宋体" panose="02010600030101010101" pitchFamily="2" charset="-122"/>
                <a:ea typeface="等线" panose="02010600030101010101" pitchFamily="2" charset="-122"/>
                <a:cs typeface="Times New Roman" panose="02020603050405020304" pitchFamily="18" charset="0"/>
              </a:rPr>
              <a:t>Spatial Reference(</a:t>
            </a:r>
            <a:r>
              <a:rPr lang="en-US" altLang="zh-CN" sz="2800" b="1" kern="100" dirty="0" err="1">
                <a:effectLst/>
                <a:latin typeface="宋体" panose="02010600030101010101" pitchFamily="2" charset="-122"/>
                <a:ea typeface="等线" panose="02010600030101010101" pitchFamily="2" charset="-122"/>
                <a:cs typeface="Times New Roman" panose="02020603050405020304" pitchFamily="18" charset="0"/>
              </a:rPr>
              <a:t>ogr_specialref.h</a:t>
            </a:r>
            <a:r>
              <a:rPr lang="en-US" altLang="zh-CN" sz="2800" b="1" kern="100" dirty="0">
                <a:effectLst/>
                <a:latin typeface="宋体" panose="02010600030101010101" pitchFamily="2" charset="-122"/>
                <a:ea typeface="等线" panose="02010600030101010101" pitchFamily="2" charset="-122"/>
                <a:cs typeface="Times New Roman" panose="02020603050405020304" pitchFamily="18" charset="0"/>
              </a:rPr>
              <a:t>)</a:t>
            </a:r>
            <a:r>
              <a:rPr lang="zh-CN" altLang="zh-CN" sz="2800" b="1" kern="100" dirty="0">
                <a:effectLst/>
                <a:latin typeface="等线" panose="02010600030101010101" pitchFamily="2" charset="-122"/>
                <a:ea typeface="宋体" panose="02010600030101010101" pitchFamily="2" charset="-122"/>
                <a:cs typeface="Times New Roman" panose="02020603050405020304" pitchFamily="18" charset="0"/>
              </a:rPr>
              <a:t>空间参考</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：一个</a:t>
            </a:r>
            <a:r>
              <a:rPr lang="en-US" altLang="zh-CN" sz="2800" kern="100" dirty="0" err="1">
                <a:effectLst/>
                <a:latin typeface="等线" panose="02010600030101010101" pitchFamily="2" charset="-122"/>
                <a:ea typeface="宋体" panose="02010600030101010101" pitchFamily="2" charset="-122"/>
                <a:cs typeface="Times New Roman" panose="02020603050405020304" pitchFamily="18" charset="0"/>
              </a:rPr>
              <a:t>OGRSpatialReference</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对象定义了投影和水准面等信息。</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04800">
              <a:spcBef>
                <a:spcPts val="120"/>
              </a:spcBef>
              <a:spcAft>
                <a:spcPts val="120"/>
              </a:spcAft>
            </a:pPr>
            <a:r>
              <a:rPr lang="en-US" altLang="zh-CN" sz="2800" kern="100" dirty="0">
                <a:effectLst/>
                <a:latin typeface="宋体" panose="02010600030101010101" pitchFamily="2" charset="-122"/>
                <a:ea typeface="等线" panose="02010600030101010101" pitchFamily="2" charset="-122"/>
                <a:cs typeface="Times New Roman" panose="02020603050405020304" pitchFamily="18" charset="0"/>
              </a:rPr>
              <a:t> </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06070">
              <a:spcBef>
                <a:spcPts val="120"/>
              </a:spcBef>
              <a:spcAft>
                <a:spcPts val="120"/>
              </a:spcAft>
            </a:pPr>
            <a:r>
              <a:rPr lang="en-US" altLang="zh-CN" sz="2800" b="1" kern="100" dirty="0">
                <a:effectLst/>
                <a:latin typeface="宋体" panose="02010600030101010101" pitchFamily="2" charset="-122"/>
                <a:ea typeface="等线" panose="02010600030101010101" pitchFamily="2" charset="-122"/>
                <a:cs typeface="Times New Roman" panose="02020603050405020304" pitchFamily="18" charset="0"/>
              </a:rPr>
              <a:t>Feature(</a:t>
            </a:r>
            <a:r>
              <a:rPr lang="en-US" altLang="zh-CN" sz="2800" b="1" kern="100" dirty="0" err="1">
                <a:effectLst/>
                <a:latin typeface="宋体" panose="02010600030101010101" pitchFamily="2" charset="-122"/>
                <a:ea typeface="等线" panose="02010600030101010101" pitchFamily="2" charset="-122"/>
                <a:cs typeface="Times New Roman" panose="02020603050405020304" pitchFamily="18" charset="0"/>
              </a:rPr>
              <a:t>ogr_feature.h</a:t>
            </a:r>
            <a:r>
              <a:rPr lang="en-US" altLang="zh-CN" sz="2800" b="1" kern="100" dirty="0">
                <a:effectLst/>
                <a:latin typeface="宋体" panose="02010600030101010101" pitchFamily="2" charset="-122"/>
                <a:ea typeface="等线" panose="02010600030101010101" pitchFamily="2" charset="-122"/>
                <a:cs typeface="Times New Roman" panose="02020603050405020304" pitchFamily="18" charset="0"/>
              </a:rPr>
              <a:t>)</a:t>
            </a:r>
            <a:r>
              <a:rPr lang="zh-CN" altLang="zh-CN" sz="2800" b="1" kern="100" dirty="0">
                <a:effectLst/>
                <a:latin typeface="等线" panose="02010600030101010101" pitchFamily="2" charset="-122"/>
                <a:ea typeface="宋体" panose="02010600030101010101" pitchFamily="2" charset="-122"/>
                <a:cs typeface="Times New Roman" panose="02020603050405020304" pitchFamily="18" charset="0"/>
              </a:rPr>
              <a:t>要素</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2800" kern="100" dirty="0" err="1">
                <a:effectLst/>
                <a:latin typeface="等线" panose="02010600030101010101" pitchFamily="2" charset="-122"/>
                <a:ea typeface="宋体" panose="02010600030101010101" pitchFamily="2" charset="-122"/>
                <a:cs typeface="Times New Roman" panose="02020603050405020304" pitchFamily="18" charset="0"/>
              </a:rPr>
              <a:t>OGRFeture</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类里面定义了一个完整的要素，由一个几何对象和一系列属性组成。</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277458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par>
                          <p:cTn id="13" fill="hold">
                            <p:stCondLst>
                              <p:cond delay="600"/>
                            </p:stCondLst>
                            <p:childTnLst>
                              <p:par>
                                <p:cTn id="14" presetID="53" presetClass="entr" presetSubtype="16"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5A5B6729-8EA1-406B-9546-72A4E8AA54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3882" y="3524648"/>
            <a:ext cx="7544237" cy="3333352"/>
          </a:xfrm>
          <a:prstGeom prst="rect">
            <a:avLst/>
          </a:prstGeom>
        </p:spPr>
      </p:pic>
      <p:pic>
        <p:nvPicPr>
          <p:cNvPr id="2" name="图片 1">
            <a:extLst>
              <a:ext uri="{FF2B5EF4-FFF2-40B4-BE49-F238E27FC236}">
                <a16:creationId xmlns:a16="http://schemas.microsoft.com/office/drawing/2014/main" id="{AB57C0F8-B204-4584-AB17-3A4B9892388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a:extLst>
              <a:ext uri="{FF2B5EF4-FFF2-40B4-BE49-F238E27FC236}">
                <a16:creationId xmlns:a16="http://schemas.microsoft.com/office/drawing/2014/main" id="{E85550B3-3070-4D72-8FA2-A190686442CB}"/>
              </a:ext>
            </a:extLst>
          </p:cNvPr>
          <p:cNvSpPr txBox="1"/>
          <p:nvPr/>
        </p:nvSpPr>
        <p:spPr>
          <a:xfrm>
            <a:off x="539983" y="440281"/>
            <a:ext cx="1959191" cy="523220"/>
          </a:xfrm>
          <a:prstGeom prst="rect">
            <a:avLst/>
          </a:prstGeom>
          <a:noFill/>
        </p:spPr>
        <p:txBody>
          <a:bodyPr wrap="none" rtlCol="0">
            <a:spAutoFit/>
          </a:bodyPr>
          <a:lstStyle/>
          <a:p>
            <a:r>
              <a:rPr lang="en-US" altLang="zh-CN" sz="2800" b="1" dirty="0">
                <a:latin typeface="宋体" panose="02010600030101010101" pitchFamily="2" charset="-122"/>
                <a:cs typeface="Times New Roman" panose="02020603050405020304" pitchFamily="18" charset="0"/>
              </a:rPr>
              <a:t>OGR</a:t>
            </a:r>
            <a:r>
              <a:rPr lang="zh-CN" altLang="en-US" sz="2400" dirty="0">
                <a:latin typeface="宋体" panose="02010600030101010101" pitchFamily="2" charset="-122"/>
                <a:cs typeface="Times New Roman" panose="02020603050405020304" pitchFamily="18" charset="0"/>
              </a:rPr>
              <a:t>常用函数</a:t>
            </a:r>
            <a:endParaRPr lang="zh-CN" altLang="en-US" sz="2800" dirty="0">
              <a:latin typeface="宋体"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F99CA49A-7771-4957-958B-DE4D2A66A849}"/>
              </a:ext>
            </a:extLst>
          </p:cNvPr>
          <p:cNvSpPr txBox="1"/>
          <p:nvPr/>
        </p:nvSpPr>
        <p:spPr>
          <a:xfrm>
            <a:off x="1711926" y="963501"/>
            <a:ext cx="10235381" cy="5847755"/>
          </a:xfrm>
          <a:prstGeom prst="rect">
            <a:avLst/>
          </a:prstGeom>
          <a:noFill/>
        </p:spPr>
        <p:txBody>
          <a:bodyPr wrap="square" rtlCol="0">
            <a:spAutoFit/>
          </a:bodyPr>
          <a:lstStyle/>
          <a:p>
            <a:pPr indent="306070">
              <a:spcBef>
                <a:spcPts val="120"/>
              </a:spcBef>
              <a:spcAft>
                <a:spcPts val="120"/>
              </a:spcAft>
            </a:pPr>
            <a:r>
              <a:rPr lang="en-US" altLang="zh-CN" sz="2800" b="1" kern="100" dirty="0">
                <a:effectLst/>
                <a:latin typeface="宋体" panose="02010600030101010101" pitchFamily="2" charset="-122"/>
                <a:ea typeface="等线" panose="02010600030101010101" pitchFamily="2" charset="-122"/>
                <a:cs typeface="Times New Roman" panose="02020603050405020304" pitchFamily="18" charset="0"/>
              </a:rPr>
              <a:t>Feature Class Definition(</a:t>
            </a:r>
            <a:r>
              <a:rPr lang="en-US" altLang="zh-CN" sz="2800" b="1" kern="100" dirty="0" err="1">
                <a:effectLst/>
                <a:latin typeface="宋体" panose="02010600030101010101" pitchFamily="2" charset="-122"/>
                <a:ea typeface="等线" panose="02010600030101010101" pitchFamily="2" charset="-122"/>
                <a:cs typeface="Times New Roman" panose="02020603050405020304" pitchFamily="18" charset="0"/>
              </a:rPr>
              <a:t>ogr_feature.h</a:t>
            </a:r>
            <a:r>
              <a:rPr lang="en-US" altLang="zh-CN" sz="2800" b="1" kern="100" dirty="0">
                <a:effectLst/>
                <a:latin typeface="宋体" panose="02010600030101010101" pitchFamily="2" charset="-122"/>
                <a:ea typeface="等线" panose="02010600030101010101" pitchFamily="2" charset="-122"/>
                <a:cs typeface="Times New Roman" panose="02020603050405020304" pitchFamily="18" charset="0"/>
              </a:rPr>
              <a:t>)</a:t>
            </a:r>
            <a:r>
              <a:rPr lang="zh-CN" altLang="zh-CN" sz="2800" b="1" kern="100" dirty="0">
                <a:effectLst/>
                <a:latin typeface="等线" panose="02010600030101010101" pitchFamily="2" charset="-122"/>
                <a:ea typeface="宋体" panose="02010600030101010101" pitchFamily="2" charset="-122"/>
                <a:cs typeface="Times New Roman" panose="02020603050405020304" pitchFamily="18" charset="0"/>
              </a:rPr>
              <a:t>要素类定义</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2800" kern="100" dirty="0" err="1">
                <a:effectLst/>
                <a:latin typeface="等线" panose="02010600030101010101" pitchFamily="2" charset="-122"/>
                <a:ea typeface="宋体" panose="02010600030101010101" pitchFamily="2" charset="-122"/>
                <a:cs typeface="Times New Roman" panose="02020603050405020304" pitchFamily="18" charset="0"/>
              </a:rPr>
              <a:t>OGRFetureDefn</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类体现了一组相关要素的格式</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04800">
              <a:spcBef>
                <a:spcPts val="120"/>
              </a:spcBef>
              <a:spcAft>
                <a:spcPts val="120"/>
              </a:spcAft>
            </a:pPr>
            <a:r>
              <a:rPr lang="en-US" altLang="zh-CN" sz="2800" kern="100" dirty="0">
                <a:effectLst/>
                <a:latin typeface="宋体" panose="02010600030101010101" pitchFamily="2" charset="-122"/>
                <a:ea typeface="等线" panose="02010600030101010101" pitchFamily="2" charset="-122"/>
                <a:cs typeface="Times New Roman" panose="02020603050405020304" pitchFamily="18" charset="0"/>
              </a:rPr>
              <a:t> </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06070">
              <a:spcBef>
                <a:spcPts val="120"/>
              </a:spcBef>
              <a:spcAft>
                <a:spcPts val="120"/>
              </a:spcAft>
            </a:pPr>
            <a:r>
              <a:rPr lang="en-US" altLang="zh-CN" sz="2800" b="1" kern="100" dirty="0">
                <a:effectLst/>
                <a:latin typeface="宋体" panose="02010600030101010101" pitchFamily="2" charset="-122"/>
                <a:ea typeface="等线" panose="02010600030101010101" pitchFamily="2" charset="-122"/>
                <a:cs typeface="Times New Roman" panose="02020603050405020304" pitchFamily="18" charset="0"/>
              </a:rPr>
              <a:t>Layer(</a:t>
            </a:r>
            <a:r>
              <a:rPr lang="en-US" altLang="zh-CN" sz="2800" b="1" kern="100" dirty="0" err="1">
                <a:effectLst/>
                <a:latin typeface="宋体" panose="02010600030101010101" pitchFamily="2" charset="-122"/>
                <a:ea typeface="等线" panose="02010600030101010101" pitchFamily="2" charset="-122"/>
                <a:cs typeface="Times New Roman" panose="02020603050405020304" pitchFamily="18" charset="0"/>
              </a:rPr>
              <a:t>ogrsf_frmts.h</a:t>
            </a:r>
            <a:r>
              <a:rPr lang="en-US" altLang="zh-CN" sz="2800" b="1" kern="100" dirty="0">
                <a:effectLst/>
                <a:latin typeface="宋体" panose="02010600030101010101" pitchFamily="2" charset="-122"/>
                <a:ea typeface="等线" panose="02010600030101010101" pitchFamily="2" charset="-122"/>
                <a:cs typeface="Times New Roman" panose="02020603050405020304" pitchFamily="18" charset="0"/>
              </a:rPr>
              <a:t>)</a:t>
            </a:r>
            <a:r>
              <a:rPr lang="zh-CN" altLang="zh-CN" sz="2800" b="1" kern="100" dirty="0">
                <a:effectLst/>
                <a:latin typeface="等线" panose="02010600030101010101" pitchFamily="2" charset="-122"/>
                <a:ea typeface="宋体" panose="02010600030101010101" pitchFamily="2" charset="-122"/>
                <a:cs typeface="Times New Roman" panose="02020603050405020304" pitchFamily="18" charset="0"/>
              </a:rPr>
              <a:t>图层</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2800" kern="100" dirty="0" err="1">
                <a:effectLst/>
                <a:latin typeface="等线" panose="02010600030101010101" pitchFamily="2" charset="-122"/>
                <a:ea typeface="宋体" panose="02010600030101010101" pitchFamily="2" charset="-122"/>
                <a:cs typeface="Times New Roman" panose="02020603050405020304" pitchFamily="18" charset="0"/>
              </a:rPr>
              <a:t>OGRLayer</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是一个抽象基类，用来描述一个在</a:t>
            </a:r>
            <a:r>
              <a:rPr lang="en-US" altLang="zh-CN" sz="2800" kern="100" dirty="0" err="1">
                <a:effectLst/>
                <a:latin typeface="等线" panose="02010600030101010101" pitchFamily="2" charset="-122"/>
                <a:ea typeface="宋体" panose="02010600030101010101" pitchFamily="2" charset="-122"/>
                <a:cs typeface="Times New Roman" panose="02020603050405020304" pitchFamily="18" charset="0"/>
              </a:rPr>
              <a:t>OGRData</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 Source</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中的一个图层的所有要素</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04800">
              <a:spcBef>
                <a:spcPts val="120"/>
              </a:spcBef>
              <a:spcAft>
                <a:spcPts val="120"/>
              </a:spcAft>
            </a:pPr>
            <a:r>
              <a:rPr lang="en-US" altLang="zh-CN" sz="2800" kern="100" dirty="0">
                <a:effectLst/>
                <a:latin typeface="宋体" panose="02010600030101010101" pitchFamily="2" charset="-122"/>
                <a:ea typeface="等线" panose="02010600030101010101" pitchFamily="2" charset="-122"/>
                <a:cs typeface="Times New Roman" panose="02020603050405020304" pitchFamily="18" charset="0"/>
              </a:rPr>
              <a:t> </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06070">
              <a:spcBef>
                <a:spcPts val="120"/>
              </a:spcBef>
              <a:spcAft>
                <a:spcPts val="120"/>
              </a:spcAft>
            </a:pPr>
            <a:r>
              <a:rPr lang="en-US" altLang="zh-CN" sz="2800" b="1" kern="100" dirty="0" err="1">
                <a:effectLst/>
                <a:latin typeface="宋体" panose="02010600030101010101" pitchFamily="2" charset="-122"/>
                <a:ea typeface="等线" panose="02010600030101010101" pitchFamily="2" charset="-122"/>
                <a:cs typeface="Times New Roman" panose="02020603050405020304" pitchFamily="18" charset="0"/>
              </a:rPr>
              <a:t>DataSource</a:t>
            </a:r>
            <a:r>
              <a:rPr lang="en-US" altLang="zh-CN" sz="2800" b="1"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2800" b="1" kern="100" dirty="0" err="1">
                <a:effectLst/>
                <a:latin typeface="宋体" panose="02010600030101010101" pitchFamily="2" charset="-122"/>
                <a:ea typeface="等线" panose="02010600030101010101" pitchFamily="2" charset="-122"/>
                <a:cs typeface="Times New Roman" panose="02020603050405020304" pitchFamily="18" charset="0"/>
              </a:rPr>
              <a:t>ogrsf_frmts.h</a:t>
            </a:r>
            <a:r>
              <a:rPr lang="en-US" altLang="zh-CN" sz="2800" b="1" kern="100" dirty="0">
                <a:effectLst/>
                <a:latin typeface="宋体" panose="02010600030101010101" pitchFamily="2" charset="-122"/>
                <a:ea typeface="等线" panose="02010600030101010101" pitchFamily="2" charset="-122"/>
                <a:cs typeface="Times New Roman" panose="02020603050405020304" pitchFamily="18" charset="0"/>
              </a:rPr>
              <a:t>)</a:t>
            </a:r>
            <a:r>
              <a:rPr lang="zh-CN" altLang="zh-CN" sz="2800" b="1" kern="100" dirty="0">
                <a:effectLst/>
                <a:latin typeface="等线" panose="02010600030101010101" pitchFamily="2" charset="-122"/>
                <a:ea typeface="宋体" panose="02010600030101010101" pitchFamily="2" charset="-122"/>
                <a:cs typeface="Times New Roman" panose="02020603050405020304" pitchFamily="18" charset="0"/>
              </a:rPr>
              <a:t>数据源</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2800" kern="100" dirty="0" err="1">
                <a:effectLst/>
                <a:latin typeface="等线" panose="02010600030101010101" pitchFamily="2" charset="-122"/>
                <a:ea typeface="宋体" panose="02010600030101010101" pitchFamily="2" charset="-122"/>
                <a:cs typeface="Times New Roman" panose="02020603050405020304" pitchFamily="18" charset="0"/>
              </a:rPr>
              <a:t>OGRDataSource</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是一个抽象基类，用于表现一个文件或数据库，里面包含一个或多个</a:t>
            </a:r>
            <a:r>
              <a:rPr lang="en-US" altLang="zh-CN" sz="2800" kern="100" dirty="0" err="1">
                <a:effectLst/>
                <a:latin typeface="等线" panose="02010600030101010101" pitchFamily="2" charset="-122"/>
                <a:ea typeface="宋体" panose="02010600030101010101" pitchFamily="2" charset="-122"/>
                <a:cs typeface="Times New Roman" panose="02020603050405020304" pitchFamily="18" charset="0"/>
              </a:rPr>
              <a:t>OGRLayer</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对象</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04800">
              <a:spcBef>
                <a:spcPts val="120"/>
              </a:spcBef>
              <a:spcAft>
                <a:spcPts val="120"/>
              </a:spcAft>
            </a:pPr>
            <a:r>
              <a:rPr lang="en-US" altLang="zh-CN" sz="2800" kern="100" dirty="0">
                <a:effectLst/>
                <a:latin typeface="宋体" panose="02010600030101010101" pitchFamily="2" charset="-122"/>
                <a:ea typeface="等线" panose="02010600030101010101" pitchFamily="2" charset="-122"/>
                <a:cs typeface="Times New Roman" panose="02020603050405020304" pitchFamily="18" charset="0"/>
              </a:rPr>
              <a:t> </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06070">
              <a:spcBef>
                <a:spcPts val="120"/>
              </a:spcBef>
              <a:spcAft>
                <a:spcPts val="120"/>
              </a:spcAft>
            </a:pPr>
            <a:r>
              <a:rPr lang="en-US" altLang="zh-CN" sz="2800" b="1" kern="100" dirty="0">
                <a:effectLst/>
                <a:latin typeface="宋体" panose="02010600030101010101" pitchFamily="2" charset="-122"/>
                <a:ea typeface="等线" panose="02010600030101010101" pitchFamily="2" charset="-122"/>
                <a:cs typeface="Times New Roman" panose="02020603050405020304" pitchFamily="18" charset="0"/>
              </a:rPr>
              <a:t>Drivers(</a:t>
            </a:r>
            <a:r>
              <a:rPr lang="en-US" altLang="zh-CN" sz="2800" b="1" kern="100" dirty="0" err="1">
                <a:effectLst/>
                <a:latin typeface="宋体" panose="02010600030101010101" pitchFamily="2" charset="-122"/>
                <a:ea typeface="等线" panose="02010600030101010101" pitchFamily="2" charset="-122"/>
                <a:cs typeface="Times New Roman" panose="02020603050405020304" pitchFamily="18" charset="0"/>
              </a:rPr>
              <a:t>ogrs_frmts.h</a:t>
            </a:r>
            <a:r>
              <a:rPr lang="en-US" altLang="zh-CN" sz="2800" b="1" kern="100" dirty="0">
                <a:effectLst/>
                <a:latin typeface="宋体" panose="02010600030101010101" pitchFamily="2" charset="-122"/>
                <a:ea typeface="等线" panose="02010600030101010101" pitchFamily="2" charset="-122"/>
                <a:cs typeface="Times New Roman" panose="02020603050405020304" pitchFamily="18" charset="0"/>
              </a:rPr>
              <a:t>)</a:t>
            </a:r>
            <a:r>
              <a:rPr lang="zh-CN" altLang="zh-CN" sz="2800" b="1" kern="100" dirty="0">
                <a:effectLst/>
                <a:latin typeface="等线" panose="02010600030101010101" pitchFamily="2" charset="-122"/>
                <a:ea typeface="宋体" panose="02010600030101010101" pitchFamily="2" charset="-122"/>
                <a:cs typeface="Times New Roman" panose="02020603050405020304" pitchFamily="18" charset="0"/>
              </a:rPr>
              <a:t>驱动</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2800" kern="100" dirty="0" err="1">
                <a:effectLst/>
                <a:latin typeface="等线" panose="02010600030101010101" pitchFamily="2" charset="-122"/>
                <a:ea typeface="宋体" panose="02010600030101010101" pitchFamily="2" charset="-122"/>
                <a:cs typeface="Times New Roman" panose="02020603050405020304" pitchFamily="18" charset="0"/>
              </a:rPr>
              <a:t>OGRSFDriver</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表示一个指定格式的转换器，打开文件返回一个</a:t>
            </a:r>
            <a:r>
              <a:rPr lang="en-US" altLang="zh-CN" sz="2800" kern="100" dirty="0" err="1">
                <a:effectLst/>
                <a:latin typeface="等线" panose="02010600030101010101" pitchFamily="2" charset="-122"/>
                <a:ea typeface="宋体" panose="02010600030101010101" pitchFamily="2" charset="-122"/>
                <a:cs typeface="Times New Roman" panose="02020603050405020304" pitchFamily="18" charset="0"/>
              </a:rPr>
              <a:t>OGRDataSource</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对象，所有支持的驱动使用</a:t>
            </a:r>
            <a:r>
              <a:rPr lang="en-US" altLang="zh-CN" sz="2800" kern="100" dirty="0" err="1">
                <a:effectLst/>
                <a:latin typeface="等线" panose="02010600030101010101" pitchFamily="2" charset="-122"/>
                <a:ea typeface="宋体" panose="02010600030101010101" pitchFamily="2" charset="-122"/>
                <a:cs typeface="Times New Roman" panose="02020603050405020304" pitchFamily="18" charset="0"/>
              </a:rPr>
              <a:t>OGRSFDriverRegistrar</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来进行管理。</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8029659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par>
                          <p:cTn id="13" fill="hold">
                            <p:stCondLst>
                              <p:cond delay="600"/>
                            </p:stCondLst>
                            <p:childTnLst>
                              <p:par>
                                <p:cTn id="14" presetID="53" presetClass="entr" presetSubtype="16"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5A5B6729-8EA1-406B-9546-72A4E8AA54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3882" y="3524648"/>
            <a:ext cx="7544237" cy="3333352"/>
          </a:xfrm>
          <a:prstGeom prst="rect">
            <a:avLst/>
          </a:prstGeom>
        </p:spPr>
      </p:pic>
      <p:pic>
        <p:nvPicPr>
          <p:cNvPr id="2" name="图片 1">
            <a:extLst>
              <a:ext uri="{FF2B5EF4-FFF2-40B4-BE49-F238E27FC236}">
                <a16:creationId xmlns:a16="http://schemas.microsoft.com/office/drawing/2014/main" id="{AB57C0F8-B204-4584-AB17-3A4B9892388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a:extLst>
              <a:ext uri="{FF2B5EF4-FFF2-40B4-BE49-F238E27FC236}">
                <a16:creationId xmlns:a16="http://schemas.microsoft.com/office/drawing/2014/main" id="{E85550B3-3070-4D72-8FA2-A190686442CB}"/>
              </a:ext>
            </a:extLst>
          </p:cNvPr>
          <p:cNvSpPr txBox="1"/>
          <p:nvPr/>
        </p:nvSpPr>
        <p:spPr>
          <a:xfrm>
            <a:off x="539983" y="440281"/>
            <a:ext cx="1415772" cy="461665"/>
          </a:xfrm>
          <a:prstGeom prst="rect">
            <a:avLst/>
          </a:prstGeom>
          <a:noFill/>
        </p:spPr>
        <p:txBody>
          <a:bodyPr wrap="none" rtlCol="0">
            <a:spAutoFit/>
          </a:bodyPr>
          <a:lstStyle/>
          <a:p>
            <a:pPr defTabSz="121902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学习目标</a:t>
            </a:r>
            <a:endParaRPr lang="zh-CN" altLang="en-US" sz="2400" dirty="0">
              <a:solidFill>
                <a:srgbClr val="FF0000"/>
              </a:solidFill>
              <a:latin typeface="方正黑体简体" panose="02010601030101010101" pitchFamily="2" charset="-122"/>
              <a:ea typeface="方正黑体简体" panose="02010601030101010101" pitchFamily="2" charset="-122"/>
              <a:cs typeface="+mn-ea"/>
              <a:sym typeface="+mn-lt"/>
            </a:endParaRPr>
          </a:p>
        </p:txBody>
      </p:sp>
      <p:sp>
        <p:nvSpPr>
          <p:cNvPr id="18" name="TextBox 7">
            <a:extLst>
              <a:ext uri="{FF2B5EF4-FFF2-40B4-BE49-F238E27FC236}">
                <a16:creationId xmlns:a16="http://schemas.microsoft.com/office/drawing/2014/main" id="{8DE6CD62-A5CF-42EF-B6BB-0447C20B7252}"/>
              </a:ext>
            </a:extLst>
          </p:cNvPr>
          <p:cNvSpPr txBox="1"/>
          <p:nvPr/>
        </p:nvSpPr>
        <p:spPr>
          <a:xfrm>
            <a:off x="1095868" y="3781177"/>
            <a:ext cx="2129610" cy="418191"/>
          </a:xfrm>
          <a:prstGeom prst="rect">
            <a:avLst/>
          </a:prstGeom>
          <a:noFill/>
        </p:spPr>
        <p:txBody>
          <a:bodyPr wrap="square" rtlCol="0">
            <a:spAutoFit/>
          </a:bodyPr>
          <a:lstStyle/>
          <a:p>
            <a:pPr algn="ctr" defTabSz="1219020">
              <a:lnSpc>
                <a:spcPct val="150000"/>
              </a:lnSpc>
            </a:pPr>
            <a:r>
              <a:rPr lang="zh-CN" altLang="en-US" sz="1600" b="1" dirty="0">
                <a:latin typeface="方正黑体简体" panose="02010601030101010101" pitchFamily="2" charset="-122"/>
                <a:ea typeface="方正黑体简体" panose="02010601030101010101" pitchFamily="2" charset="-122"/>
                <a:cs typeface="+mn-ea"/>
                <a:sym typeface="+mn-lt"/>
              </a:rPr>
              <a:t>实现常用的影像读取</a:t>
            </a:r>
            <a:endParaRPr lang="en-US" altLang="zh-CN" sz="1600" b="1" dirty="0">
              <a:latin typeface="方正黑体简体" panose="02010601030101010101" pitchFamily="2" charset="-122"/>
              <a:ea typeface="方正黑体简体" panose="02010601030101010101" pitchFamily="2" charset="-122"/>
              <a:cs typeface="+mn-ea"/>
              <a:sym typeface="+mn-lt"/>
            </a:endParaRPr>
          </a:p>
        </p:txBody>
      </p:sp>
      <p:sp>
        <p:nvSpPr>
          <p:cNvPr id="19" name="文本框 18">
            <a:extLst>
              <a:ext uri="{FF2B5EF4-FFF2-40B4-BE49-F238E27FC236}">
                <a16:creationId xmlns:a16="http://schemas.microsoft.com/office/drawing/2014/main" id="{503E0C68-DA60-417A-94AF-3E2A39D1D51A}"/>
              </a:ext>
            </a:extLst>
          </p:cNvPr>
          <p:cNvSpPr txBox="1"/>
          <p:nvPr/>
        </p:nvSpPr>
        <p:spPr>
          <a:xfrm>
            <a:off x="984641" y="4493421"/>
            <a:ext cx="2492473" cy="1346907"/>
          </a:xfrm>
          <a:prstGeom prst="rect">
            <a:avLst/>
          </a:prstGeom>
          <a:noFill/>
        </p:spPr>
        <p:txBody>
          <a:bodyPr wrap="square" rtlCol="0">
            <a:spAutoFit/>
          </a:bodyPr>
          <a:lstStyle/>
          <a:p>
            <a:pPr marL="171450" indent="-171450" defTabSz="1219020">
              <a:lnSpc>
                <a:spcPct val="150000"/>
              </a:lnSpc>
              <a:buFont typeface="Wingdings" panose="05000000000000000000" pitchFamily="2" charset="2"/>
              <a:buChar char="l"/>
            </a:pPr>
            <a:r>
              <a:rPr lang="en-US" altLang="zh-CN"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GDAL</a:t>
            </a: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数据集、常用类</a:t>
            </a:r>
            <a:endParaRPr lang="en-US" altLang="zh-CN"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a:p>
            <a:pPr marL="171450" indent="-171450" defTabSz="1219020">
              <a:lnSpc>
                <a:spcPct val="150000"/>
              </a:lnSpc>
              <a:buFont typeface="Wingdings" panose="05000000000000000000" pitchFamily="2" charset="2"/>
              <a:buChar char="l"/>
            </a:pP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注册文件格式</a:t>
            </a:r>
            <a:endParaRPr lang="en-US" altLang="zh-CN"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a:p>
            <a:pPr marL="171450" indent="-171450" defTabSz="1219020">
              <a:lnSpc>
                <a:spcPct val="150000"/>
              </a:lnSpc>
              <a:buFont typeface="Wingdings" panose="05000000000000000000" pitchFamily="2" charset="2"/>
              <a:buChar char="l"/>
            </a:pP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图像的格式、大小、波段等</a:t>
            </a:r>
            <a:endParaRPr lang="en-US" altLang="zh-CN"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a:p>
            <a:pPr marL="171450" indent="-171450" defTabSz="1219020">
              <a:lnSpc>
                <a:spcPct val="150000"/>
              </a:lnSpc>
              <a:buFont typeface="Wingdings" panose="05000000000000000000" pitchFamily="2" charset="2"/>
              <a:buChar char="l"/>
            </a:pP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颜色表、图像统计信息</a:t>
            </a:r>
          </a:p>
        </p:txBody>
      </p:sp>
      <p:pic>
        <p:nvPicPr>
          <p:cNvPr id="10" name="图片 9">
            <a:extLst>
              <a:ext uri="{FF2B5EF4-FFF2-40B4-BE49-F238E27FC236}">
                <a16:creationId xmlns:a16="http://schemas.microsoft.com/office/drawing/2014/main" id="{5C227AC2-42CD-4F54-BBD1-B211655F4FE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56374" y="1464121"/>
            <a:ext cx="1519172" cy="1759041"/>
          </a:xfrm>
          <a:prstGeom prst="rect">
            <a:avLst/>
          </a:prstGeom>
        </p:spPr>
      </p:pic>
      <p:pic>
        <p:nvPicPr>
          <p:cNvPr id="13" name="图片 12">
            <a:extLst>
              <a:ext uri="{FF2B5EF4-FFF2-40B4-BE49-F238E27FC236}">
                <a16:creationId xmlns:a16="http://schemas.microsoft.com/office/drawing/2014/main" id="{FCC1E2F4-EE60-4BE3-ACED-1B1CCD99B74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48619" y="1464121"/>
            <a:ext cx="1519172" cy="1759041"/>
          </a:xfrm>
          <a:prstGeom prst="rect">
            <a:avLst/>
          </a:prstGeom>
        </p:spPr>
      </p:pic>
      <p:pic>
        <p:nvPicPr>
          <p:cNvPr id="15" name="图片 14">
            <a:extLst>
              <a:ext uri="{FF2B5EF4-FFF2-40B4-BE49-F238E27FC236}">
                <a16:creationId xmlns:a16="http://schemas.microsoft.com/office/drawing/2014/main" id="{53EF9BEA-0115-4A48-B51A-07A45C448EA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40863" y="1464121"/>
            <a:ext cx="1519172" cy="1759041"/>
          </a:xfrm>
          <a:prstGeom prst="rect">
            <a:avLst/>
          </a:prstGeom>
        </p:spPr>
      </p:pic>
      <p:pic>
        <p:nvPicPr>
          <p:cNvPr id="17" name="图片 16">
            <a:extLst>
              <a:ext uri="{FF2B5EF4-FFF2-40B4-BE49-F238E27FC236}">
                <a16:creationId xmlns:a16="http://schemas.microsoft.com/office/drawing/2014/main" id="{7F48261D-3BF6-4A7B-8F67-11BB859927A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333107" y="1464121"/>
            <a:ext cx="1519172" cy="1759041"/>
          </a:xfrm>
          <a:prstGeom prst="rect">
            <a:avLst/>
          </a:prstGeom>
        </p:spPr>
      </p:pic>
      <p:sp>
        <p:nvSpPr>
          <p:cNvPr id="20" name="TextBox 7">
            <a:extLst>
              <a:ext uri="{FF2B5EF4-FFF2-40B4-BE49-F238E27FC236}">
                <a16:creationId xmlns:a16="http://schemas.microsoft.com/office/drawing/2014/main" id="{36BE5547-344D-4A67-B6FE-98541170A012}"/>
              </a:ext>
            </a:extLst>
          </p:cNvPr>
          <p:cNvSpPr txBox="1"/>
          <p:nvPr/>
        </p:nvSpPr>
        <p:spPr>
          <a:xfrm>
            <a:off x="6585093" y="3781177"/>
            <a:ext cx="1850834" cy="418191"/>
          </a:xfrm>
          <a:prstGeom prst="rect">
            <a:avLst/>
          </a:prstGeom>
          <a:noFill/>
        </p:spPr>
        <p:txBody>
          <a:bodyPr wrap="square" rtlCol="0">
            <a:spAutoFit/>
          </a:bodyPr>
          <a:lstStyle/>
          <a:p>
            <a:pPr algn="ctr" defTabSz="1219020">
              <a:lnSpc>
                <a:spcPct val="150000"/>
              </a:lnSpc>
            </a:pPr>
            <a:r>
              <a:rPr lang="zh-CN" altLang="en-US" sz="1600" b="1" dirty="0">
                <a:latin typeface="方正黑体简体" panose="02010601030101010101" pitchFamily="2" charset="-122"/>
                <a:ea typeface="方正黑体简体" panose="02010601030101010101" pitchFamily="2" charset="-122"/>
                <a:cs typeface="+mn-ea"/>
                <a:sym typeface="+mn-lt"/>
              </a:rPr>
              <a:t>分块读写</a:t>
            </a:r>
            <a:r>
              <a:rPr lang="zh-CN" altLang="en-US" sz="1600" b="1" dirty="0">
                <a:solidFill>
                  <a:srgbClr val="FF0000"/>
                </a:solidFill>
                <a:latin typeface="方正黑体简体" panose="02010601030101010101" pitchFamily="2" charset="-122"/>
                <a:ea typeface="方正黑体简体" panose="02010601030101010101" pitchFamily="2" charset="-122"/>
                <a:cs typeface="+mn-ea"/>
                <a:sym typeface="+mn-lt"/>
              </a:rPr>
              <a:t>（重点）</a:t>
            </a:r>
            <a:endParaRPr lang="en-US" altLang="zh-CN" sz="1600" b="1" dirty="0">
              <a:solidFill>
                <a:srgbClr val="FF0000"/>
              </a:solidFill>
              <a:latin typeface="方正黑体简体" panose="02010601030101010101" pitchFamily="2" charset="-122"/>
              <a:ea typeface="方正黑体简体" panose="02010601030101010101" pitchFamily="2" charset="-122"/>
              <a:cs typeface="+mn-ea"/>
              <a:sym typeface="+mn-lt"/>
            </a:endParaRPr>
          </a:p>
        </p:txBody>
      </p:sp>
      <p:sp>
        <p:nvSpPr>
          <p:cNvPr id="22" name="TextBox 7">
            <a:extLst>
              <a:ext uri="{FF2B5EF4-FFF2-40B4-BE49-F238E27FC236}">
                <a16:creationId xmlns:a16="http://schemas.microsoft.com/office/drawing/2014/main" id="{39FB6126-6793-438B-BEC0-37DB28035232}"/>
              </a:ext>
            </a:extLst>
          </p:cNvPr>
          <p:cNvSpPr txBox="1"/>
          <p:nvPr/>
        </p:nvSpPr>
        <p:spPr>
          <a:xfrm>
            <a:off x="3881868" y="3764099"/>
            <a:ext cx="1751267" cy="418191"/>
          </a:xfrm>
          <a:prstGeom prst="rect">
            <a:avLst/>
          </a:prstGeom>
          <a:noFill/>
        </p:spPr>
        <p:txBody>
          <a:bodyPr wrap="square" rtlCol="0">
            <a:spAutoFit/>
          </a:bodyPr>
          <a:lstStyle/>
          <a:p>
            <a:pPr algn="ctr" defTabSz="1219020">
              <a:lnSpc>
                <a:spcPct val="150000"/>
              </a:lnSpc>
            </a:pPr>
            <a:r>
              <a:rPr lang="zh-CN" altLang="en-US" sz="1600" b="1" dirty="0">
                <a:latin typeface="方正黑体简体" panose="02010601030101010101" pitchFamily="2" charset="-122"/>
                <a:ea typeface="方正黑体简体" panose="02010601030101010101" pitchFamily="2" charset="-122"/>
                <a:cs typeface="+mn-ea"/>
                <a:sym typeface="+mn-lt"/>
              </a:rPr>
              <a:t>格式转换</a:t>
            </a:r>
            <a:endParaRPr lang="en-US" altLang="zh-CN" sz="1600" b="1" dirty="0">
              <a:solidFill>
                <a:srgbClr val="FF0000"/>
              </a:solidFill>
              <a:latin typeface="方正黑体简体" panose="02010601030101010101" pitchFamily="2" charset="-122"/>
              <a:ea typeface="方正黑体简体" panose="02010601030101010101" pitchFamily="2" charset="-122"/>
              <a:cs typeface="+mn-ea"/>
              <a:sym typeface="+mn-lt"/>
            </a:endParaRPr>
          </a:p>
        </p:txBody>
      </p:sp>
      <p:sp>
        <p:nvSpPr>
          <p:cNvPr id="23" name="文本框 22">
            <a:extLst>
              <a:ext uri="{FF2B5EF4-FFF2-40B4-BE49-F238E27FC236}">
                <a16:creationId xmlns:a16="http://schemas.microsoft.com/office/drawing/2014/main" id="{7D5B2C49-26C5-446C-B406-94A2CA3D8AB8}"/>
              </a:ext>
            </a:extLst>
          </p:cNvPr>
          <p:cNvSpPr txBox="1"/>
          <p:nvPr/>
        </p:nvSpPr>
        <p:spPr>
          <a:xfrm>
            <a:off x="3907831" y="4495119"/>
            <a:ext cx="2187167" cy="1993238"/>
          </a:xfrm>
          <a:prstGeom prst="rect">
            <a:avLst/>
          </a:prstGeom>
          <a:noFill/>
        </p:spPr>
        <p:txBody>
          <a:bodyPr wrap="square" rtlCol="0">
            <a:spAutoFit/>
          </a:bodyPr>
          <a:lstStyle/>
          <a:p>
            <a:pPr marL="171450" indent="-171450" defTabSz="1219020">
              <a:lnSpc>
                <a:spcPct val="150000"/>
              </a:lnSpc>
              <a:buFont typeface="Wingdings" panose="05000000000000000000" pitchFamily="2" charset="2"/>
              <a:buChar char="l"/>
            </a:pPr>
            <a:r>
              <a:rPr lang="en-US" altLang="zh-CN" sz="1400" dirty="0" err="1">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GeoTIFF</a:t>
            </a: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格式</a:t>
            </a:r>
          </a:p>
          <a:p>
            <a:pPr marL="171450" indent="-171450" defTabSz="1219020">
              <a:lnSpc>
                <a:spcPct val="150000"/>
              </a:lnSpc>
              <a:buFont typeface="Wingdings" panose="05000000000000000000" pitchFamily="2" charset="2"/>
              <a:buChar char="l"/>
            </a:pPr>
            <a:r>
              <a:rPr lang="en-US" altLang="zh-CN"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JPEG</a:t>
            </a: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a:t>
            </a:r>
            <a:r>
              <a:rPr lang="en-US" altLang="zh-CN"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PNG</a:t>
            </a: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图像使用</a:t>
            </a:r>
          </a:p>
          <a:p>
            <a:pPr marL="171450" indent="-171450" defTabSz="1219020">
              <a:lnSpc>
                <a:spcPct val="150000"/>
              </a:lnSpc>
              <a:buFont typeface="Wingdings" panose="05000000000000000000" pitchFamily="2" charset="2"/>
              <a:buChar char="l"/>
            </a:pPr>
            <a:r>
              <a:rPr lang="en-US" altLang="zh-CN"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MEM</a:t>
            </a: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文件使用说明</a:t>
            </a:r>
            <a:endParaRPr lang="en-US" altLang="zh-CN"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a:p>
            <a:pPr marL="171450" indent="-171450" defTabSz="1219020">
              <a:lnSpc>
                <a:spcPct val="150000"/>
              </a:lnSpc>
              <a:buFont typeface="Wingdings" panose="05000000000000000000" pitchFamily="2" charset="2"/>
              <a:buChar char="l"/>
            </a:pP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利用创建</a:t>
            </a:r>
            <a:r>
              <a:rPr lang="en-US" altLang="zh-CN" sz="1400" dirty="0" err="1">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RastIO</a:t>
            </a:r>
            <a:r>
              <a:rPr lang="en-US" altLang="zh-CN"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 )</a:t>
            </a: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函数</a:t>
            </a:r>
            <a:endParaRPr lang="en-US" altLang="zh-CN"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a:p>
            <a:pPr marL="171450" indent="-171450" defTabSz="1219020">
              <a:lnSpc>
                <a:spcPct val="150000"/>
              </a:lnSpc>
              <a:buFont typeface="Wingdings" panose="05000000000000000000" pitchFamily="2" charset="2"/>
              <a:buChar char="l"/>
            </a:pPr>
            <a:r>
              <a:rPr lang="en-US" altLang="zh-CN"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TIFF</a:t>
            </a: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转为</a:t>
            </a:r>
            <a:r>
              <a:rPr lang="en-US" altLang="zh-CN" sz="1400" dirty="0" err="1">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jepg</a:t>
            </a: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浏览图</a:t>
            </a:r>
            <a:endParaRPr lang="en-US" altLang="zh-CN"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a:p>
            <a:pPr defTabSz="1219020">
              <a:lnSpc>
                <a:spcPct val="150000"/>
              </a:lnSpc>
            </a:pPr>
            <a:endPar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p:txBody>
      </p:sp>
      <p:sp>
        <p:nvSpPr>
          <p:cNvPr id="24" name="TextBox 7">
            <a:extLst>
              <a:ext uri="{FF2B5EF4-FFF2-40B4-BE49-F238E27FC236}">
                <a16:creationId xmlns:a16="http://schemas.microsoft.com/office/drawing/2014/main" id="{9F5FA957-C045-4389-AC56-CD29F60E10CB}"/>
              </a:ext>
            </a:extLst>
          </p:cNvPr>
          <p:cNvSpPr txBox="1"/>
          <p:nvPr/>
        </p:nvSpPr>
        <p:spPr>
          <a:xfrm>
            <a:off x="9283035" y="3764099"/>
            <a:ext cx="1969143" cy="418191"/>
          </a:xfrm>
          <a:prstGeom prst="rect">
            <a:avLst/>
          </a:prstGeom>
          <a:noFill/>
        </p:spPr>
        <p:txBody>
          <a:bodyPr wrap="square" rtlCol="0">
            <a:spAutoFit/>
          </a:bodyPr>
          <a:lstStyle/>
          <a:p>
            <a:pPr algn="ctr" defTabSz="1219020">
              <a:lnSpc>
                <a:spcPct val="150000"/>
              </a:lnSpc>
            </a:pPr>
            <a:r>
              <a:rPr lang="zh-CN" altLang="en-US" sz="1600" b="1" dirty="0">
                <a:solidFill>
                  <a:srgbClr val="4F4D50"/>
                </a:solidFill>
                <a:latin typeface="方正黑体简体" panose="02010601030101010101" pitchFamily="2" charset="-122"/>
                <a:ea typeface="方正黑体简体" panose="02010601030101010101" pitchFamily="2" charset="-122"/>
                <a:cs typeface="+mn-ea"/>
                <a:sym typeface="+mn-lt"/>
              </a:rPr>
              <a:t>其他算法学习 </a:t>
            </a:r>
            <a:r>
              <a:rPr lang="en-US" altLang="zh-CN" sz="1600" b="1" dirty="0">
                <a:solidFill>
                  <a:srgbClr val="4F4D50"/>
                </a:solidFill>
                <a:latin typeface="方正黑体简体" panose="02010601030101010101" pitchFamily="2" charset="-122"/>
                <a:ea typeface="方正黑体简体" panose="02010601030101010101" pitchFamily="2" charset="-122"/>
                <a:cs typeface="+mn-ea"/>
                <a:sym typeface="+mn-lt"/>
              </a:rPr>
              <a:t>(</a:t>
            </a:r>
            <a:r>
              <a:rPr lang="zh-CN" altLang="en-US" sz="1600" b="1" dirty="0">
                <a:solidFill>
                  <a:srgbClr val="FF0000"/>
                </a:solidFill>
                <a:latin typeface="方正黑体简体" panose="02010601030101010101" pitchFamily="2" charset="-122"/>
                <a:ea typeface="方正黑体简体" panose="02010601030101010101" pitchFamily="2" charset="-122"/>
                <a:cs typeface="+mn-ea"/>
                <a:sym typeface="+mn-lt"/>
              </a:rPr>
              <a:t>拓展</a:t>
            </a:r>
            <a:r>
              <a:rPr lang="en-US" altLang="zh-CN" sz="1600" b="1" dirty="0">
                <a:solidFill>
                  <a:srgbClr val="4F4D50"/>
                </a:solidFill>
                <a:latin typeface="方正黑体简体" panose="02010601030101010101" pitchFamily="2" charset="-122"/>
                <a:ea typeface="方正黑体简体" panose="02010601030101010101" pitchFamily="2" charset="-122"/>
                <a:cs typeface="+mn-ea"/>
                <a:sym typeface="+mn-lt"/>
              </a:rPr>
              <a:t>)</a:t>
            </a:r>
            <a:endParaRPr lang="en-US" altLang="zh-CN" sz="1600" b="1" dirty="0">
              <a:solidFill>
                <a:srgbClr val="FF0000"/>
              </a:solidFill>
              <a:latin typeface="方正黑体简体" panose="02010601030101010101" pitchFamily="2" charset="-122"/>
              <a:ea typeface="方正黑体简体" panose="02010601030101010101" pitchFamily="2" charset="-122"/>
              <a:cs typeface="+mn-ea"/>
              <a:sym typeface="+mn-lt"/>
            </a:endParaRPr>
          </a:p>
        </p:txBody>
      </p:sp>
      <p:sp>
        <p:nvSpPr>
          <p:cNvPr id="25" name="文本框 24">
            <a:extLst>
              <a:ext uri="{FF2B5EF4-FFF2-40B4-BE49-F238E27FC236}">
                <a16:creationId xmlns:a16="http://schemas.microsoft.com/office/drawing/2014/main" id="{90E8FACF-439A-4ADC-B52E-EFBAA9BAE929}"/>
              </a:ext>
            </a:extLst>
          </p:cNvPr>
          <p:cNvSpPr txBox="1"/>
          <p:nvPr/>
        </p:nvSpPr>
        <p:spPr>
          <a:xfrm>
            <a:off x="9253565" y="4490748"/>
            <a:ext cx="2335749" cy="1670073"/>
          </a:xfrm>
          <a:prstGeom prst="rect">
            <a:avLst/>
          </a:prstGeom>
          <a:noFill/>
        </p:spPr>
        <p:txBody>
          <a:bodyPr wrap="square" rtlCol="0">
            <a:spAutoFit/>
          </a:bodyPr>
          <a:lstStyle/>
          <a:p>
            <a:pPr marL="171450" indent="-171450" defTabSz="1219020">
              <a:lnSpc>
                <a:spcPct val="150000"/>
              </a:lnSpc>
              <a:buFont typeface="Wingdings" panose="05000000000000000000" pitchFamily="2" charset="2"/>
              <a:buChar char="l"/>
            </a:pP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图像重采样</a:t>
            </a:r>
            <a:endParaRPr lang="en-US" altLang="zh-CN"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a:p>
            <a:pPr marL="171450" indent="-171450" defTabSz="1219020">
              <a:lnSpc>
                <a:spcPct val="150000"/>
              </a:lnSpc>
              <a:buFont typeface="Wingdings" panose="05000000000000000000" pitchFamily="2" charset="2"/>
              <a:buChar char="l"/>
            </a:pP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图像镶嵌</a:t>
            </a:r>
          </a:p>
          <a:p>
            <a:pPr marL="171450" indent="-171450" defTabSz="1219020">
              <a:lnSpc>
                <a:spcPct val="150000"/>
              </a:lnSpc>
              <a:buFont typeface="Wingdings" panose="05000000000000000000" pitchFamily="2" charset="2"/>
              <a:buChar char="l"/>
            </a:pP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图像裁切</a:t>
            </a:r>
            <a:endParaRPr lang="en-US" altLang="zh-CN"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a:p>
            <a:pPr marL="171450" indent="-171450" defTabSz="1219020">
              <a:lnSpc>
                <a:spcPct val="150000"/>
              </a:lnSpc>
              <a:buFont typeface="Wingdings" panose="05000000000000000000" pitchFamily="2" charset="2"/>
              <a:buChar char="l"/>
            </a:pP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图像重投影、图像校正</a:t>
            </a:r>
          </a:p>
          <a:p>
            <a:pPr marL="171450" indent="-171450" defTabSz="1219020">
              <a:lnSpc>
                <a:spcPct val="150000"/>
              </a:lnSpc>
              <a:buFont typeface="Wingdings" panose="05000000000000000000" pitchFamily="2" charset="2"/>
              <a:buChar char="l"/>
            </a:pPr>
            <a:endPar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p:txBody>
      </p:sp>
      <p:sp>
        <p:nvSpPr>
          <p:cNvPr id="26" name="文本框 25">
            <a:extLst>
              <a:ext uri="{FF2B5EF4-FFF2-40B4-BE49-F238E27FC236}">
                <a16:creationId xmlns:a16="http://schemas.microsoft.com/office/drawing/2014/main" id="{EA0BC119-6012-4739-BFE6-EDB26D948D41}"/>
              </a:ext>
            </a:extLst>
          </p:cNvPr>
          <p:cNvSpPr txBox="1"/>
          <p:nvPr/>
        </p:nvSpPr>
        <p:spPr>
          <a:xfrm>
            <a:off x="6535211" y="4585297"/>
            <a:ext cx="2128849" cy="1346907"/>
          </a:xfrm>
          <a:prstGeom prst="rect">
            <a:avLst/>
          </a:prstGeom>
          <a:noFill/>
        </p:spPr>
        <p:txBody>
          <a:bodyPr wrap="square" rtlCol="0">
            <a:spAutoFit/>
          </a:bodyPr>
          <a:lstStyle/>
          <a:p>
            <a:pPr marL="171450" indent="-171450" defTabSz="1219020">
              <a:lnSpc>
                <a:spcPct val="150000"/>
              </a:lnSpc>
              <a:buFont typeface="Wingdings" panose="05000000000000000000" pitchFamily="2" charset="2"/>
              <a:buChar char="l"/>
            </a:pP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如影像读写</a:t>
            </a:r>
            <a:r>
              <a:rPr lang="en-US" altLang="zh-CN"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8</a:t>
            </a: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位、</a:t>
            </a:r>
            <a:r>
              <a:rPr lang="en-US" altLang="zh-CN"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16</a:t>
            </a: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位同时兼容</a:t>
            </a:r>
            <a:endParaRPr lang="en-US" altLang="zh-CN"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a:p>
            <a:pPr marL="171450" indent="-171450" defTabSz="1219020">
              <a:lnSpc>
                <a:spcPct val="150000"/>
              </a:lnSpc>
              <a:buFont typeface="Wingdings" panose="05000000000000000000" pitchFamily="2" charset="2"/>
              <a:buChar char="l"/>
            </a:pPr>
            <a:r>
              <a:rPr lang="zh-CN" altLang="en-US" sz="14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读写栅格文件如何消除差异</a:t>
            </a:r>
          </a:p>
        </p:txBody>
      </p:sp>
    </p:spTree>
    <p:extLst>
      <p:ext uri="{BB962C8B-B14F-4D97-AF65-F5344CB8AC3E}">
        <p14:creationId xmlns:p14="http://schemas.microsoft.com/office/powerpoint/2010/main" val="37268481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par>
                          <p:cTn id="13" fill="hold">
                            <p:stCondLst>
                              <p:cond delay="600"/>
                            </p:stCondLst>
                            <p:childTnLst>
                              <p:par>
                                <p:cTn id="14" presetID="53" presetClass="entr" presetSubtype="16"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p:cTn id="21" dur="500" fill="hold"/>
                                        <p:tgtEl>
                                          <p:spTgt spid="18"/>
                                        </p:tgtEl>
                                        <p:attrNameLst>
                                          <p:attrName>ppt_w</p:attrName>
                                        </p:attrNameLst>
                                      </p:cBhvr>
                                      <p:tavLst>
                                        <p:tav tm="0">
                                          <p:val>
                                            <p:fltVal val="0"/>
                                          </p:val>
                                        </p:tav>
                                        <p:tav tm="100000">
                                          <p:val>
                                            <p:strVal val="#ppt_w"/>
                                          </p:val>
                                        </p:tav>
                                      </p:tavLst>
                                    </p:anim>
                                    <p:anim calcmode="lin" valueType="num">
                                      <p:cBhvr>
                                        <p:cTn id="22" dur="500" fill="hold"/>
                                        <p:tgtEl>
                                          <p:spTgt spid="18"/>
                                        </p:tgtEl>
                                        <p:attrNameLst>
                                          <p:attrName>ppt_h</p:attrName>
                                        </p:attrNameLst>
                                      </p:cBhvr>
                                      <p:tavLst>
                                        <p:tav tm="0">
                                          <p:val>
                                            <p:fltVal val="0"/>
                                          </p:val>
                                        </p:tav>
                                        <p:tav tm="100000">
                                          <p:val>
                                            <p:strVal val="#ppt_h"/>
                                          </p:val>
                                        </p:tav>
                                      </p:tavLst>
                                    </p:anim>
                                    <p:animEffect transition="in" filter="fade">
                                      <p:cBhvr>
                                        <p:cTn id="23" dur="500"/>
                                        <p:tgtEl>
                                          <p:spTgt spid="18"/>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 calcmode="lin" valueType="num">
                                      <p:cBhvr>
                                        <p:cTn id="26" dur="500" fill="hold"/>
                                        <p:tgtEl>
                                          <p:spTgt spid="19"/>
                                        </p:tgtEl>
                                        <p:attrNameLst>
                                          <p:attrName>ppt_w</p:attrName>
                                        </p:attrNameLst>
                                      </p:cBhvr>
                                      <p:tavLst>
                                        <p:tav tm="0">
                                          <p:val>
                                            <p:fltVal val="0"/>
                                          </p:val>
                                        </p:tav>
                                        <p:tav tm="100000">
                                          <p:val>
                                            <p:strVal val="#ppt_w"/>
                                          </p:val>
                                        </p:tav>
                                      </p:tavLst>
                                    </p:anim>
                                    <p:anim calcmode="lin" valueType="num">
                                      <p:cBhvr>
                                        <p:cTn id="27" dur="500" fill="hold"/>
                                        <p:tgtEl>
                                          <p:spTgt spid="19"/>
                                        </p:tgtEl>
                                        <p:attrNameLst>
                                          <p:attrName>ppt_h</p:attrName>
                                        </p:attrNameLst>
                                      </p:cBhvr>
                                      <p:tavLst>
                                        <p:tav tm="0">
                                          <p:val>
                                            <p:fltVal val="0"/>
                                          </p:val>
                                        </p:tav>
                                        <p:tav tm="100000">
                                          <p:val>
                                            <p:strVal val="#ppt_h"/>
                                          </p:val>
                                        </p:tav>
                                      </p:tavLst>
                                    </p:anim>
                                    <p:animEffect transition="in" filter="fade">
                                      <p:cBhvr>
                                        <p:cTn id="28" dur="500"/>
                                        <p:tgtEl>
                                          <p:spTgt spid="19"/>
                                        </p:tgtEl>
                                      </p:cBhvr>
                                    </p:animEffect>
                                  </p:childTnLst>
                                </p:cTn>
                              </p:par>
                              <p:par>
                                <p:cTn id="29" presetID="53" presetClass="entr" presetSubtype="16"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00" fill="hold"/>
                                        <p:tgtEl>
                                          <p:spTgt spid="10"/>
                                        </p:tgtEl>
                                        <p:attrNameLst>
                                          <p:attrName>ppt_w</p:attrName>
                                        </p:attrNameLst>
                                      </p:cBhvr>
                                      <p:tavLst>
                                        <p:tav tm="0">
                                          <p:val>
                                            <p:fltVal val="0"/>
                                          </p:val>
                                        </p:tav>
                                        <p:tav tm="100000">
                                          <p:val>
                                            <p:strVal val="#ppt_w"/>
                                          </p:val>
                                        </p:tav>
                                      </p:tavLst>
                                    </p:anim>
                                    <p:anim calcmode="lin" valueType="num">
                                      <p:cBhvr>
                                        <p:cTn id="32" dur="500" fill="hold"/>
                                        <p:tgtEl>
                                          <p:spTgt spid="10"/>
                                        </p:tgtEl>
                                        <p:attrNameLst>
                                          <p:attrName>ppt_h</p:attrName>
                                        </p:attrNameLst>
                                      </p:cBhvr>
                                      <p:tavLst>
                                        <p:tav tm="0">
                                          <p:val>
                                            <p:fltVal val="0"/>
                                          </p:val>
                                        </p:tav>
                                        <p:tav tm="100000">
                                          <p:val>
                                            <p:strVal val="#ppt_h"/>
                                          </p:val>
                                        </p:tav>
                                      </p:tavLst>
                                    </p:anim>
                                    <p:animEffect transition="in" filter="fade">
                                      <p:cBhvr>
                                        <p:cTn id="33" dur="500"/>
                                        <p:tgtEl>
                                          <p:spTgt spid="10"/>
                                        </p:tgtEl>
                                      </p:cBhvr>
                                    </p:animEffect>
                                  </p:childTnLst>
                                </p:cTn>
                              </p:par>
                              <p:par>
                                <p:cTn id="34" presetID="53" presetClass="entr" presetSubtype="16"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ppt_w</p:attrName>
                                        </p:attrNameLst>
                                      </p:cBhvr>
                                      <p:tavLst>
                                        <p:tav tm="0">
                                          <p:val>
                                            <p:fltVal val="0"/>
                                          </p:val>
                                        </p:tav>
                                        <p:tav tm="100000">
                                          <p:val>
                                            <p:strVal val="#ppt_w"/>
                                          </p:val>
                                        </p:tav>
                                      </p:tavLst>
                                    </p:anim>
                                    <p:anim calcmode="lin" valueType="num">
                                      <p:cBhvr>
                                        <p:cTn id="37" dur="500" fill="hold"/>
                                        <p:tgtEl>
                                          <p:spTgt spid="13"/>
                                        </p:tgtEl>
                                        <p:attrNameLst>
                                          <p:attrName>ppt_h</p:attrName>
                                        </p:attrNameLst>
                                      </p:cBhvr>
                                      <p:tavLst>
                                        <p:tav tm="0">
                                          <p:val>
                                            <p:fltVal val="0"/>
                                          </p:val>
                                        </p:tav>
                                        <p:tav tm="100000">
                                          <p:val>
                                            <p:strVal val="#ppt_h"/>
                                          </p:val>
                                        </p:tav>
                                      </p:tavLst>
                                    </p:anim>
                                    <p:animEffect transition="in" filter="fade">
                                      <p:cBhvr>
                                        <p:cTn id="38" dur="500"/>
                                        <p:tgtEl>
                                          <p:spTgt spid="13"/>
                                        </p:tgtEl>
                                      </p:cBhvr>
                                    </p:animEffect>
                                  </p:childTnLst>
                                </p:cTn>
                              </p:par>
                              <p:par>
                                <p:cTn id="39" presetID="53" presetClass="entr" presetSubtype="16"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p:cTn id="41" dur="500" fill="hold"/>
                                        <p:tgtEl>
                                          <p:spTgt spid="15"/>
                                        </p:tgtEl>
                                        <p:attrNameLst>
                                          <p:attrName>ppt_w</p:attrName>
                                        </p:attrNameLst>
                                      </p:cBhvr>
                                      <p:tavLst>
                                        <p:tav tm="0">
                                          <p:val>
                                            <p:fltVal val="0"/>
                                          </p:val>
                                        </p:tav>
                                        <p:tav tm="100000">
                                          <p:val>
                                            <p:strVal val="#ppt_w"/>
                                          </p:val>
                                        </p:tav>
                                      </p:tavLst>
                                    </p:anim>
                                    <p:anim calcmode="lin" valueType="num">
                                      <p:cBhvr>
                                        <p:cTn id="42" dur="500" fill="hold"/>
                                        <p:tgtEl>
                                          <p:spTgt spid="15"/>
                                        </p:tgtEl>
                                        <p:attrNameLst>
                                          <p:attrName>ppt_h</p:attrName>
                                        </p:attrNameLst>
                                      </p:cBhvr>
                                      <p:tavLst>
                                        <p:tav tm="0">
                                          <p:val>
                                            <p:fltVal val="0"/>
                                          </p:val>
                                        </p:tav>
                                        <p:tav tm="100000">
                                          <p:val>
                                            <p:strVal val="#ppt_h"/>
                                          </p:val>
                                        </p:tav>
                                      </p:tavLst>
                                    </p:anim>
                                    <p:animEffect transition="in" filter="fade">
                                      <p:cBhvr>
                                        <p:cTn id="43" dur="500"/>
                                        <p:tgtEl>
                                          <p:spTgt spid="15"/>
                                        </p:tgtEl>
                                      </p:cBhvr>
                                    </p:animEffect>
                                  </p:childTnLst>
                                </p:cTn>
                              </p:par>
                              <p:par>
                                <p:cTn id="44" presetID="53" presetClass="entr" presetSubtype="16"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 calcmode="lin" valueType="num">
                                      <p:cBhvr>
                                        <p:cTn id="46" dur="500" fill="hold"/>
                                        <p:tgtEl>
                                          <p:spTgt spid="17"/>
                                        </p:tgtEl>
                                        <p:attrNameLst>
                                          <p:attrName>ppt_w</p:attrName>
                                        </p:attrNameLst>
                                      </p:cBhvr>
                                      <p:tavLst>
                                        <p:tav tm="0">
                                          <p:val>
                                            <p:fltVal val="0"/>
                                          </p:val>
                                        </p:tav>
                                        <p:tav tm="100000">
                                          <p:val>
                                            <p:strVal val="#ppt_w"/>
                                          </p:val>
                                        </p:tav>
                                      </p:tavLst>
                                    </p:anim>
                                    <p:anim calcmode="lin" valueType="num">
                                      <p:cBhvr>
                                        <p:cTn id="47" dur="500" fill="hold"/>
                                        <p:tgtEl>
                                          <p:spTgt spid="17"/>
                                        </p:tgtEl>
                                        <p:attrNameLst>
                                          <p:attrName>ppt_h</p:attrName>
                                        </p:attrNameLst>
                                      </p:cBhvr>
                                      <p:tavLst>
                                        <p:tav tm="0">
                                          <p:val>
                                            <p:fltVal val="0"/>
                                          </p:val>
                                        </p:tav>
                                        <p:tav tm="100000">
                                          <p:val>
                                            <p:strVal val="#ppt_h"/>
                                          </p:val>
                                        </p:tav>
                                      </p:tavLst>
                                    </p:anim>
                                    <p:animEffect transition="in" filter="fade">
                                      <p:cBhvr>
                                        <p:cTn id="48" dur="500"/>
                                        <p:tgtEl>
                                          <p:spTgt spid="17"/>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p:cTn id="51" dur="500" fill="hold"/>
                                        <p:tgtEl>
                                          <p:spTgt spid="20"/>
                                        </p:tgtEl>
                                        <p:attrNameLst>
                                          <p:attrName>ppt_w</p:attrName>
                                        </p:attrNameLst>
                                      </p:cBhvr>
                                      <p:tavLst>
                                        <p:tav tm="0">
                                          <p:val>
                                            <p:fltVal val="0"/>
                                          </p:val>
                                        </p:tav>
                                        <p:tav tm="100000">
                                          <p:val>
                                            <p:strVal val="#ppt_w"/>
                                          </p:val>
                                        </p:tav>
                                      </p:tavLst>
                                    </p:anim>
                                    <p:anim calcmode="lin" valueType="num">
                                      <p:cBhvr>
                                        <p:cTn id="52" dur="500" fill="hold"/>
                                        <p:tgtEl>
                                          <p:spTgt spid="20"/>
                                        </p:tgtEl>
                                        <p:attrNameLst>
                                          <p:attrName>ppt_h</p:attrName>
                                        </p:attrNameLst>
                                      </p:cBhvr>
                                      <p:tavLst>
                                        <p:tav tm="0">
                                          <p:val>
                                            <p:fltVal val="0"/>
                                          </p:val>
                                        </p:tav>
                                        <p:tav tm="100000">
                                          <p:val>
                                            <p:strVal val="#ppt_h"/>
                                          </p:val>
                                        </p:tav>
                                      </p:tavLst>
                                    </p:anim>
                                    <p:animEffect transition="in" filter="fade">
                                      <p:cBhvr>
                                        <p:cTn id="53" dur="500"/>
                                        <p:tgtEl>
                                          <p:spTgt spid="20"/>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 calcmode="lin" valueType="num">
                                      <p:cBhvr>
                                        <p:cTn id="56" dur="500" fill="hold"/>
                                        <p:tgtEl>
                                          <p:spTgt spid="22"/>
                                        </p:tgtEl>
                                        <p:attrNameLst>
                                          <p:attrName>ppt_w</p:attrName>
                                        </p:attrNameLst>
                                      </p:cBhvr>
                                      <p:tavLst>
                                        <p:tav tm="0">
                                          <p:val>
                                            <p:fltVal val="0"/>
                                          </p:val>
                                        </p:tav>
                                        <p:tav tm="100000">
                                          <p:val>
                                            <p:strVal val="#ppt_w"/>
                                          </p:val>
                                        </p:tav>
                                      </p:tavLst>
                                    </p:anim>
                                    <p:anim calcmode="lin" valueType="num">
                                      <p:cBhvr>
                                        <p:cTn id="57" dur="500" fill="hold"/>
                                        <p:tgtEl>
                                          <p:spTgt spid="22"/>
                                        </p:tgtEl>
                                        <p:attrNameLst>
                                          <p:attrName>ppt_h</p:attrName>
                                        </p:attrNameLst>
                                      </p:cBhvr>
                                      <p:tavLst>
                                        <p:tav tm="0">
                                          <p:val>
                                            <p:fltVal val="0"/>
                                          </p:val>
                                        </p:tav>
                                        <p:tav tm="100000">
                                          <p:val>
                                            <p:strVal val="#ppt_h"/>
                                          </p:val>
                                        </p:tav>
                                      </p:tavLst>
                                    </p:anim>
                                    <p:animEffect transition="in" filter="fade">
                                      <p:cBhvr>
                                        <p:cTn id="58" dur="500"/>
                                        <p:tgtEl>
                                          <p:spTgt spid="22"/>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 calcmode="lin" valueType="num">
                                      <p:cBhvr>
                                        <p:cTn id="61" dur="500" fill="hold"/>
                                        <p:tgtEl>
                                          <p:spTgt spid="23"/>
                                        </p:tgtEl>
                                        <p:attrNameLst>
                                          <p:attrName>ppt_w</p:attrName>
                                        </p:attrNameLst>
                                      </p:cBhvr>
                                      <p:tavLst>
                                        <p:tav tm="0">
                                          <p:val>
                                            <p:fltVal val="0"/>
                                          </p:val>
                                        </p:tav>
                                        <p:tav tm="100000">
                                          <p:val>
                                            <p:strVal val="#ppt_w"/>
                                          </p:val>
                                        </p:tav>
                                      </p:tavLst>
                                    </p:anim>
                                    <p:anim calcmode="lin" valueType="num">
                                      <p:cBhvr>
                                        <p:cTn id="62" dur="500" fill="hold"/>
                                        <p:tgtEl>
                                          <p:spTgt spid="23"/>
                                        </p:tgtEl>
                                        <p:attrNameLst>
                                          <p:attrName>ppt_h</p:attrName>
                                        </p:attrNameLst>
                                      </p:cBhvr>
                                      <p:tavLst>
                                        <p:tav tm="0">
                                          <p:val>
                                            <p:fltVal val="0"/>
                                          </p:val>
                                        </p:tav>
                                        <p:tav tm="100000">
                                          <p:val>
                                            <p:strVal val="#ppt_h"/>
                                          </p:val>
                                        </p:tav>
                                      </p:tavLst>
                                    </p:anim>
                                    <p:animEffect transition="in" filter="fade">
                                      <p:cBhvr>
                                        <p:cTn id="63" dur="500"/>
                                        <p:tgtEl>
                                          <p:spTgt spid="23"/>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 calcmode="lin" valueType="num">
                                      <p:cBhvr>
                                        <p:cTn id="66" dur="500" fill="hold"/>
                                        <p:tgtEl>
                                          <p:spTgt spid="24"/>
                                        </p:tgtEl>
                                        <p:attrNameLst>
                                          <p:attrName>ppt_w</p:attrName>
                                        </p:attrNameLst>
                                      </p:cBhvr>
                                      <p:tavLst>
                                        <p:tav tm="0">
                                          <p:val>
                                            <p:fltVal val="0"/>
                                          </p:val>
                                        </p:tav>
                                        <p:tav tm="100000">
                                          <p:val>
                                            <p:strVal val="#ppt_w"/>
                                          </p:val>
                                        </p:tav>
                                      </p:tavLst>
                                    </p:anim>
                                    <p:anim calcmode="lin" valueType="num">
                                      <p:cBhvr>
                                        <p:cTn id="67" dur="500" fill="hold"/>
                                        <p:tgtEl>
                                          <p:spTgt spid="24"/>
                                        </p:tgtEl>
                                        <p:attrNameLst>
                                          <p:attrName>ppt_h</p:attrName>
                                        </p:attrNameLst>
                                      </p:cBhvr>
                                      <p:tavLst>
                                        <p:tav tm="0">
                                          <p:val>
                                            <p:fltVal val="0"/>
                                          </p:val>
                                        </p:tav>
                                        <p:tav tm="100000">
                                          <p:val>
                                            <p:strVal val="#ppt_h"/>
                                          </p:val>
                                        </p:tav>
                                      </p:tavLst>
                                    </p:anim>
                                    <p:animEffect transition="in" filter="fade">
                                      <p:cBhvr>
                                        <p:cTn id="68" dur="500"/>
                                        <p:tgtEl>
                                          <p:spTgt spid="24"/>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 calcmode="lin" valueType="num">
                                      <p:cBhvr>
                                        <p:cTn id="71" dur="500" fill="hold"/>
                                        <p:tgtEl>
                                          <p:spTgt spid="25"/>
                                        </p:tgtEl>
                                        <p:attrNameLst>
                                          <p:attrName>ppt_w</p:attrName>
                                        </p:attrNameLst>
                                      </p:cBhvr>
                                      <p:tavLst>
                                        <p:tav tm="0">
                                          <p:val>
                                            <p:fltVal val="0"/>
                                          </p:val>
                                        </p:tav>
                                        <p:tav tm="100000">
                                          <p:val>
                                            <p:strVal val="#ppt_w"/>
                                          </p:val>
                                        </p:tav>
                                      </p:tavLst>
                                    </p:anim>
                                    <p:anim calcmode="lin" valueType="num">
                                      <p:cBhvr>
                                        <p:cTn id="72" dur="500" fill="hold"/>
                                        <p:tgtEl>
                                          <p:spTgt spid="25"/>
                                        </p:tgtEl>
                                        <p:attrNameLst>
                                          <p:attrName>ppt_h</p:attrName>
                                        </p:attrNameLst>
                                      </p:cBhvr>
                                      <p:tavLst>
                                        <p:tav tm="0">
                                          <p:val>
                                            <p:fltVal val="0"/>
                                          </p:val>
                                        </p:tav>
                                        <p:tav tm="100000">
                                          <p:val>
                                            <p:strVal val="#ppt_h"/>
                                          </p:val>
                                        </p:tav>
                                      </p:tavLst>
                                    </p:anim>
                                    <p:animEffect transition="in" filter="fade">
                                      <p:cBhvr>
                                        <p:cTn id="73" dur="500"/>
                                        <p:tgtEl>
                                          <p:spTgt spid="25"/>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 calcmode="lin" valueType="num">
                                      <p:cBhvr>
                                        <p:cTn id="76" dur="500" fill="hold"/>
                                        <p:tgtEl>
                                          <p:spTgt spid="26"/>
                                        </p:tgtEl>
                                        <p:attrNameLst>
                                          <p:attrName>ppt_w</p:attrName>
                                        </p:attrNameLst>
                                      </p:cBhvr>
                                      <p:tavLst>
                                        <p:tav tm="0">
                                          <p:val>
                                            <p:fltVal val="0"/>
                                          </p:val>
                                        </p:tav>
                                        <p:tav tm="100000">
                                          <p:val>
                                            <p:strVal val="#ppt_w"/>
                                          </p:val>
                                        </p:tav>
                                      </p:tavLst>
                                    </p:anim>
                                    <p:anim calcmode="lin" valueType="num">
                                      <p:cBhvr>
                                        <p:cTn id="77" dur="500" fill="hold"/>
                                        <p:tgtEl>
                                          <p:spTgt spid="26"/>
                                        </p:tgtEl>
                                        <p:attrNameLst>
                                          <p:attrName>ppt_h</p:attrName>
                                        </p:attrNameLst>
                                      </p:cBhvr>
                                      <p:tavLst>
                                        <p:tav tm="0">
                                          <p:val>
                                            <p:fltVal val="0"/>
                                          </p:val>
                                        </p:tav>
                                        <p:tav tm="100000">
                                          <p:val>
                                            <p:strVal val="#ppt_h"/>
                                          </p:val>
                                        </p:tav>
                                      </p:tavLst>
                                    </p:anim>
                                    <p:animEffect transition="in" filter="fade">
                                      <p:cBhvr>
                                        <p:cTn id="7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8" grpId="0"/>
      <p:bldP spid="19" grpId="0"/>
      <p:bldP spid="20" grpId="0"/>
      <p:bldP spid="22" grpId="0"/>
      <p:bldP spid="23" grpId="0"/>
      <p:bldP spid="24" grpId="0"/>
      <p:bldP spid="25" grpId="0"/>
      <p:bldP spid="2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30949" y="0"/>
            <a:ext cx="5861051" cy="6858000"/>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11968" y="635721"/>
            <a:ext cx="4980032" cy="5915832"/>
          </a:xfrm>
          <a:prstGeom prst="rect">
            <a:avLst/>
          </a:prstGeom>
        </p:spPr>
      </p:pic>
      <p:sp>
        <p:nvSpPr>
          <p:cNvPr id="10" name="TextBox 6"/>
          <p:cNvSpPr txBox="1"/>
          <p:nvPr/>
        </p:nvSpPr>
        <p:spPr>
          <a:xfrm>
            <a:off x="1007435" y="1892830"/>
            <a:ext cx="4183774" cy="1323439"/>
          </a:xfrm>
          <a:prstGeom prst="rect">
            <a:avLst/>
          </a:prstGeom>
          <a:noFill/>
        </p:spPr>
        <p:txBody>
          <a:bodyPr wrap="none" rtlCol="0">
            <a:spAutoFit/>
          </a:bodyPr>
          <a:lstStyle/>
          <a:p>
            <a:pPr defTabSz="1219200"/>
            <a:r>
              <a:rPr lang="en-US" altLang="zh-CN" sz="8000" dirty="0">
                <a:solidFill>
                  <a:srgbClr val="E1E0D8"/>
                </a:solidFill>
                <a:latin typeface="方正黑体简体" panose="02010601030101010101" pitchFamily="2" charset="-122"/>
                <a:ea typeface="方正黑体简体" panose="02010601030101010101" pitchFamily="2" charset="-122"/>
                <a:cs typeface="+mn-ea"/>
                <a:sym typeface="+mn-lt"/>
              </a:rPr>
              <a:t>PART 02</a:t>
            </a:r>
            <a:endParaRPr lang="zh-CN" altLang="en-US" sz="8000"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11" name="TextBox 7"/>
          <p:cNvSpPr txBox="1"/>
          <p:nvPr/>
        </p:nvSpPr>
        <p:spPr>
          <a:xfrm>
            <a:off x="2351584" y="2660915"/>
            <a:ext cx="3877985" cy="830997"/>
          </a:xfrm>
          <a:prstGeom prst="rect">
            <a:avLst/>
          </a:prstGeom>
          <a:noFill/>
        </p:spPr>
        <p:txBody>
          <a:bodyPr wrap="none" rtlCol="0">
            <a:spAutoFit/>
          </a:bodyPr>
          <a:lstStyle/>
          <a:p>
            <a:pPr defTabSz="1219200"/>
            <a:r>
              <a:rPr lang="zh-CN" altLang="en-US" sz="4800" dirty="0">
                <a:solidFill>
                  <a:srgbClr val="4F4D50"/>
                </a:solidFill>
                <a:latin typeface="方正黑体简体" panose="02010601030101010101" pitchFamily="2" charset="-122"/>
                <a:ea typeface="方正黑体简体" panose="02010601030101010101" pitchFamily="2" charset="-122"/>
                <a:cs typeface="+mn-ea"/>
                <a:sym typeface="+mn-lt"/>
              </a:rPr>
              <a:t>影像信息读取</a:t>
            </a:r>
            <a:endParaRPr lang="en-US" altLang="zh-CN" sz="48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
        <p:nvSpPr>
          <p:cNvPr id="13" name="TextBox 6"/>
          <p:cNvSpPr txBox="1"/>
          <p:nvPr/>
        </p:nvSpPr>
        <p:spPr>
          <a:xfrm>
            <a:off x="9388833" y="2168473"/>
            <a:ext cx="2092239" cy="2646878"/>
          </a:xfrm>
          <a:prstGeom prst="rect">
            <a:avLst/>
          </a:prstGeom>
          <a:noFill/>
        </p:spPr>
        <p:txBody>
          <a:bodyPr wrap="none" rtlCol="0">
            <a:spAutoFit/>
          </a:bodyPr>
          <a:lstStyle/>
          <a:p>
            <a:pPr defTabSz="1219200"/>
            <a:r>
              <a:rPr lang="en-US" altLang="zh-CN" sz="16600" spc="600" dirty="0">
                <a:gradFill>
                  <a:gsLst>
                    <a:gs pos="0">
                      <a:srgbClr val="F7DCAC"/>
                    </a:gs>
                    <a:gs pos="100000">
                      <a:srgbClr val="88745B"/>
                    </a:gs>
                  </a:gsLst>
                  <a:lin ang="1800000" scaled="0"/>
                </a:gradFill>
                <a:effectLst>
                  <a:outerShdw blurRad="190500" dist="63500" dir="2700000" algn="tl">
                    <a:srgbClr val="000000">
                      <a:alpha val="30000"/>
                    </a:srgbClr>
                  </a:outerShdw>
                </a:effectLst>
                <a:latin typeface="Agency FB" panose="020B0503020202020204" pitchFamily="34" charset="0"/>
                <a:ea typeface="方正黑体简体" panose="02010601030101010101" pitchFamily="2" charset="-122"/>
                <a:cs typeface="+mn-ea"/>
                <a:sym typeface="+mn-lt"/>
              </a:rPr>
              <a:t>02</a:t>
            </a:r>
            <a:endParaRPr lang="zh-CN" altLang="en-US" sz="16600" spc="600" dirty="0">
              <a:gradFill>
                <a:gsLst>
                  <a:gs pos="0">
                    <a:srgbClr val="F7DCAC"/>
                  </a:gs>
                  <a:gs pos="100000">
                    <a:srgbClr val="88745B"/>
                  </a:gs>
                </a:gsLst>
                <a:lin ang="1800000" scaled="0"/>
              </a:gradFill>
              <a:effectLst>
                <a:outerShdw blurRad="190500" dist="63500" dir="2700000" algn="tl">
                  <a:srgbClr val="000000">
                    <a:alpha val="30000"/>
                  </a:srgbClr>
                </a:outerShdw>
              </a:effectLst>
              <a:latin typeface="Agency FB" panose="020B0503020202020204" pitchFamily="34" charset="0"/>
              <a:ea typeface="方正黑体简体" panose="02010601030101010101" pitchFamily="2"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250" advClick="0" advTm="2694">
        <p14:flip dir="r"/>
      </p:transition>
    </mc:Choice>
    <mc:Fallback xmlns="">
      <p:transition advClick="0" advTm="269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3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30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p:cNvSpPr txBox="1"/>
          <p:nvPr/>
        </p:nvSpPr>
        <p:spPr>
          <a:xfrm>
            <a:off x="539982" y="440281"/>
            <a:ext cx="7549659" cy="461665"/>
          </a:xfrm>
          <a:prstGeom prst="rect">
            <a:avLst/>
          </a:prstGeom>
          <a:noFill/>
        </p:spPr>
        <p:txBody>
          <a:bodyPr wrap="square" rtlCol="0">
            <a:spAutoFit/>
          </a:bodyPr>
          <a:lstStyle/>
          <a:p>
            <a:pPr defTabSz="121920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预备知识</a:t>
            </a:r>
            <a:r>
              <a:rPr lang="en-US" altLang="zh-CN" sz="2400" dirty="0">
                <a:solidFill>
                  <a:srgbClr val="4F4D50"/>
                </a:solidFill>
                <a:latin typeface="方正黑体简体" panose="02010601030101010101" pitchFamily="2" charset="-122"/>
                <a:ea typeface="方正黑体简体" panose="02010601030101010101" pitchFamily="2" charset="-122"/>
                <a:cs typeface="+mn-ea"/>
                <a:sym typeface="+mn-lt"/>
              </a:rPr>
              <a:t>——</a:t>
            </a: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数据集（由</a:t>
            </a:r>
            <a:r>
              <a:rPr lang="en-US" altLang="zh-CN" sz="2400" dirty="0" err="1">
                <a:solidFill>
                  <a:srgbClr val="4F4D50"/>
                </a:solidFill>
                <a:latin typeface="方正黑体简体" panose="02010601030101010101" pitchFamily="2" charset="-122"/>
                <a:ea typeface="方正黑体简体" panose="02010601030101010101" pitchFamily="2" charset="-122"/>
                <a:cs typeface="+mn-ea"/>
                <a:sym typeface="+mn-lt"/>
              </a:rPr>
              <a:t>GDALDataset</a:t>
            </a: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类表示）</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31986" y="1664890"/>
            <a:ext cx="464644" cy="533480"/>
          </a:xfrm>
          <a:prstGeom prst="rect">
            <a:avLst/>
          </a:prstGeom>
        </p:spPr>
      </p:pic>
      <p:pic>
        <p:nvPicPr>
          <p:cNvPr id="10"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31985" y="3131425"/>
            <a:ext cx="464644" cy="533480"/>
          </a:xfrm>
          <a:prstGeom prst="rect">
            <a:avLst/>
          </a:prstGeom>
        </p:spPr>
      </p:pic>
      <p:pic>
        <p:nvPicPr>
          <p:cNvPr id="13" name="图片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31983" y="4790898"/>
            <a:ext cx="464644" cy="533480"/>
          </a:xfrm>
          <a:prstGeom prst="rect">
            <a:avLst/>
          </a:prstGeom>
        </p:spPr>
      </p:pic>
      <p:sp>
        <p:nvSpPr>
          <p:cNvPr id="39" name="TextBox 7"/>
          <p:cNvSpPr txBox="1"/>
          <p:nvPr/>
        </p:nvSpPr>
        <p:spPr>
          <a:xfrm>
            <a:off x="2277744" y="1618315"/>
            <a:ext cx="8051244" cy="499624"/>
          </a:xfrm>
          <a:prstGeom prst="rect">
            <a:avLst/>
          </a:prstGeom>
          <a:noFill/>
        </p:spPr>
        <p:txBody>
          <a:bodyPr wrap="square" rtlCol="0">
            <a:spAutoFit/>
          </a:bodyPr>
          <a:lstStyle/>
          <a:p>
            <a:pPr defTabSz="1219200">
              <a:lnSpc>
                <a:spcPct val="150000"/>
              </a:lnSpc>
            </a:pP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数据集是一个栅格波段数据和所有相关信息的集合。</a:t>
            </a:r>
          </a:p>
        </p:txBody>
      </p:sp>
      <p:sp>
        <p:nvSpPr>
          <p:cNvPr id="41" name="TextBox 7"/>
          <p:cNvSpPr txBox="1"/>
          <p:nvPr/>
        </p:nvSpPr>
        <p:spPr>
          <a:xfrm>
            <a:off x="2277796" y="3204390"/>
            <a:ext cx="8387094" cy="499624"/>
          </a:xfrm>
          <a:prstGeom prst="rect">
            <a:avLst/>
          </a:prstGeom>
          <a:noFill/>
        </p:spPr>
        <p:txBody>
          <a:bodyPr wrap="square" rtlCol="0">
            <a:spAutoFit/>
          </a:bodyPr>
          <a:lstStyle/>
          <a:p>
            <a:pPr defTabSz="1219200">
              <a:lnSpc>
                <a:spcPct val="150000"/>
              </a:lnSpc>
            </a:pP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数据集有一个应用于所有波段的栅格大小的概念（由像素或者行表示）。</a:t>
            </a:r>
          </a:p>
        </p:txBody>
      </p:sp>
      <p:sp>
        <p:nvSpPr>
          <p:cNvPr id="45" name="TextBox 7"/>
          <p:cNvSpPr txBox="1"/>
          <p:nvPr/>
        </p:nvSpPr>
        <p:spPr>
          <a:xfrm>
            <a:off x="2277525" y="4863863"/>
            <a:ext cx="7435642" cy="499624"/>
          </a:xfrm>
          <a:prstGeom prst="rect">
            <a:avLst/>
          </a:prstGeom>
          <a:noFill/>
        </p:spPr>
        <p:txBody>
          <a:bodyPr wrap="square" rtlCol="0">
            <a:spAutoFit/>
          </a:bodyPr>
          <a:lstStyle/>
          <a:p>
            <a:pPr defTabSz="1219200">
              <a:lnSpc>
                <a:spcPct val="150000"/>
              </a:lnSpc>
            </a:pP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数据集也负责所有波段数据的地理投影转换和坐标定义的任务。</a:t>
            </a:r>
            <a:endPar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250" advClick="0" advTm="8471">
        <p:push dir="u"/>
      </p:transition>
    </mc:Choice>
    <mc:Fallback xmlns="">
      <p:transition advClick="0" advTm="847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anim calcmode="lin" valueType="num">
                                      <p:cBhvr>
                                        <p:cTn id="16" dur="1000" fill="hold"/>
                                        <p:tgtEl>
                                          <p:spTgt spid="8"/>
                                        </p:tgtEl>
                                        <p:attrNameLst>
                                          <p:attrName>ppt_x</p:attrName>
                                        </p:attrNameLst>
                                      </p:cBhvr>
                                      <p:tavLst>
                                        <p:tav tm="0">
                                          <p:val>
                                            <p:strVal val="#ppt_x"/>
                                          </p:val>
                                        </p:tav>
                                        <p:tav tm="100000">
                                          <p:val>
                                            <p:strVal val="#ppt_x"/>
                                          </p:val>
                                        </p:tav>
                                      </p:tavLst>
                                    </p:anim>
                                    <p:anim calcmode="lin" valueType="num">
                                      <p:cBhvr>
                                        <p:cTn id="17" dur="1000" fill="hold"/>
                                        <p:tgtEl>
                                          <p:spTgt spid="8"/>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anim calcmode="lin" valueType="num">
                                      <p:cBhvr>
                                        <p:cTn id="21" dur="1000" fill="hold"/>
                                        <p:tgtEl>
                                          <p:spTgt spid="10"/>
                                        </p:tgtEl>
                                        <p:attrNameLst>
                                          <p:attrName>ppt_x</p:attrName>
                                        </p:attrNameLst>
                                      </p:cBhvr>
                                      <p:tavLst>
                                        <p:tav tm="0">
                                          <p:val>
                                            <p:strVal val="#ppt_x"/>
                                          </p:val>
                                        </p:tav>
                                        <p:tav tm="100000">
                                          <p:val>
                                            <p:strVal val="#ppt_x"/>
                                          </p:val>
                                        </p:tav>
                                      </p:tavLst>
                                    </p:anim>
                                    <p:anim calcmode="lin" valueType="num">
                                      <p:cBhvr>
                                        <p:cTn id="22" dur="1000" fill="hold"/>
                                        <p:tgtEl>
                                          <p:spTgt spid="10"/>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1000"/>
                                        <p:tgtEl>
                                          <p:spTgt spid="13"/>
                                        </p:tgtEl>
                                      </p:cBhvr>
                                    </p:animEffect>
                                    <p:anim calcmode="lin" valueType="num">
                                      <p:cBhvr>
                                        <p:cTn id="26" dur="1000" fill="hold"/>
                                        <p:tgtEl>
                                          <p:spTgt spid="13"/>
                                        </p:tgtEl>
                                        <p:attrNameLst>
                                          <p:attrName>ppt_x</p:attrName>
                                        </p:attrNameLst>
                                      </p:cBhvr>
                                      <p:tavLst>
                                        <p:tav tm="0">
                                          <p:val>
                                            <p:strVal val="#ppt_x"/>
                                          </p:val>
                                        </p:tav>
                                        <p:tav tm="100000">
                                          <p:val>
                                            <p:strVal val="#ppt_x"/>
                                          </p:val>
                                        </p:tav>
                                      </p:tavLst>
                                    </p:anim>
                                    <p:anim calcmode="lin" valueType="num">
                                      <p:cBhvr>
                                        <p:cTn id="27" dur="1000" fill="hold"/>
                                        <p:tgtEl>
                                          <p:spTgt spid="13"/>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fade">
                                      <p:cBhvr>
                                        <p:cTn id="30" dur="1000"/>
                                        <p:tgtEl>
                                          <p:spTgt spid="39"/>
                                        </p:tgtEl>
                                      </p:cBhvr>
                                    </p:animEffect>
                                    <p:anim calcmode="lin" valueType="num">
                                      <p:cBhvr>
                                        <p:cTn id="31" dur="1000" fill="hold"/>
                                        <p:tgtEl>
                                          <p:spTgt spid="39"/>
                                        </p:tgtEl>
                                        <p:attrNameLst>
                                          <p:attrName>ppt_x</p:attrName>
                                        </p:attrNameLst>
                                      </p:cBhvr>
                                      <p:tavLst>
                                        <p:tav tm="0">
                                          <p:val>
                                            <p:strVal val="#ppt_x"/>
                                          </p:val>
                                        </p:tav>
                                        <p:tav tm="100000">
                                          <p:val>
                                            <p:strVal val="#ppt_x"/>
                                          </p:val>
                                        </p:tav>
                                      </p:tavLst>
                                    </p:anim>
                                    <p:anim calcmode="lin" valueType="num">
                                      <p:cBhvr>
                                        <p:cTn id="32" dur="1000" fill="hold"/>
                                        <p:tgtEl>
                                          <p:spTgt spid="39"/>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1000"/>
                                        <p:tgtEl>
                                          <p:spTgt spid="41"/>
                                        </p:tgtEl>
                                      </p:cBhvr>
                                    </p:animEffect>
                                    <p:anim calcmode="lin" valueType="num">
                                      <p:cBhvr>
                                        <p:cTn id="36" dur="1000" fill="hold"/>
                                        <p:tgtEl>
                                          <p:spTgt spid="41"/>
                                        </p:tgtEl>
                                        <p:attrNameLst>
                                          <p:attrName>ppt_x</p:attrName>
                                        </p:attrNameLst>
                                      </p:cBhvr>
                                      <p:tavLst>
                                        <p:tav tm="0">
                                          <p:val>
                                            <p:strVal val="#ppt_x"/>
                                          </p:val>
                                        </p:tav>
                                        <p:tav tm="100000">
                                          <p:val>
                                            <p:strVal val="#ppt_x"/>
                                          </p:val>
                                        </p:tav>
                                      </p:tavLst>
                                    </p:anim>
                                    <p:anim calcmode="lin" valueType="num">
                                      <p:cBhvr>
                                        <p:cTn id="37" dur="1000" fill="hold"/>
                                        <p:tgtEl>
                                          <p:spTgt spid="41"/>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fade">
                                      <p:cBhvr>
                                        <p:cTn id="40" dur="1000"/>
                                        <p:tgtEl>
                                          <p:spTgt spid="45"/>
                                        </p:tgtEl>
                                      </p:cBhvr>
                                    </p:animEffect>
                                    <p:anim calcmode="lin" valueType="num">
                                      <p:cBhvr>
                                        <p:cTn id="41" dur="1000" fill="hold"/>
                                        <p:tgtEl>
                                          <p:spTgt spid="45"/>
                                        </p:tgtEl>
                                        <p:attrNameLst>
                                          <p:attrName>ppt_x</p:attrName>
                                        </p:attrNameLst>
                                      </p:cBhvr>
                                      <p:tavLst>
                                        <p:tav tm="0">
                                          <p:val>
                                            <p:strVal val="#ppt_x"/>
                                          </p:val>
                                        </p:tav>
                                        <p:tav tm="100000">
                                          <p:val>
                                            <p:strVal val="#ppt_x"/>
                                          </p:val>
                                        </p:tav>
                                      </p:tavLst>
                                    </p:anim>
                                    <p:anim calcmode="lin" valueType="num">
                                      <p:cBhvr>
                                        <p:cTn id="42"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9" grpId="0"/>
      <p:bldP spid="41" grpId="0"/>
      <p:bldP spid="4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a:extLst>
              <a:ext uri="{FF2B5EF4-FFF2-40B4-BE49-F238E27FC236}">
                <a16:creationId xmlns:a16="http://schemas.microsoft.com/office/drawing/2014/main" id="{E186135D-D989-45BE-AE7E-E2642DFBB19F}"/>
              </a:ext>
            </a:extLst>
          </p:cNvPr>
          <p:cNvSpPr/>
          <p:nvPr/>
        </p:nvSpPr>
        <p:spPr>
          <a:xfrm>
            <a:off x="8386435" y="1547387"/>
            <a:ext cx="2995585" cy="2995585"/>
          </a:xfrm>
          <a:prstGeom prst="ellipse">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p:cNvSpPr txBox="1"/>
          <p:nvPr/>
        </p:nvSpPr>
        <p:spPr>
          <a:xfrm>
            <a:off x="539982" y="440281"/>
            <a:ext cx="4582524" cy="461665"/>
          </a:xfrm>
          <a:prstGeom prst="rect">
            <a:avLst/>
          </a:prstGeom>
          <a:noFill/>
        </p:spPr>
        <p:txBody>
          <a:bodyPr wrap="square" rtlCol="0">
            <a:spAutoFit/>
          </a:bodyPr>
          <a:lstStyle/>
          <a:p>
            <a:pPr defTabSz="121920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打开数据集</a:t>
            </a:r>
          </a:p>
        </p:txBody>
      </p:sp>
      <p:grpSp>
        <p:nvGrpSpPr>
          <p:cNvPr id="6" name="组合 5">
            <a:extLst>
              <a:ext uri="{FF2B5EF4-FFF2-40B4-BE49-F238E27FC236}">
                <a16:creationId xmlns:a16="http://schemas.microsoft.com/office/drawing/2014/main" id="{5C24AE70-6C9E-4863-9D59-8BFDA46AB402}"/>
              </a:ext>
            </a:extLst>
          </p:cNvPr>
          <p:cNvGrpSpPr/>
          <p:nvPr/>
        </p:nvGrpSpPr>
        <p:grpSpPr>
          <a:xfrm>
            <a:off x="1083773" y="1463711"/>
            <a:ext cx="505943" cy="514803"/>
            <a:chOff x="3627907" y="1980747"/>
            <a:chExt cx="1105193" cy="762453"/>
          </a:xfrm>
        </p:grpSpPr>
        <p:sp>
          <p:nvSpPr>
            <p:cNvPr id="7" name="燕尾形 19">
              <a:extLst>
                <a:ext uri="{FF2B5EF4-FFF2-40B4-BE49-F238E27FC236}">
                  <a16:creationId xmlns:a16="http://schemas.microsoft.com/office/drawing/2014/main" id="{511AD270-B0EB-40BF-84BB-5F58FC4BE157}"/>
                </a:ext>
              </a:extLst>
            </p:cNvPr>
            <p:cNvSpPr/>
            <p:nvPr/>
          </p:nvSpPr>
          <p:spPr>
            <a:xfrm>
              <a:off x="3627907" y="2000250"/>
              <a:ext cx="601193" cy="742950"/>
            </a:xfrm>
            <a:prstGeom prst="chevron">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20">
              <a:extLst>
                <a:ext uri="{FF2B5EF4-FFF2-40B4-BE49-F238E27FC236}">
                  <a16:creationId xmlns:a16="http://schemas.microsoft.com/office/drawing/2014/main" id="{C0CF44E9-66FB-42C2-8BBB-6720AA792664}"/>
                </a:ext>
              </a:extLst>
            </p:cNvPr>
            <p:cNvSpPr/>
            <p:nvPr/>
          </p:nvSpPr>
          <p:spPr>
            <a:xfrm>
              <a:off x="4131907" y="1980747"/>
              <a:ext cx="601193" cy="742950"/>
            </a:xfrm>
            <a:prstGeom prst="chevron">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pic>
        <p:nvPicPr>
          <p:cNvPr id="9" name="图片 8">
            <a:extLst>
              <a:ext uri="{FF2B5EF4-FFF2-40B4-BE49-F238E27FC236}">
                <a16:creationId xmlns:a16="http://schemas.microsoft.com/office/drawing/2014/main" id="{EF2CDBD6-6372-44F9-AFCD-D9E82C5254EA}"/>
              </a:ext>
            </a:extLst>
          </p:cNvPr>
          <p:cNvPicPr>
            <a:picLocks noChangeAspect="1"/>
          </p:cNvPicPr>
          <p:nvPr/>
        </p:nvPicPr>
        <p:blipFill>
          <a:blip r:embed="rId4"/>
          <a:stretch>
            <a:fillRect/>
          </a:stretch>
        </p:blipFill>
        <p:spPr>
          <a:xfrm>
            <a:off x="8427158" y="1588917"/>
            <a:ext cx="2914141" cy="2914141"/>
          </a:xfrm>
          <a:prstGeom prst="rect">
            <a:avLst/>
          </a:prstGeom>
        </p:spPr>
      </p:pic>
      <p:grpSp>
        <p:nvGrpSpPr>
          <p:cNvPr id="10" name="组合 9">
            <a:extLst>
              <a:ext uri="{FF2B5EF4-FFF2-40B4-BE49-F238E27FC236}">
                <a16:creationId xmlns:a16="http://schemas.microsoft.com/office/drawing/2014/main" id="{87ABCDC3-5955-4B65-B720-15EC1394AA79}"/>
              </a:ext>
            </a:extLst>
          </p:cNvPr>
          <p:cNvGrpSpPr/>
          <p:nvPr/>
        </p:nvGrpSpPr>
        <p:grpSpPr>
          <a:xfrm>
            <a:off x="8183031" y="3661228"/>
            <a:ext cx="2119086" cy="2119086"/>
            <a:chOff x="5036457" y="2369456"/>
            <a:chExt cx="2119086" cy="2119086"/>
          </a:xfrm>
        </p:grpSpPr>
        <p:sp>
          <p:nvSpPr>
            <p:cNvPr id="11" name="椭圆 10">
              <a:extLst>
                <a:ext uri="{FF2B5EF4-FFF2-40B4-BE49-F238E27FC236}">
                  <a16:creationId xmlns:a16="http://schemas.microsoft.com/office/drawing/2014/main" id="{0A2406D2-B0A6-40C1-ACA6-D525ABDE671E}"/>
                </a:ext>
              </a:extLst>
            </p:cNvPr>
            <p:cNvSpPr/>
            <p:nvPr/>
          </p:nvSpPr>
          <p:spPr>
            <a:xfrm>
              <a:off x="5036457" y="2369456"/>
              <a:ext cx="2119086" cy="2119086"/>
            </a:xfrm>
            <a:prstGeom prst="ellipse">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2" name="图片 11">
              <a:extLst>
                <a:ext uri="{FF2B5EF4-FFF2-40B4-BE49-F238E27FC236}">
                  <a16:creationId xmlns:a16="http://schemas.microsoft.com/office/drawing/2014/main" id="{86298119-01B8-4573-ABA7-5584E89BD433}"/>
                </a:ext>
              </a:extLst>
            </p:cNvPr>
            <p:cNvPicPr>
              <a:picLocks noChangeAspect="1"/>
            </p:cNvPicPr>
            <p:nvPr/>
          </p:nvPicPr>
          <p:blipFill>
            <a:blip r:embed="rId5"/>
            <a:stretch>
              <a:fillRect/>
            </a:stretch>
          </p:blipFill>
          <p:spPr>
            <a:xfrm>
              <a:off x="5108362" y="2441362"/>
              <a:ext cx="1975275" cy="1975275"/>
            </a:xfrm>
            <a:prstGeom prst="rect">
              <a:avLst/>
            </a:prstGeom>
          </p:spPr>
        </p:pic>
      </p:grpSp>
      <p:sp>
        <p:nvSpPr>
          <p:cNvPr id="13" name="文本框 12">
            <a:extLst>
              <a:ext uri="{FF2B5EF4-FFF2-40B4-BE49-F238E27FC236}">
                <a16:creationId xmlns:a16="http://schemas.microsoft.com/office/drawing/2014/main" id="{1A0A8865-8A5C-4BAF-BFC0-329CF42C2D30}"/>
              </a:ext>
            </a:extLst>
          </p:cNvPr>
          <p:cNvSpPr txBox="1"/>
          <p:nvPr/>
        </p:nvSpPr>
        <p:spPr>
          <a:xfrm>
            <a:off x="1820441" y="1363663"/>
            <a:ext cx="5666256" cy="2807948"/>
          </a:xfrm>
          <a:prstGeom prst="rect">
            <a:avLst/>
          </a:prstGeom>
          <a:noFill/>
        </p:spPr>
        <p:txBody>
          <a:bodyPr wrap="square" rtlCol="0">
            <a:spAutoFit/>
          </a:bodyPr>
          <a:lstStyle/>
          <a:p>
            <a:pPr defTabSz="1219200">
              <a:lnSpc>
                <a:spcPct val="150000"/>
              </a:lnSpc>
            </a:pP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CString</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 </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strFilePath</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StrFilePath</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=’d:/</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rsdata</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/2005_234.tif’;</a:t>
            </a:r>
          </a:p>
          <a:p>
            <a:pPr defTabSz="1219200">
              <a:lnSpc>
                <a:spcPct val="150000"/>
              </a:lnSpc>
            </a:pP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GDALDataSet</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 *</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poDataset</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 //GDAL</a:t>
            </a:r>
            <a:r>
              <a:rPr lang="zh-CN" altLang="en-US" sz="2000" b="1" dirty="0">
                <a:solidFill>
                  <a:srgbClr val="686769"/>
                </a:solidFill>
                <a:latin typeface="方正黑体简体" panose="02010601030101010101" pitchFamily="2" charset="-122"/>
                <a:ea typeface="方正黑体简体" panose="02010601030101010101" pitchFamily="2" charset="-122"/>
                <a:cs typeface="+mn-ea"/>
                <a:sym typeface="+mn-lt"/>
              </a:rPr>
              <a:t>数据集</a:t>
            </a:r>
          </a:p>
          <a:p>
            <a:pPr defTabSz="1219200">
              <a:lnSpc>
                <a:spcPct val="150000"/>
              </a:lnSpc>
            </a:pP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GDALAllRegister</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2000" b="1" dirty="0" err="1">
                <a:solidFill>
                  <a:srgbClr val="FF0000"/>
                </a:solidFill>
                <a:latin typeface="方正黑体简体" panose="02010601030101010101" pitchFamily="2" charset="-122"/>
                <a:ea typeface="方正黑体简体" panose="02010601030101010101" pitchFamily="2" charset="-122"/>
                <a:cs typeface="+mn-ea"/>
                <a:sym typeface="+mn-lt"/>
              </a:rPr>
              <a:t>poDataset</a:t>
            </a:r>
            <a:r>
              <a:rPr lang="en-US" altLang="zh-CN" sz="2000" b="1" dirty="0">
                <a:solidFill>
                  <a:srgbClr val="FF0000"/>
                </a:solidFill>
                <a:latin typeface="方正黑体简体" panose="02010601030101010101" pitchFamily="2" charset="-122"/>
                <a:ea typeface="方正黑体简体" panose="02010601030101010101" pitchFamily="2" charset="-122"/>
                <a:cs typeface="+mn-ea"/>
                <a:sym typeface="+mn-lt"/>
              </a:rPr>
              <a:t> </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 (</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GDALDataset</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 *) </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GDALOpen</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strFilePath</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 </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GA_ReadOnly</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 );</a:t>
            </a:r>
            <a:endParaRPr lang="zh-CN" altLang="en-US" sz="2000" b="1" dirty="0">
              <a:solidFill>
                <a:srgbClr val="686769"/>
              </a:solidFill>
              <a:latin typeface="方正黑体简体" panose="02010601030101010101" pitchFamily="2" charset="-122"/>
              <a:ea typeface="方正黑体简体" panose="02010601030101010101" pitchFamily="2" charset="-122"/>
              <a:cs typeface="+mn-ea"/>
              <a:sym typeface="+mn-lt"/>
            </a:endParaRPr>
          </a:p>
        </p:txBody>
      </p:sp>
      <p:sp>
        <p:nvSpPr>
          <p:cNvPr id="16" name="TextBox 7">
            <a:extLst>
              <a:ext uri="{FF2B5EF4-FFF2-40B4-BE49-F238E27FC236}">
                <a16:creationId xmlns:a16="http://schemas.microsoft.com/office/drawing/2014/main" id="{2A6DFDDE-E01C-43C4-B6D7-4603760E68F9}"/>
              </a:ext>
            </a:extLst>
          </p:cNvPr>
          <p:cNvSpPr txBox="1"/>
          <p:nvPr/>
        </p:nvSpPr>
        <p:spPr>
          <a:xfrm>
            <a:off x="1741982" y="4243517"/>
            <a:ext cx="6369144" cy="1884618"/>
          </a:xfrm>
          <a:prstGeom prst="rect">
            <a:avLst/>
          </a:prstGeom>
          <a:noFill/>
        </p:spPr>
        <p:txBody>
          <a:bodyPr wrap="square" rtlCol="0">
            <a:spAutoFit/>
          </a:bodyPr>
          <a:lstStyle/>
          <a:p>
            <a:pPr marL="342900" indent="-342900" defTabSz="1219200">
              <a:lnSpc>
                <a:spcPct val="150000"/>
              </a:lnSpc>
              <a:buFont typeface="Wingdings" panose="05000000000000000000" pitchFamily="2" charset="2"/>
              <a:buChar char="l"/>
            </a:pP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数据（影像）操作的</a:t>
            </a:r>
            <a:r>
              <a:rPr lang="zh-CN" altLang="en-US" sz="2000" dirty="0">
                <a:solidFill>
                  <a:srgbClr val="FF0000"/>
                </a:solidFill>
                <a:latin typeface="方正黑体简体" panose="02010601030101010101" pitchFamily="2" charset="-122"/>
                <a:ea typeface="方正黑体简体" panose="02010601030101010101" pitchFamily="2" charset="-122"/>
                <a:cs typeface="+mn-ea"/>
                <a:sym typeface="+mn-lt"/>
              </a:rPr>
              <a:t>第一步</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就是打开一个数据集</a:t>
            </a:r>
            <a:endParaRPr lang="en-US" altLang="zh-CN" sz="2000" dirty="0">
              <a:solidFill>
                <a:srgbClr val="4F4D50"/>
              </a:solidFill>
              <a:latin typeface="方正黑体简体" panose="02010601030101010101" pitchFamily="2" charset="-122"/>
              <a:ea typeface="方正黑体简体" panose="02010601030101010101" pitchFamily="2" charset="-122"/>
              <a:cs typeface="+mn-ea"/>
              <a:sym typeface="+mn-lt"/>
            </a:endParaRPr>
          </a:p>
          <a:p>
            <a:pPr marL="342900" indent="-342900" defTabSz="1219200">
              <a:lnSpc>
                <a:spcPct val="150000"/>
              </a:lnSpc>
              <a:buFont typeface="Wingdings" panose="05000000000000000000" pitchFamily="2" charset="2"/>
              <a:buChar char="l"/>
            </a:pP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对于一般的格式来说，一个“数据集”就是一个文件，比如一个</a:t>
            </a:r>
            <a:r>
              <a:rPr lang="en-US" altLang="zh-CN" sz="2000" dirty="0">
                <a:solidFill>
                  <a:srgbClr val="4F4D50"/>
                </a:solidFill>
                <a:latin typeface="方正黑体简体" panose="02010601030101010101" pitchFamily="2" charset="-122"/>
                <a:ea typeface="方正黑体简体" panose="02010601030101010101" pitchFamily="2" charset="-122"/>
                <a:cs typeface="+mn-ea"/>
                <a:sym typeface="+mn-lt"/>
              </a:rPr>
              <a:t>TIFF</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文件就是一个以</a:t>
            </a:r>
            <a:r>
              <a:rPr lang="en-US" altLang="zh-CN" sz="2000" dirty="0">
                <a:solidFill>
                  <a:srgbClr val="4F4D50"/>
                </a:solidFill>
                <a:latin typeface="方正黑体简体" panose="02010601030101010101" pitchFamily="2" charset="-122"/>
                <a:ea typeface="方正黑体简体" panose="02010601030101010101" pitchFamily="2" charset="-122"/>
                <a:cs typeface="+mn-ea"/>
                <a:sym typeface="+mn-lt"/>
              </a:rPr>
              <a:t>tiff</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为扩展名的文件</a:t>
            </a:r>
            <a:endParaRPr lang="en-US" altLang="zh-CN" sz="2000" dirty="0">
              <a:solidFill>
                <a:srgbClr val="4F4D50"/>
              </a:solidFill>
              <a:latin typeface="方正黑体简体" panose="02010601030101010101" pitchFamily="2" charset="-122"/>
              <a:ea typeface="方正黑体简体" panose="02010601030101010101" pitchFamily="2" charset="-122"/>
              <a:cs typeface="+mn-ea"/>
              <a:sym typeface="+mn-lt"/>
            </a:endParaRPr>
          </a:p>
          <a:p>
            <a:pPr marL="342900" indent="-342900" defTabSz="1219200">
              <a:lnSpc>
                <a:spcPct val="150000"/>
              </a:lnSpc>
              <a:buFont typeface="Wingdings" panose="05000000000000000000" pitchFamily="2" charset="2"/>
              <a:buChar char="l"/>
            </a:pP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通过</a:t>
            </a:r>
            <a:r>
              <a:rPr lang="zh-CN" altLang="en-US" sz="2000" dirty="0">
                <a:solidFill>
                  <a:srgbClr val="FF0000"/>
                </a:solidFill>
                <a:latin typeface="方正黑体简体" panose="02010601030101010101" pitchFamily="2" charset="-122"/>
                <a:ea typeface="方正黑体简体" panose="02010601030101010101" pitchFamily="2" charset="-122"/>
                <a:cs typeface="+mn-ea"/>
                <a:sym typeface="+mn-lt"/>
              </a:rPr>
              <a:t>数据集</a:t>
            </a:r>
            <a:r>
              <a:rPr lang="en-US" altLang="zh-CN" sz="2000" dirty="0" err="1">
                <a:solidFill>
                  <a:srgbClr val="FF0000"/>
                </a:solidFill>
                <a:latin typeface="方正黑体简体" panose="02010601030101010101" pitchFamily="2" charset="-122"/>
                <a:ea typeface="方正黑体简体" panose="02010601030101010101" pitchFamily="2" charset="-122"/>
                <a:cs typeface="+mn-ea"/>
                <a:sym typeface="+mn-lt"/>
              </a:rPr>
              <a:t>poDataset</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即可调用各功能函数</a:t>
            </a:r>
          </a:p>
        </p:txBody>
      </p:sp>
    </p:spTree>
    <p:extLst>
      <p:ext uri="{BB962C8B-B14F-4D97-AF65-F5344CB8AC3E}">
        <p14:creationId xmlns:p14="http://schemas.microsoft.com/office/powerpoint/2010/main" val="3930241094"/>
      </p:ext>
    </p:extLst>
  </p:cSld>
  <p:clrMapOvr>
    <a:masterClrMapping/>
  </p:clrMapOvr>
  <mc:AlternateContent xmlns:mc="http://schemas.openxmlformats.org/markup-compatibility/2006" xmlns:p14="http://schemas.microsoft.com/office/powerpoint/2010/main">
    <mc:Choice Requires="p14">
      <p:transition p14:dur="250" advClick="0" advTm="8471">
        <p:push dir="u"/>
      </p:transition>
    </mc:Choice>
    <mc:Fallback xmlns="">
      <p:transition advClick="0" advTm="847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0-#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500" fill="hold"/>
                                        <p:tgtEl>
                                          <p:spTgt spid="9"/>
                                        </p:tgtEl>
                                        <p:attrNameLst>
                                          <p:attrName>ppt_w</p:attrName>
                                        </p:attrNameLst>
                                      </p:cBhvr>
                                      <p:tavLst>
                                        <p:tav tm="0">
                                          <p:val>
                                            <p:fltVal val="0"/>
                                          </p:val>
                                        </p:tav>
                                        <p:tav tm="100000">
                                          <p:val>
                                            <p:strVal val="#ppt_w"/>
                                          </p:val>
                                        </p:tav>
                                      </p:tavLst>
                                    </p:anim>
                                    <p:anim calcmode="lin" valueType="num">
                                      <p:cBhvr>
                                        <p:cTn id="24" dur="500" fill="hold"/>
                                        <p:tgtEl>
                                          <p:spTgt spid="9"/>
                                        </p:tgtEl>
                                        <p:attrNameLst>
                                          <p:attrName>ppt_h</p:attrName>
                                        </p:attrNameLst>
                                      </p:cBhvr>
                                      <p:tavLst>
                                        <p:tav tm="0">
                                          <p:val>
                                            <p:fltVal val="0"/>
                                          </p:val>
                                        </p:tav>
                                        <p:tav tm="100000">
                                          <p:val>
                                            <p:strVal val="#ppt_h"/>
                                          </p:val>
                                        </p:tav>
                                      </p:tavLst>
                                    </p:anim>
                                    <p:animEffect transition="in" filter="fade">
                                      <p:cBhvr>
                                        <p:cTn id="25" dur="500"/>
                                        <p:tgtEl>
                                          <p:spTgt spid="9"/>
                                        </p:tgtEl>
                                      </p:cBhvr>
                                    </p:animEffect>
                                  </p:childTnLst>
                                </p:cTn>
                              </p:par>
                              <p:par>
                                <p:cTn id="26" presetID="53" presetClass="entr" presetSubtype="16"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par>
                                <p:cTn id="31" presetID="42"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1000"/>
                                        <p:tgtEl>
                                          <p:spTgt spid="13"/>
                                        </p:tgtEl>
                                      </p:cBhvr>
                                    </p:animEffect>
                                    <p:anim calcmode="lin" valueType="num">
                                      <p:cBhvr>
                                        <p:cTn id="34" dur="1000" fill="hold"/>
                                        <p:tgtEl>
                                          <p:spTgt spid="13"/>
                                        </p:tgtEl>
                                        <p:attrNameLst>
                                          <p:attrName>ppt_x</p:attrName>
                                        </p:attrNameLst>
                                      </p:cBhvr>
                                      <p:tavLst>
                                        <p:tav tm="0">
                                          <p:val>
                                            <p:strVal val="#ppt_x"/>
                                          </p:val>
                                        </p:tav>
                                        <p:tav tm="100000">
                                          <p:val>
                                            <p:strVal val="#ppt_x"/>
                                          </p:val>
                                        </p:tav>
                                      </p:tavLst>
                                    </p:anim>
                                    <p:anim calcmode="lin" valueType="num">
                                      <p:cBhvr>
                                        <p:cTn id="35" dur="1000" fill="hold"/>
                                        <p:tgtEl>
                                          <p:spTgt spid="13"/>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1000"/>
                                        <p:tgtEl>
                                          <p:spTgt spid="16"/>
                                        </p:tgtEl>
                                      </p:cBhvr>
                                    </p:animEffect>
                                    <p:anim calcmode="lin" valueType="num">
                                      <p:cBhvr>
                                        <p:cTn id="39" dur="1000" fill="hold"/>
                                        <p:tgtEl>
                                          <p:spTgt spid="16"/>
                                        </p:tgtEl>
                                        <p:attrNameLst>
                                          <p:attrName>ppt_x</p:attrName>
                                        </p:attrNameLst>
                                      </p:cBhvr>
                                      <p:tavLst>
                                        <p:tav tm="0">
                                          <p:val>
                                            <p:strVal val="#ppt_x"/>
                                          </p:val>
                                        </p:tav>
                                        <p:tav tm="100000">
                                          <p:val>
                                            <p:strVal val="#ppt_x"/>
                                          </p:val>
                                        </p:tav>
                                      </p:tavLst>
                                    </p:anim>
                                    <p:anim calcmode="lin" valueType="num">
                                      <p:cBhvr>
                                        <p:cTn id="4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a:extLst>
              <a:ext uri="{FF2B5EF4-FFF2-40B4-BE49-F238E27FC236}">
                <a16:creationId xmlns:a16="http://schemas.microsoft.com/office/drawing/2014/main" id="{E186135D-D989-45BE-AE7E-E2642DFBB19F}"/>
              </a:ext>
            </a:extLst>
          </p:cNvPr>
          <p:cNvSpPr/>
          <p:nvPr/>
        </p:nvSpPr>
        <p:spPr>
          <a:xfrm>
            <a:off x="8386435" y="1547387"/>
            <a:ext cx="2995585" cy="2995585"/>
          </a:xfrm>
          <a:prstGeom prst="ellipse">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p:cNvSpPr txBox="1"/>
          <p:nvPr/>
        </p:nvSpPr>
        <p:spPr>
          <a:xfrm>
            <a:off x="539982" y="440281"/>
            <a:ext cx="4582524" cy="461665"/>
          </a:xfrm>
          <a:prstGeom prst="rect">
            <a:avLst/>
          </a:prstGeom>
          <a:noFill/>
        </p:spPr>
        <p:txBody>
          <a:bodyPr wrap="square" rtlCol="0">
            <a:spAutoFit/>
          </a:bodyPr>
          <a:lstStyle/>
          <a:p>
            <a:pPr defTabSz="121920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调用功能函数</a:t>
            </a:r>
          </a:p>
        </p:txBody>
      </p:sp>
      <p:grpSp>
        <p:nvGrpSpPr>
          <p:cNvPr id="6" name="组合 5">
            <a:extLst>
              <a:ext uri="{FF2B5EF4-FFF2-40B4-BE49-F238E27FC236}">
                <a16:creationId xmlns:a16="http://schemas.microsoft.com/office/drawing/2014/main" id="{5C24AE70-6C9E-4863-9D59-8BFDA46AB402}"/>
              </a:ext>
            </a:extLst>
          </p:cNvPr>
          <p:cNvGrpSpPr/>
          <p:nvPr/>
        </p:nvGrpSpPr>
        <p:grpSpPr>
          <a:xfrm>
            <a:off x="1083773" y="1463711"/>
            <a:ext cx="505943" cy="514803"/>
            <a:chOff x="3627907" y="1980747"/>
            <a:chExt cx="1105193" cy="762453"/>
          </a:xfrm>
        </p:grpSpPr>
        <p:sp>
          <p:nvSpPr>
            <p:cNvPr id="7" name="燕尾形 19">
              <a:extLst>
                <a:ext uri="{FF2B5EF4-FFF2-40B4-BE49-F238E27FC236}">
                  <a16:creationId xmlns:a16="http://schemas.microsoft.com/office/drawing/2014/main" id="{511AD270-B0EB-40BF-84BB-5F58FC4BE157}"/>
                </a:ext>
              </a:extLst>
            </p:cNvPr>
            <p:cNvSpPr/>
            <p:nvPr/>
          </p:nvSpPr>
          <p:spPr>
            <a:xfrm>
              <a:off x="3627907" y="2000250"/>
              <a:ext cx="601193" cy="742950"/>
            </a:xfrm>
            <a:prstGeom prst="chevron">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20">
              <a:extLst>
                <a:ext uri="{FF2B5EF4-FFF2-40B4-BE49-F238E27FC236}">
                  <a16:creationId xmlns:a16="http://schemas.microsoft.com/office/drawing/2014/main" id="{C0CF44E9-66FB-42C2-8BBB-6720AA792664}"/>
                </a:ext>
              </a:extLst>
            </p:cNvPr>
            <p:cNvSpPr/>
            <p:nvPr/>
          </p:nvSpPr>
          <p:spPr>
            <a:xfrm>
              <a:off x="4131907" y="1980747"/>
              <a:ext cx="601193" cy="742950"/>
            </a:xfrm>
            <a:prstGeom prst="chevron">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pic>
        <p:nvPicPr>
          <p:cNvPr id="9" name="图片 8">
            <a:extLst>
              <a:ext uri="{FF2B5EF4-FFF2-40B4-BE49-F238E27FC236}">
                <a16:creationId xmlns:a16="http://schemas.microsoft.com/office/drawing/2014/main" id="{EF2CDBD6-6372-44F9-AFCD-D9E82C5254EA}"/>
              </a:ext>
            </a:extLst>
          </p:cNvPr>
          <p:cNvPicPr>
            <a:picLocks noChangeAspect="1"/>
          </p:cNvPicPr>
          <p:nvPr/>
        </p:nvPicPr>
        <p:blipFill>
          <a:blip r:embed="rId4"/>
          <a:stretch>
            <a:fillRect/>
          </a:stretch>
        </p:blipFill>
        <p:spPr>
          <a:xfrm>
            <a:off x="8427158" y="1588917"/>
            <a:ext cx="2914141" cy="2914141"/>
          </a:xfrm>
          <a:prstGeom prst="rect">
            <a:avLst/>
          </a:prstGeom>
        </p:spPr>
      </p:pic>
      <p:grpSp>
        <p:nvGrpSpPr>
          <p:cNvPr id="10" name="组合 9">
            <a:extLst>
              <a:ext uri="{FF2B5EF4-FFF2-40B4-BE49-F238E27FC236}">
                <a16:creationId xmlns:a16="http://schemas.microsoft.com/office/drawing/2014/main" id="{87ABCDC3-5955-4B65-B720-15EC1394AA79}"/>
              </a:ext>
            </a:extLst>
          </p:cNvPr>
          <p:cNvGrpSpPr/>
          <p:nvPr/>
        </p:nvGrpSpPr>
        <p:grpSpPr>
          <a:xfrm>
            <a:off x="8183031" y="3661228"/>
            <a:ext cx="2119086" cy="2119086"/>
            <a:chOff x="5036457" y="2369456"/>
            <a:chExt cx="2119086" cy="2119086"/>
          </a:xfrm>
        </p:grpSpPr>
        <p:sp>
          <p:nvSpPr>
            <p:cNvPr id="11" name="椭圆 10">
              <a:extLst>
                <a:ext uri="{FF2B5EF4-FFF2-40B4-BE49-F238E27FC236}">
                  <a16:creationId xmlns:a16="http://schemas.microsoft.com/office/drawing/2014/main" id="{0A2406D2-B0A6-40C1-ACA6-D525ABDE671E}"/>
                </a:ext>
              </a:extLst>
            </p:cNvPr>
            <p:cNvSpPr/>
            <p:nvPr/>
          </p:nvSpPr>
          <p:spPr>
            <a:xfrm>
              <a:off x="5036457" y="2369456"/>
              <a:ext cx="2119086" cy="2119086"/>
            </a:xfrm>
            <a:prstGeom prst="ellipse">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2" name="图片 11">
              <a:extLst>
                <a:ext uri="{FF2B5EF4-FFF2-40B4-BE49-F238E27FC236}">
                  <a16:creationId xmlns:a16="http://schemas.microsoft.com/office/drawing/2014/main" id="{86298119-01B8-4573-ABA7-5584E89BD433}"/>
                </a:ext>
              </a:extLst>
            </p:cNvPr>
            <p:cNvPicPr>
              <a:picLocks noChangeAspect="1"/>
            </p:cNvPicPr>
            <p:nvPr/>
          </p:nvPicPr>
          <p:blipFill>
            <a:blip r:embed="rId5"/>
            <a:stretch>
              <a:fillRect/>
            </a:stretch>
          </p:blipFill>
          <p:spPr>
            <a:xfrm>
              <a:off x="5108362" y="2441362"/>
              <a:ext cx="1975275" cy="1975275"/>
            </a:xfrm>
            <a:prstGeom prst="rect">
              <a:avLst/>
            </a:prstGeom>
          </p:spPr>
        </p:pic>
      </p:grpSp>
      <p:sp>
        <p:nvSpPr>
          <p:cNvPr id="13" name="文本框 12">
            <a:extLst>
              <a:ext uri="{FF2B5EF4-FFF2-40B4-BE49-F238E27FC236}">
                <a16:creationId xmlns:a16="http://schemas.microsoft.com/office/drawing/2014/main" id="{1A0A8865-8A5C-4BAF-BFC0-329CF42C2D30}"/>
              </a:ext>
            </a:extLst>
          </p:cNvPr>
          <p:cNvSpPr txBox="1"/>
          <p:nvPr/>
        </p:nvSpPr>
        <p:spPr>
          <a:xfrm>
            <a:off x="1820441" y="1363663"/>
            <a:ext cx="5666256" cy="3269613"/>
          </a:xfrm>
          <a:prstGeom prst="rect">
            <a:avLst/>
          </a:prstGeom>
          <a:noFill/>
        </p:spPr>
        <p:txBody>
          <a:bodyPr wrap="square" rtlCol="0">
            <a:spAutoFit/>
          </a:bodyPr>
          <a:lstStyle/>
          <a:p>
            <a:pPr defTabSz="1219200">
              <a:lnSpc>
                <a:spcPct val="150000"/>
              </a:lnSpc>
            </a:pP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GetRasterCount</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zh-CN" altLang="en-US" sz="2000" b="1" dirty="0">
                <a:solidFill>
                  <a:srgbClr val="686769"/>
                </a:solidFill>
                <a:latin typeface="方正黑体简体" panose="02010601030101010101" pitchFamily="2" charset="-122"/>
                <a:ea typeface="方正黑体简体" panose="02010601030101010101" pitchFamily="2" charset="-122"/>
                <a:cs typeface="+mn-ea"/>
                <a:sym typeface="+mn-lt"/>
              </a:rPr>
              <a:t>获取图像波段数；</a:t>
            </a:r>
          </a:p>
          <a:p>
            <a:pPr defTabSz="1219200">
              <a:lnSpc>
                <a:spcPct val="150000"/>
              </a:lnSpc>
            </a:pP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GetRasterXSize</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zh-CN" altLang="en-US" sz="2000" b="1" dirty="0">
                <a:solidFill>
                  <a:srgbClr val="686769"/>
                </a:solidFill>
                <a:latin typeface="方正黑体简体" panose="02010601030101010101" pitchFamily="2" charset="-122"/>
                <a:ea typeface="方正黑体简体" panose="02010601030101010101" pitchFamily="2" charset="-122"/>
                <a:cs typeface="+mn-ea"/>
                <a:sym typeface="+mn-lt"/>
              </a:rPr>
              <a:t>获取图像宽度</a:t>
            </a:r>
          </a:p>
          <a:p>
            <a:pPr defTabSz="1219200">
              <a:lnSpc>
                <a:spcPct val="150000"/>
              </a:lnSpc>
            </a:pP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GetRasterYSize</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zh-CN" altLang="en-US" sz="2000" b="1" dirty="0">
                <a:solidFill>
                  <a:srgbClr val="686769"/>
                </a:solidFill>
                <a:latin typeface="方正黑体简体" panose="02010601030101010101" pitchFamily="2" charset="-122"/>
                <a:ea typeface="方正黑体简体" panose="02010601030101010101" pitchFamily="2" charset="-122"/>
                <a:cs typeface="+mn-ea"/>
                <a:sym typeface="+mn-lt"/>
              </a:rPr>
              <a:t>获取图像高度</a:t>
            </a:r>
          </a:p>
          <a:p>
            <a:pPr defTabSz="1219200">
              <a:lnSpc>
                <a:spcPct val="150000"/>
              </a:lnSpc>
            </a:pP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GetRasterBand</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zh-CN" altLang="en-US" sz="2000" b="1" dirty="0">
                <a:solidFill>
                  <a:srgbClr val="686769"/>
                </a:solidFill>
                <a:latin typeface="方正黑体简体" panose="02010601030101010101" pitchFamily="2" charset="-122"/>
                <a:ea typeface="方正黑体简体" panose="02010601030101010101" pitchFamily="2" charset="-122"/>
                <a:cs typeface="+mn-ea"/>
                <a:sym typeface="+mn-lt"/>
              </a:rPr>
              <a:t>获取图像某一波段</a:t>
            </a:r>
          </a:p>
          <a:p>
            <a:pPr defTabSz="1219200">
              <a:lnSpc>
                <a:spcPct val="150000"/>
              </a:lnSpc>
            </a:pP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GetGeoTransform</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(double *p);//</a:t>
            </a:r>
            <a:r>
              <a:rPr lang="zh-CN" altLang="en-US" sz="2000" b="1" dirty="0">
                <a:solidFill>
                  <a:srgbClr val="686769"/>
                </a:solidFill>
                <a:latin typeface="方正黑体简体" panose="02010601030101010101" pitchFamily="2" charset="-122"/>
                <a:ea typeface="方正黑体简体" panose="02010601030101010101" pitchFamily="2" charset="-122"/>
                <a:cs typeface="+mn-ea"/>
                <a:sym typeface="+mn-lt"/>
              </a:rPr>
              <a:t>获取图像地理坐标信息长度为六的数组</a:t>
            </a:r>
          </a:p>
          <a:p>
            <a:pPr defTabSz="1219200">
              <a:lnSpc>
                <a:spcPct val="150000"/>
              </a:lnSpc>
            </a:pP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RasterIO</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zh-CN" altLang="en-US" sz="2000" b="1" dirty="0">
                <a:solidFill>
                  <a:srgbClr val="686769"/>
                </a:solidFill>
                <a:latin typeface="方正黑体简体" panose="02010601030101010101" pitchFamily="2" charset="-122"/>
                <a:ea typeface="方正黑体简体" panose="02010601030101010101" pitchFamily="2" charset="-122"/>
                <a:cs typeface="+mn-ea"/>
                <a:sym typeface="+mn-lt"/>
              </a:rPr>
              <a:t>对图像数据进行缩放读和写</a:t>
            </a:r>
          </a:p>
        </p:txBody>
      </p:sp>
      <p:sp>
        <p:nvSpPr>
          <p:cNvPr id="14" name="TextBox 7">
            <a:extLst>
              <a:ext uri="{FF2B5EF4-FFF2-40B4-BE49-F238E27FC236}">
                <a16:creationId xmlns:a16="http://schemas.microsoft.com/office/drawing/2014/main" id="{55AEB2E6-2524-4C6D-A408-B4F4F93C129E}"/>
              </a:ext>
            </a:extLst>
          </p:cNvPr>
          <p:cNvSpPr txBox="1"/>
          <p:nvPr/>
        </p:nvSpPr>
        <p:spPr>
          <a:xfrm>
            <a:off x="1820441" y="4969469"/>
            <a:ext cx="8708037" cy="961289"/>
          </a:xfrm>
          <a:prstGeom prst="rect">
            <a:avLst/>
          </a:prstGeom>
          <a:noFill/>
        </p:spPr>
        <p:txBody>
          <a:bodyPr wrap="square" rtlCol="0">
            <a:spAutoFit/>
          </a:bodyPr>
          <a:lstStyle/>
          <a:p>
            <a:pPr marL="342900" indent="-342900" defTabSz="1219200">
              <a:lnSpc>
                <a:spcPct val="150000"/>
              </a:lnSpc>
              <a:buFont typeface="Wingdings" panose="05000000000000000000" pitchFamily="2" charset="2"/>
              <a:buChar char="l"/>
            </a:pP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通过数据集</a:t>
            </a:r>
            <a:r>
              <a:rPr lang="en-US" altLang="zh-CN" sz="2000" dirty="0" err="1">
                <a:solidFill>
                  <a:srgbClr val="4F4D50"/>
                </a:solidFill>
                <a:latin typeface="方正黑体简体" panose="02010601030101010101" pitchFamily="2" charset="-122"/>
                <a:ea typeface="方正黑体简体" panose="02010601030101010101" pitchFamily="2" charset="-122"/>
                <a:cs typeface="+mn-ea"/>
                <a:sym typeface="+mn-lt"/>
              </a:rPr>
              <a:t>poDataset</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即可调用各功能函数</a:t>
            </a:r>
            <a:endParaRPr lang="en-US" altLang="zh-CN" sz="2000" dirty="0">
              <a:solidFill>
                <a:srgbClr val="4F4D50"/>
              </a:solidFill>
              <a:latin typeface="方正黑体简体" panose="02010601030101010101" pitchFamily="2" charset="-122"/>
              <a:ea typeface="方正黑体简体" panose="02010601030101010101" pitchFamily="2" charset="-122"/>
              <a:cs typeface="+mn-ea"/>
              <a:sym typeface="+mn-lt"/>
            </a:endParaRPr>
          </a:p>
          <a:p>
            <a:pPr marL="342900" indent="-342900" defTabSz="1219200">
              <a:lnSpc>
                <a:spcPct val="150000"/>
              </a:lnSpc>
              <a:buFont typeface="Wingdings" panose="05000000000000000000" pitchFamily="2" charset="2"/>
              <a:buChar char="l"/>
            </a:pP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获取图像波段数、宽度高度、波段等信息</a:t>
            </a:r>
          </a:p>
        </p:txBody>
      </p:sp>
    </p:spTree>
    <p:extLst>
      <p:ext uri="{BB962C8B-B14F-4D97-AF65-F5344CB8AC3E}">
        <p14:creationId xmlns:p14="http://schemas.microsoft.com/office/powerpoint/2010/main" val="1682121540"/>
      </p:ext>
    </p:extLst>
  </p:cSld>
  <p:clrMapOvr>
    <a:masterClrMapping/>
  </p:clrMapOvr>
  <mc:AlternateContent xmlns:mc="http://schemas.openxmlformats.org/markup-compatibility/2006" xmlns:p14="http://schemas.microsoft.com/office/powerpoint/2010/main">
    <mc:Choice Requires="p14">
      <p:transition p14:dur="250" advClick="0" advTm="8471">
        <p:push dir="u"/>
      </p:transition>
    </mc:Choice>
    <mc:Fallback xmlns="">
      <p:transition advClick="0" advTm="847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0-#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500" fill="hold"/>
                                        <p:tgtEl>
                                          <p:spTgt spid="9"/>
                                        </p:tgtEl>
                                        <p:attrNameLst>
                                          <p:attrName>ppt_w</p:attrName>
                                        </p:attrNameLst>
                                      </p:cBhvr>
                                      <p:tavLst>
                                        <p:tav tm="0">
                                          <p:val>
                                            <p:fltVal val="0"/>
                                          </p:val>
                                        </p:tav>
                                        <p:tav tm="100000">
                                          <p:val>
                                            <p:strVal val="#ppt_w"/>
                                          </p:val>
                                        </p:tav>
                                      </p:tavLst>
                                    </p:anim>
                                    <p:anim calcmode="lin" valueType="num">
                                      <p:cBhvr>
                                        <p:cTn id="24" dur="500" fill="hold"/>
                                        <p:tgtEl>
                                          <p:spTgt spid="9"/>
                                        </p:tgtEl>
                                        <p:attrNameLst>
                                          <p:attrName>ppt_h</p:attrName>
                                        </p:attrNameLst>
                                      </p:cBhvr>
                                      <p:tavLst>
                                        <p:tav tm="0">
                                          <p:val>
                                            <p:fltVal val="0"/>
                                          </p:val>
                                        </p:tav>
                                        <p:tav tm="100000">
                                          <p:val>
                                            <p:strVal val="#ppt_h"/>
                                          </p:val>
                                        </p:tav>
                                      </p:tavLst>
                                    </p:anim>
                                    <p:animEffect transition="in" filter="fade">
                                      <p:cBhvr>
                                        <p:cTn id="25" dur="500"/>
                                        <p:tgtEl>
                                          <p:spTgt spid="9"/>
                                        </p:tgtEl>
                                      </p:cBhvr>
                                    </p:animEffect>
                                  </p:childTnLst>
                                </p:cTn>
                              </p:par>
                              <p:par>
                                <p:cTn id="26" presetID="53" presetClass="entr" presetSubtype="16"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par>
                                <p:cTn id="31" presetID="42"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1000"/>
                                        <p:tgtEl>
                                          <p:spTgt spid="13"/>
                                        </p:tgtEl>
                                      </p:cBhvr>
                                    </p:animEffect>
                                    <p:anim calcmode="lin" valueType="num">
                                      <p:cBhvr>
                                        <p:cTn id="34" dur="1000" fill="hold"/>
                                        <p:tgtEl>
                                          <p:spTgt spid="13"/>
                                        </p:tgtEl>
                                        <p:attrNameLst>
                                          <p:attrName>ppt_x</p:attrName>
                                        </p:attrNameLst>
                                      </p:cBhvr>
                                      <p:tavLst>
                                        <p:tav tm="0">
                                          <p:val>
                                            <p:strVal val="#ppt_x"/>
                                          </p:val>
                                        </p:tav>
                                        <p:tav tm="100000">
                                          <p:val>
                                            <p:strVal val="#ppt_x"/>
                                          </p:val>
                                        </p:tav>
                                      </p:tavLst>
                                    </p:anim>
                                    <p:anim calcmode="lin" valueType="num">
                                      <p:cBhvr>
                                        <p:cTn id="35" dur="1000" fill="hold"/>
                                        <p:tgtEl>
                                          <p:spTgt spid="13"/>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1000"/>
                                        <p:tgtEl>
                                          <p:spTgt spid="14"/>
                                        </p:tgtEl>
                                      </p:cBhvr>
                                    </p:animEffect>
                                    <p:anim calcmode="lin" valueType="num">
                                      <p:cBhvr>
                                        <p:cTn id="39" dur="1000" fill="hold"/>
                                        <p:tgtEl>
                                          <p:spTgt spid="14"/>
                                        </p:tgtEl>
                                        <p:attrNameLst>
                                          <p:attrName>ppt_x</p:attrName>
                                        </p:attrNameLst>
                                      </p:cBhvr>
                                      <p:tavLst>
                                        <p:tav tm="0">
                                          <p:val>
                                            <p:strVal val="#ppt_x"/>
                                          </p:val>
                                        </p:tav>
                                        <p:tav tm="100000">
                                          <p:val>
                                            <p:strVal val="#ppt_x"/>
                                          </p:val>
                                        </p:tav>
                                      </p:tavLst>
                                    </p:anim>
                                    <p:anim calcmode="lin" valueType="num">
                                      <p:cBhvr>
                                        <p:cTn id="4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a:extLst>
              <a:ext uri="{FF2B5EF4-FFF2-40B4-BE49-F238E27FC236}">
                <a16:creationId xmlns:a16="http://schemas.microsoft.com/office/drawing/2014/main" id="{E186135D-D989-45BE-AE7E-E2642DFBB19F}"/>
              </a:ext>
            </a:extLst>
          </p:cNvPr>
          <p:cNvSpPr/>
          <p:nvPr/>
        </p:nvSpPr>
        <p:spPr>
          <a:xfrm>
            <a:off x="8386435" y="1547387"/>
            <a:ext cx="2995585" cy="2995585"/>
          </a:xfrm>
          <a:prstGeom prst="ellipse">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p:cNvSpPr txBox="1"/>
          <p:nvPr/>
        </p:nvSpPr>
        <p:spPr>
          <a:xfrm>
            <a:off x="539982" y="440281"/>
            <a:ext cx="4582524" cy="461665"/>
          </a:xfrm>
          <a:prstGeom prst="rect">
            <a:avLst/>
          </a:prstGeom>
          <a:noFill/>
        </p:spPr>
        <p:txBody>
          <a:bodyPr wrap="square" rtlCol="0">
            <a:spAutoFit/>
          </a:bodyPr>
          <a:lstStyle/>
          <a:p>
            <a:pPr defTabSz="121920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获取基本信息</a:t>
            </a:r>
          </a:p>
        </p:txBody>
      </p:sp>
      <p:grpSp>
        <p:nvGrpSpPr>
          <p:cNvPr id="6" name="组合 5">
            <a:extLst>
              <a:ext uri="{FF2B5EF4-FFF2-40B4-BE49-F238E27FC236}">
                <a16:creationId xmlns:a16="http://schemas.microsoft.com/office/drawing/2014/main" id="{5C24AE70-6C9E-4863-9D59-8BFDA46AB402}"/>
              </a:ext>
            </a:extLst>
          </p:cNvPr>
          <p:cNvGrpSpPr/>
          <p:nvPr/>
        </p:nvGrpSpPr>
        <p:grpSpPr>
          <a:xfrm>
            <a:off x="1083773" y="1463711"/>
            <a:ext cx="505943" cy="514803"/>
            <a:chOff x="3627907" y="1980747"/>
            <a:chExt cx="1105193" cy="762453"/>
          </a:xfrm>
        </p:grpSpPr>
        <p:sp>
          <p:nvSpPr>
            <p:cNvPr id="7" name="燕尾形 19">
              <a:extLst>
                <a:ext uri="{FF2B5EF4-FFF2-40B4-BE49-F238E27FC236}">
                  <a16:creationId xmlns:a16="http://schemas.microsoft.com/office/drawing/2014/main" id="{511AD270-B0EB-40BF-84BB-5F58FC4BE157}"/>
                </a:ext>
              </a:extLst>
            </p:cNvPr>
            <p:cNvSpPr/>
            <p:nvPr/>
          </p:nvSpPr>
          <p:spPr>
            <a:xfrm>
              <a:off x="3627907" y="2000250"/>
              <a:ext cx="601193" cy="742950"/>
            </a:xfrm>
            <a:prstGeom prst="chevron">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20">
              <a:extLst>
                <a:ext uri="{FF2B5EF4-FFF2-40B4-BE49-F238E27FC236}">
                  <a16:creationId xmlns:a16="http://schemas.microsoft.com/office/drawing/2014/main" id="{C0CF44E9-66FB-42C2-8BBB-6720AA792664}"/>
                </a:ext>
              </a:extLst>
            </p:cNvPr>
            <p:cNvSpPr/>
            <p:nvPr/>
          </p:nvSpPr>
          <p:spPr>
            <a:xfrm>
              <a:off x="4131907" y="1980747"/>
              <a:ext cx="601193" cy="742950"/>
            </a:xfrm>
            <a:prstGeom prst="chevron">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pic>
        <p:nvPicPr>
          <p:cNvPr id="9" name="图片 8">
            <a:extLst>
              <a:ext uri="{FF2B5EF4-FFF2-40B4-BE49-F238E27FC236}">
                <a16:creationId xmlns:a16="http://schemas.microsoft.com/office/drawing/2014/main" id="{EF2CDBD6-6372-44F9-AFCD-D9E82C5254EA}"/>
              </a:ext>
            </a:extLst>
          </p:cNvPr>
          <p:cNvPicPr>
            <a:picLocks noChangeAspect="1"/>
          </p:cNvPicPr>
          <p:nvPr/>
        </p:nvPicPr>
        <p:blipFill>
          <a:blip r:embed="rId4"/>
          <a:stretch>
            <a:fillRect/>
          </a:stretch>
        </p:blipFill>
        <p:spPr>
          <a:xfrm>
            <a:off x="8427158" y="1588917"/>
            <a:ext cx="2914141" cy="2914141"/>
          </a:xfrm>
          <a:prstGeom prst="rect">
            <a:avLst/>
          </a:prstGeom>
        </p:spPr>
      </p:pic>
      <p:grpSp>
        <p:nvGrpSpPr>
          <p:cNvPr id="10" name="组合 9">
            <a:extLst>
              <a:ext uri="{FF2B5EF4-FFF2-40B4-BE49-F238E27FC236}">
                <a16:creationId xmlns:a16="http://schemas.microsoft.com/office/drawing/2014/main" id="{87ABCDC3-5955-4B65-B720-15EC1394AA79}"/>
              </a:ext>
            </a:extLst>
          </p:cNvPr>
          <p:cNvGrpSpPr/>
          <p:nvPr/>
        </p:nvGrpSpPr>
        <p:grpSpPr>
          <a:xfrm>
            <a:off x="8183031" y="3661228"/>
            <a:ext cx="2119086" cy="2119086"/>
            <a:chOff x="5036457" y="2369456"/>
            <a:chExt cx="2119086" cy="2119086"/>
          </a:xfrm>
        </p:grpSpPr>
        <p:sp>
          <p:nvSpPr>
            <p:cNvPr id="11" name="椭圆 10">
              <a:extLst>
                <a:ext uri="{FF2B5EF4-FFF2-40B4-BE49-F238E27FC236}">
                  <a16:creationId xmlns:a16="http://schemas.microsoft.com/office/drawing/2014/main" id="{0A2406D2-B0A6-40C1-ACA6-D525ABDE671E}"/>
                </a:ext>
              </a:extLst>
            </p:cNvPr>
            <p:cNvSpPr/>
            <p:nvPr/>
          </p:nvSpPr>
          <p:spPr>
            <a:xfrm>
              <a:off x="5036457" y="2369456"/>
              <a:ext cx="2119086" cy="2119086"/>
            </a:xfrm>
            <a:prstGeom prst="ellipse">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2" name="图片 11">
              <a:extLst>
                <a:ext uri="{FF2B5EF4-FFF2-40B4-BE49-F238E27FC236}">
                  <a16:creationId xmlns:a16="http://schemas.microsoft.com/office/drawing/2014/main" id="{86298119-01B8-4573-ABA7-5584E89BD433}"/>
                </a:ext>
              </a:extLst>
            </p:cNvPr>
            <p:cNvPicPr>
              <a:picLocks noChangeAspect="1"/>
            </p:cNvPicPr>
            <p:nvPr/>
          </p:nvPicPr>
          <p:blipFill>
            <a:blip r:embed="rId5"/>
            <a:stretch>
              <a:fillRect/>
            </a:stretch>
          </p:blipFill>
          <p:spPr>
            <a:xfrm>
              <a:off x="5108362" y="2441362"/>
              <a:ext cx="1975275" cy="1975275"/>
            </a:xfrm>
            <a:prstGeom prst="rect">
              <a:avLst/>
            </a:prstGeom>
          </p:spPr>
        </p:pic>
      </p:grpSp>
      <p:sp>
        <p:nvSpPr>
          <p:cNvPr id="13" name="文本框 12">
            <a:extLst>
              <a:ext uri="{FF2B5EF4-FFF2-40B4-BE49-F238E27FC236}">
                <a16:creationId xmlns:a16="http://schemas.microsoft.com/office/drawing/2014/main" id="{1A0A8865-8A5C-4BAF-BFC0-329CF42C2D30}"/>
              </a:ext>
            </a:extLst>
          </p:cNvPr>
          <p:cNvSpPr txBox="1"/>
          <p:nvPr/>
        </p:nvSpPr>
        <p:spPr>
          <a:xfrm>
            <a:off x="1820440" y="1363663"/>
            <a:ext cx="6796719" cy="2346283"/>
          </a:xfrm>
          <a:prstGeom prst="rect">
            <a:avLst/>
          </a:prstGeom>
          <a:noFill/>
        </p:spPr>
        <p:txBody>
          <a:bodyPr wrap="square" rtlCol="0">
            <a:spAutoFit/>
          </a:bodyPr>
          <a:lstStyle/>
          <a:p>
            <a:pPr defTabSz="1219200">
              <a:lnSpc>
                <a:spcPct val="150000"/>
              </a:lnSpc>
            </a:pP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int  </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nBandCount</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poDataset</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-&gt;</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GetRasterCount</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int  </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nImgSizeX</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poDataset</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-&gt;</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GetRasterXSize</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int  </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nImgSizeY</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poDataset</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-&gt;</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GetRasterYSize</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double  </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adfGeoTransform</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[6];</a:t>
            </a:r>
          </a:p>
          <a:p>
            <a:pPr defTabSz="1219200">
              <a:lnSpc>
                <a:spcPct val="150000"/>
              </a:lnSpc>
            </a:pP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poDataset</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-&gt;</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GetGeoTransform</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 </a:t>
            </a:r>
            <a:r>
              <a:rPr lang="en-US" altLang="zh-CN" sz="2000" b="1" dirty="0" err="1">
                <a:solidFill>
                  <a:srgbClr val="686769"/>
                </a:solidFill>
                <a:latin typeface="方正黑体简体" panose="02010601030101010101" pitchFamily="2" charset="-122"/>
                <a:ea typeface="方正黑体简体" panose="02010601030101010101" pitchFamily="2" charset="-122"/>
                <a:cs typeface="+mn-ea"/>
                <a:sym typeface="+mn-lt"/>
              </a:rPr>
              <a:t>adfGeoTransform</a:t>
            </a:r>
            <a:r>
              <a:rPr lang="en-US" altLang="zh-CN" sz="2000" b="1" dirty="0">
                <a:solidFill>
                  <a:srgbClr val="686769"/>
                </a:solidFill>
                <a:latin typeface="方正黑体简体" panose="02010601030101010101" pitchFamily="2" charset="-122"/>
                <a:ea typeface="方正黑体简体" panose="02010601030101010101" pitchFamily="2" charset="-122"/>
                <a:cs typeface="+mn-ea"/>
                <a:sym typeface="+mn-lt"/>
              </a:rPr>
              <a:t> );</a:t>
            </a:r>
            <a:endParaRPr lang="zh-CN" altLang="en-US" sz="2000" b="1" dirty="0">
              <a:solidFill>
                <a:srgbClr val="686769"/>
              </a:solidFill>
              <a:latin typeface="方正黑体简体" panose="02010601030101010101" pitchFamily="2" charset="-122"/>
              <a:ea typeface="方正黑体简体" panose="02010601030101010101" pitchFamily="2" charset="-122"/>
              <a:cs typeface="+mn-ea"/>
              <a:sym typeface="+mn-lt"/>
            </a:endParaRPr>
          </a:p>
        </p:txBody>
      </p:sp>
      <p:sp>
        <p:nvSpPr>
          <p:cNvPr id="16" name="TextBox 7">
            <a:extLst>
              <a:ext uri="{FF2B5EF4-FFF2-40B4-BE49-F238E27FC236}">
                <a16:creationId xmlns:a16="http://schemas.microsoft.com/office/drawing/2014/main" id="{D77AC290-B301-455E-8523-B13AA14F6695}"/>
              </a:ext>
            </a:extLst>
          </p:cNvPr>
          <p:cNvSpPr txBox="1"/>
          <p:nvPr/>
        </p:nvSpPr>
        <p:spPr>
          <a:xfrm>
            <a:off x="1754288" y="4021457"/>
            <a:ext cx="6428742" cy="1884618"/>
          </a:xfrm>
          <a:prstGeom prst="rect">
            <a:avLst/>
          </a:prstGeom>
          <a:noFill/>
        </p:spPr>
        <p:txBody>
          <a:bodyPr wrap="square" rtlCol="0">
            <a:spAutoFit/>
          </a:bodyPr>
          <a:lstStyle/>
          <a:p>
            <a:pPr marL="342900" indent="-342900" defTabSz="1219200">
              <a:lnSpc>
                <a:spcPct val="150000"/>
              </a:lnSpc>
              <a:buFont typeface="Wingdings" panose="05000000000000000000" pitchFamily="2" charset="2"/>
              <a:buChar char="l"/>
            </a:pP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一般情况下我们需要得到图像的高、宽、波段数、地理坐标信息，数据类型等；</a:t>
            </a:r>
            <a:endParaRPr lang="en-US" altLang="zh-CN" sz="2000" dirty="0">
              <a:solidFill>
                <a:srgbClr val="4F4D50"/>
              </a:solidFill>
              <a:latin typeface="方正黑体简体" panose="02010601030101010101" pitchFamily="2" charset="-122"/>
              <a:ea typeface="方正黑体简体" panose="02010601030101010101" pitchFamily="2" charset="-122"/>
              <a:cs typeface="+mn-ea"/>
              <a:sym typeface="+mn-lt"/>
            </a:endParaRPr>
          </a:p>
          <a:p>
            <a:pPr marL="342900" indent="-342900" defTabSz="1219200">
              <a:lnSpc>
                <a:spcPct val="150000"/>
              </a:lnSpc>
              <a:buFont typeface="Wingdings" panose="05000000000000000000" pitchFamily="2" charset="2"/>
              <a:buChar char="l"/>
            </a:pP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如果图像不含地理坐标信息，默认返回值是：（</a:t>
            </a:r>
            <a:r>
              <a:rPr lang="en-US" altLang="zh-CN" sz="2000" dirty="0">
                <a:solidFill>
                  <a:srgbClr val="4F4D50"/>
                </a:solidFill>
                <a:latin typeface="方正黑体简体" panose="02010601030101010101" pitchFamily="2" charset="-122"/>
                <a:ea typeface="方正黑体简体" panose="02010601030101010101" pitchFamily="2" charset="-122"/>
                <a:cs typeface="+mn-ea"/>
                <a:sym typeface="+mn-lt"/>
              </a:rPr>
              <a:t>0</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a:t>
            </a:r>
            <a:r>
              <a:rPr lang="en-US" altLang="zh-CN" sz="2000" dirty="0">
                <a:solidFill>
                  <a:srgbClr val="4F4D50"/>
                </a:solidFill>
                <a:latin typeface="方正黑体简体" panose="02010601030101010101" pitchFamily="2" charset="-122"/>
                <a:ea typeface="方正黑体简体" panose="02010601030101010101" pitchFamily="2" charset="-122"/>
                <a:cs typeface="+mn-ea"/>
                <a:sym typeface="+mn-lt"/>
              </a:rPr>
              <a:t>1</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a:t>
            </a:r>
            <a:r>
              <a:rPr lang="en-US" altLang="zh-CN" sz="2000" dirty="0">
                <a:solidFill>
                  <a:srgbClr val="4F4D50"/>
                </a:solidFill>
                <a:latin typeface="方正黑体简体" panose="02010601030101010101" pitchFamily="2" charset="-122"/>
                <a:ea typeface="方正黑体简体" panose="02010601030101010101" pitchFamily="2" charset="-122"/>
                <a:cs typeface="+mn-ea"/>
                <a:sym typeface="+mn-lt"/>
              </a:rPr>
              <a:t>0</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a:t>
            </a:r>
            <a:r>
              <a:rPr lang="en-US" altLang="zh-CN" sz="2000" dirty="0">
                <a:solidFill>
                  <a:srgbClr val="4F4D50"/>
                </a:solidFill>
                <a:latin typeface="方正黑体简体" panose="02010601030101010101" pitchFamily="2" charset="-122"/>
                <a:ea typeface="方正黑体简体" panose="02010601030101010101" pitchFamily="2" charset="-122"/>
                <a:cs typeface="+mn-ea"/>
                <a:sym typeface="+mn-lt"/>
              </a:rPr>
              <a:t>0</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a:t>
            </a:r>
            <a:r>
              <a:rPr lang="en-US" altLang="zh-CN" sz="2000" dirty="0">
                <a:solidFill>
                  <a:srgbClr val="4F4D50"/>
                </a:solidFill>
                <a:latin typeface="方正黑体简体" panose="02010601030101010101" pitchFamily="2" charset="-122"/>
                <a:ea typeface="方正黑体简体" panose="02010601030101010101" pitchFamily="2" charset="-122"/>
                <a:cs typeface="+mn-ea"/>
                <a:sym typeface="+mn-lt"/>
              </a:rPr>
              <a:t>0</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a:t>
            </a:r>
            <a:r>
              <a:rPr lang="en-US" altLang="zh-CN" sz="2000" dirty="0">
                <a:solidFill>
                  <a:srgbClr val="4F4D50"/>
                </a:solidFill>
                <a:latin typeface="方正黑体简体" panose="02010601030101010101" pitchFamily="2" charset="-122"/>
                <a:ea typeface="方正黑体简体" panose="02010601030101010101" pitchFamily="2" charset="-122"/>
                <a:cs typeface="+mn-ea"/>
                <a:sym typeface="+mn-lt"/>
              </a:rPr>
              <a:t>1</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a:t>
            </a:r>
          </a:p>
        </p:txBody>
      </p:sp>
    </p:spTree>
    <p:extLst>
      <p:ext uri="{BB962C8B-B14F-4D97-AF65-F5344CB8AC3E}">
        <p14:creationId xmlns:p14="http://schemas.microsoft.com/office/powerpoint/2010/main" val="13550242"/>
      </p:ext>
    </p:extLst>
  </p:cSld>
  <p:clrMapOvr>
    <a:masterClrMapping/>
  </p:clrMapOvr>
  <mc:AlternateContent xmlns:mc="http://schemas.openxmlformats.org/markup-compatibility/2006" xmlns:p14="http://schemas.microsoft.com/office/powerpoint/2010/main">
    <mc:Choice Requires="p14">
      <p:transition p14:dur="250" advClick="0" advTm="8471">
        <p:push dir="u"/>
      </p:transition>
    </mc:Choice>
    <mc:Fallback xmlns="">
      <p:transition advClick="0" advTm="847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0-#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500" fill="hold"/>
                                        <p:tgtEl>
                                          <p:spTgt spid="9"/>
                                        </p:tgtEl>
                                        <p:attrNameLst>
                                          <p:attrName>ppt_w</p:attrName>
                                        </p:attrNameLst>
                                      </p:cBhvr>
                                      <p:tavLst>
                                        <p:tav tm="0">
                                          <p:val>
                                            <p:fltVal val="0"/>
                                          </p:val>
                                        </p:tav>
                                        <p:tav tm="100000">
                                          <p:val>
                                            <p:strVal val="#ppt_w"/>
                                          </p:val>
                                        </p:tav>
                                      </p:tavLst>
                                    </p:anim>
                                    <p:anim calcmode="lin" valueType="num">
                                      <p:cBhvr>
                                        <p:cTn id="24" dur="500" fill="hold"/>
                                        <p:tgtEl>
                                          <p:spTgt spid="9"/>
                                        </p:tgtEl>
                                        <p:attrNameLst>
                                          <p:attrName>ppt_h</p:attrName>
                                        </p:attrNameLst>
                                      </p:cBhvr>
                                      <p:tavLst>
                                        <p:tav tm="0">
                                          <p:val>
                                            <p:fltVal val="0"/>
                                          </p:val>
                                        </p:tav>
                                        <p:tav tm="100000">
                                          <p:val>
                                            <p:strVal val="#ppt_h"/>
                                          </p:val>
                                        </p:tav>
                                      </p:tavLst>
                                    </p:anim>
                                    <p:animEffect transition="in" filter="fade">
                                      <p:cBhvr>
                                        <p:cTn id="25" dur="500"/>
                                        <p:tgtEl>
                                          <p:spTgt spid="9"/>
                                        </p:tgtEl>
                                      </p:cBhvr>
                                    </p:animEffect>
                                  </p:childTnLst>
                                </p:cTn>
                              </p:par>
                              <p:par>
                                <p:cTn id="26" presetID="53" presetClass="entr" presetSubtype="16"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par>
                                <p:cTn id="31" presetID="42"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1000"/>
                                        <p:tgtEl>
                                          <p:spTgt spid="13"/>
                                        </p:tgtEl>
                                      </p:cBhvr>
                                    </p:animEffect>
                                    <p:anim calcmode="lin" valueType="num">
                                      <p:cBhvr>
                                        <p:cTn id="34" dur="1000" fill="hold"/>
                                        <p:tgtEl>
                                          <p:spTgt spid="13"/>
                                        </p:tgtEl>
                                        <p:attrNameLst>
                                          <p:attrName>ppt_x</p:attrName>
                                        </p:attrNameLst>
                                      </p:cBhvr>
                                      <p:tavLst>
                                        <p:tav tm="0">
                                          <p:val>
                                            <p:strVal val="#ppt_x"/>
                                          </p:val>
                                        </p:tav>
                                        <p:tav tm="100000">
                                          <p:val>
                                            <p:strVal val="#ppt_x"/>
                                          </p:val>
                                        </p:tav>
                                      </p:tavLst>
                                    </p:anim>
                                    <p:anim calcmode="lin" valueType="num">
                                      <p:cBhvr>
                                        <p:cTn id="35" dur="1000" fill="hold"/>
                                        <p:tgtEl>
                                          <p:spTgt spid="13"/>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1000"/>
                                        <p:tgtEl>
                                          <p:spTgt spid="16"/>
                                        </p:tgtEl>
                                      </p:cBhvr>
                                    </p:animEffect>
                                    <p:anim calcmode="lin" valueType="num">
                                      <p:cBhvr>
                                        <p:cTn id="39" dur="1000" fill="hold"/>
                                        <p:tgtEl>
                                          <p:spTgt spid="16"/>
                                        </p:tgtEl>
                                        <p:attrNameLst>
                                          <p:attrName>ppt_x</p:attrName>
                                        </p:attrNameLst>
                                      </p:cBhvr>
                                      <p:tavLst>
                                        <p:tav tm="0">
                                          <p:val>
                                            <p:strVal val="#ppt_x"/>
                                          </p:val>
                                        </p:tav>
                                        <p:tav tm="100000">
                                          <p:val>
                                            <p:strVal val="#ppt_x"/>
                                          </p:val>
                                        </p:tav>
                                      </p:tavLst>
                                    </p:anim>
                                    <p:anim calcmode="lin" valueType="num">
                                      <p:cBhvr>
                                        <p:cTn id="4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B57C0F8-B204-4584-AB17-3A4B989238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a:extLst>
              <a:ext uri="{FF2B5EF4-FFF2-40B4-BE49-F238E27FC236}">
                <a16:creationId xmlns:a16="http://schemas.microsoft.com/office/drawing/2014/main" id="{E85550B3-3070-4D72-8FA2-A190686442CB}"/>
              </a:ext>
            </a:extLst>
          </p:cNvPr>
          <p:cNvSpPr txBox="1"/>
          <p:nvPr/>
        </p:nvSpPr>
        <p:spPr>
          <a:xfrm>
            <a:off x="539983" y="440281"/>
            <a:ext cx="2646878" cy="461665"/>
          </a:xfrm>
          <a:prstGeom prst="rect">
            <a:avLst/>
          </a:prstGeom>
          <a:noFill/>
        </p:spPr>
        <p:txBody>
          <a:bodyPr wrap="none" rtlCol="0">
            <a:spAutoFit/>
          </a:bodyPr>
          <a:lstStyle/>
          <a:p>
            <a:pPr defTabSz="121902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类的封装（拓展）</a:t>
            </a:r>
          </a:p>
        </p:txBody>
      </p:sp>
      <p:pic>
        <p:nvPicPr>
          <p:cNvPr id="8" name="图片 7">
            <a:extLst>
              <a:ext uri="{FF2B5EF4-FFF2-40B4-BE49-F238E27FC236}">
                <a16:creationId xmlns:a16="http://schemas.microsoft.com/office/drawing/2014/main" id="{F9EF33DA-8610-4787-9D67-88214F87E0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4318" y="2081667"/>
            <a:ext cx="464644" cy="533480"/>
          </a:xfrm>
          <a:prstGeom prst="rect">
            <a:avLst/>
          </a:prstGeom>
        </p:spPr>
      </p:pic>
      <p:pic>
        <p:nvPicPr>
          <p:cNvPr id="10" name="图片 9">
            <a:extLst>
              <a:ext uri="{FF2B5EF4-FFF2-40B4-BE49-F238E27FC236}">
                <a16:creationId xmlns:a16="http://schemas.microsoft.com/office/drawing/2014/main" id="{4C2B7244-0937-4BF9-A9EC-49387FDA8FE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4616" y="3156523"/>
            <a:ext cx="464644" cy="533480"/>
          </a:xfrm>
          <a:prstGeom prst="rect">
            <a:avLst/>
          </a:prstGeom>
        </p:spPr>
      </p:pic>
      <p:sp>
        <p:nvSpPr>
          <p:cNvPr id="20" name="TextBox 7">
            <a:extLst>
              <a:ext uri="{FF2B5EF4-FFF2-40B4-BE49-F238E27FC236}">
                <a16:creationId xmlns:a16="http://schemas.microsoft.com/office/drawing/2014/main" id="{52EA6BC4-F375-49A4-BB72-2FBA64BA75DA}"/>
              </a:ext>
            </a:extLst>
          </p:cNvPr>
          <p:cNvSpPr txBox="1"/>
          <p:nvPr/>
        </p:nvSpPr>
        <p:spPr>
          <a:xfrm>
            <a:off x="1000260" y="2157199"/>
            <a:ext cx="3945297" cy="418191"/>
          </a:xfrm>
          <a:prstGeom prst="rect">
            <a:avLst/>
          </a:prstGeom>
          <a:noFill/>
        </p:spPr>
        <p:txBody>
          <a:bodyPr wrap="square" rtlCol="0">
            <a:spAutoFit/>
          </a:bodyPr>
          <a:lstStyle/>
          <a:p>
            <a:pPr defTabSz="1219020">
              <a:lnSpc>
                <a:spcPct val="150000"/>
              </a:lnSpc>
            </a:pP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类的封装</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——8</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位、</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16</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位的图像</a:t>
            </a:r>
            <a:r>
              <a:rPr lang="zh-CN" altLang="en-US" sz="1600" b="1" dirty="0">
                <a:solidFill>
                  <a:srgbClr val="FF0000"/>
                </a:solidFill>
                <a:latin typeface="方正黑体简体" panose="02010601030101010101" pitchFamily="2" charset="-122"/>
                <a:ea typeface="方正黑体简体" panose="02010601030101010101" pitchFamily="2" charset="-122"/>
                <a:cs typeface="+mn-ea"/>
                <a:sym typeface="+mn-lt"/>
              </a:rPr>
              <a:t>读写差异</a:t>
            </a:r>
            <a:endParaRPr lang="en-US" altLang="zh-CN" sz="1600" b="1" dirty="0">
              <a:solidFill>
                <a:srgbClr val="FF0000"/>
              </a:solidFill>
              <a:latin typeface="方正黑体简体" panose="02010601030101010101" pitchFamily="2" charset="-122"/>
              <a:ea typeface="方正黑体简体" panose="02010601030101010101" pitchFamily="2" charset="-122"/>
              <a:cs typeface="+mn-ea"/>
              <a:sym typeface="+mn-lt"/>
            </a:endParaRPr>
          </a:p>
        </p:txBody>
      </p:sp>
      <p:sp>
        <p:nvSpPr>
          <p:cNvPr id="21" name="TextBox 7">
            <a:extLst>
              <a:ext uri="{FF2B5EF4-FFF2-40B4-BE49-F238E27FC236}">
                <a16:creationId xmlns:a16="http://schemas.microsoft.com/office/drawing/2014/main" id="{46AB1BB9-C766-471E-9603-1E34D5BA4152}"/>
              </a:ext>
            </a:extLst>
          </p:cNvPr>
          <p:cNvSpPr txBox="1"/>
          <p:nvPr/>
        </p:nvSpPr>
        <p:spPr>
          <a:xfrm>
            <a:off x="1034908" y="3204031"/>
            <a:ext cx="3945296" cy="418191"/>
          </a:xfrm>
          <a:prstGeom prst="rect">
            <a:avLst/>
          </a:prstGeom>
          <a:noFill/>
        </p:spPr>
        <p:txBody>
          <a:bodyPr wrap="square" rtlCol="0">
            <a:spAutoFit/>
          </a:bodyPr>
          <a:lstStyle/>
          <a:p>
            <a:pPr defTabSz="1219020">
              <a:lnSpc>
                <a:spcPct val="150000"/>
              </a:lnSpc>
            </a:pPr>
            <a:r>
              <a:rPr lang="zh-CN" altLang="en-US" sz="1600" b="1" dirty="0">
                <a:solidFill>
                  <a:srgbClr val="4F4D50"/>
                </a:solidFill>
                <a:latin typeface="方正黑体简体" panose="02010601030101010101" pitchFamily="2" charset="-122"/>
                <a:ea typeface="方正黑体简体" panose="02010601030101010101" pitchFamily="2" charset="-122"/>
                <a:cs typeface="+mn-ea"/>
                <a:sym typeface="+mn-lt"/>
              </a:rPr>
              <a:t>创建栅格文件</a:t>
            </a:r>
            <a:endParaRPr lang="en-US" altLang="zh-CN" sz="1600" b="1" dirty="0">
              <a:solidFill>
                <a:srgbClr val="4F4D50"/>
              </a:solidFill>
              <a:latin typeface="方正黑体简体" panose="02010601030101010101" pitchFamily="2" charset="-122"/>
              <a:ea typeface="方正黑体简体" panose="02010601030101010101" pitchFamily="2" charset="-122"/>
              <a:cs typeface="+mn-ea"/>
              <a:sym typeface="+mn-lt"/>
            </a:endParaRPr>
          </a:p>
        </p:txBody>
      </p:sp>
      <p:pic>
        <p:nvPicPr>
          <p:cNvPr id="11" name="图片 10">
            <a:extLst>
              <a:ext uri="{FF2B5EF4-FFF2-40B4-BE49-F238E27FC236}">
                <a16:creationId xmlns:a16="http://schemas.microsoft.com/office/drawing/2014/main" id="{C2DF5921-24A4-4409-870A-0A7A15C9C50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53612" y="4172830"/>
            <a:ext cx="464644" cy="533480"/>
          </a:xfrm>
          <a:prstGeom prst="rect">
            <a:avLst/>
          </a:prstGeom>
        </p:spPr>
      </p:pic>
      <p:sp>
        <p:nvSpPr>
          <p:cNvPr id="12" name="TextBox 7">
            <a:extLst>
              <a:ext uri="{FF2B5EF4-FFF2-40B4-BE49-F238E27FC236}">
                <a16:creationId xmlns:a16="http://schemas.microsoft.com/office/drawing/2014/main" id="{15E80DBD-1F3E-4F77-9286-AC07DB97AB57}"/>
              </a:ext>
            </a:extLst>
          </p:cNvPr>
          <p:cNvSpPr txBox="1"/>
          <p:nvPr/>
        </p:nvSpPr>
        <p:spPr>
          <a:xfrm>
            <a:off x="1069555" y="4250864"/>
            <a:ext cx="3945296" cy="418191"/>
          </a:xfrm>
          <a:prstGeom prst="rect">
            <a:avLst/>
          </a:prstGeom>
          <a:noFill/>
        </p:spPr>
        <p:txBody>
          <a:bodyPr wrap="square" rtlCol="0">
            <a:spAutoFit/>
          </a:bodyPr>
          <a:lstStyle/>
          <a:p>
            <a:pPr defTabSz="1219020">
              <a:lnSpc>
                <a:spcPct val="150000"/>
              </a:lnSpc>
            </a:pP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读、写栅格文件</a:t>
            </a:r>
            <a:endParaRPr lang="en-US" altLang="zh-CN" sz="1600" b="1" dirty="0">
              <a:solidFill>
                <a:srgbClr val="FF0000"/>
              </a:solidFill>
              <a:latin typeface="方正黑体简体" panose="02010601030101010101" pitchFamily="2" charset="-122"/>
              <a:ea typeface="方正黑体简体" panose="02010601030101010101" pitchFamily="2" charset="-122"/>
              <a:cs typeface="+mn-ea"/>
              <a:sym typeface="+mn-lt"/>
            </a:endParaRPr>
          </a:p>
        </p:txBody>
      </p:sp>
      <p:pic>
        <p:nvPicPr>
          <p:cNvPr id="5" name="图片 4">
            <a:extLst>
              <a:ext uri="{FF2B5EF4-FFF2-40B4-BE49-F238E27FC236}">
                <a16:creationId xmlns:a16="http://schemas.microsoft.com/office/drawing/2014/main" id="{E1AEB5CC-80C1-4A13-A75A-EDCD877ECBD7}"/>
              </a:ext>
            </a:extLst>
          </p:cNvPr>
          <p:cNvPicPr>
            <a:picLocks noChangeAspect="1"/>
          </p:cNvPicPr>
          <p:nvPr/>
        </p:nvPicPr>
        <p:blipFill rotWithShape="1">
          <a:blip r:embed="rId7">
            <a:extLst>
              <a:ext uri="{BEBA8EAE-BF5A-486C-A8C5-ECC9F3942E4B}">
                <a14:imgProps xmlns:a14="http://schemas.microsoft.com/office/drawing/2010/main">
                  <a14:imgLayer r:embed="rId8">
                    <a14:imgEffect>
                      <a14:colorTemperature colorTemp="11200"/>
                    </a14:imgEffect>
                  </a14:imgLayer>
                </a14:imgProps>
              </a:ext>
            </a:extLst>
          </a:blip>
          <a:srcRect t="6263" b="35795"/>
          <a:stretch/>
        </p:blipFill>
        <p:spPr>
          <a:xfrm>
            <a:off x="5113512" y="1720818"/>
            <a:ext cx="6865592" cy="356429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16628767"/>
      </p:ext>
    </p:extLst>
  </p:cSld>
  <p:clrMapOvr>
    <a:masterClrMapping/>
  </p:clrMapOvr>
  <mc:AlternateContent xmlns:mc="http://schemas.openxmlformats.org/markup-compatibility/2006" xmlns:p14="http://schemas.microsoft.com/office/powerpoint/2010/main">
    <mc:Choice Requires="p14">
      <p:transition p14:dur="250" advClick="0" advTm="20723">
        <p:push dir="u"/>
      </p:transition>
    </mc:Choice>
    <mc:Fallback xmlns="">
      <p:transition advClick="0" advTm="20723">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anim calcmode="lin" valueType="num">
                                      <p:cBhvr>
                                        <p:cTn id="16" dur="1000" fill="hold"/>
                                        <p:tgtEl>
                                          <p:spTgt spid="8"/>
                                        </p:tgtEl>
                                        <p:attrNameLst>
                                          <p:attrName>ppt_x</p:attrName>
                                        </p:attrNameLst>
                                      </p:cBhvr>
                                      <p:tavLst>
                                        <p:tav tm="0">
                                          <p:val>
                                            <p:strVal val="#ppt_x"/>
                                          </p:val>
                                        </p:tav>
                                        <p:tav tm="100000">
                                          <p:val>
                                            <p:strVal val="#ppt_x"/>
                                          </p:val>
                                        </p:tav>
                                      </p:tavLst>
                                    </p:anim>
                                    <p:anim calcmode="lin" valueType="num">
                                      <p:cBhvr>
                                        <p:cTn id="17" dur="1000" fill="hold"/>
                                        <p:tgtEl>
                                          <p:spTgt spid="8"/>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anim calcmode="lin" valueType="num">
                                      <p:cBhvr>
                                        <p:cTn id="21" dur="1000" fill="hold"/>
                                        <p:tgtEl>
                                          <p:spTgt spid="10"/>
                                        </p:tgtEl>
                                        <p:attrNameLst>
                                          <p:attrName>ppt_x</p:attrName>
                                        </p:attrNameLst>
                                      </p:cBhvr>
                                      <p:tavLst>
                                        <p:tav tm="0">
                                          <p:val>
                                            <p:strVal val="#ppt_x"/>
                                          </p:val>
                                        </p:tav>
                                        <p:tav tm="100000">
                                          <p:val>
                                            <p:strVal val="#ppt_x"/>
                                          </p:val>
                                        </p:tav>
                                      </p:tavLst>
                                    </p:anim>
                                    <p:anim calcmode="lin" valueType="num">
                                      <p:cBhvr>
                                        <p:cTn id="22" dur="1000" fill="hold"/>
                                        <p:tgtEl>
                                          <p:spTgt spid="10"/>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1000"/>
                                        <p:tgtEl>
                                          <p:spTgt spid="20"/>
                                        </p:tgtEl>
                                      </p:cBhvr>
                                    </p:animEffect>
                                    <p:anim calcmode="lin" valueType="num">
                                      <p:cBhvr>
                                        <p:cTn id="26" dur="1000" fill="hold"/>
                                        <p:tgtEl>
                                          <p:spTgt spid="20"/>
                                        </p:tgtEl>
                                        <p:attrNameLst>
                                          <p:attrName>ppt_x</p:attrName>
                                        </p:attrNameLst>
                                      </p:cBhvr>
                                      <p:tavLst>
                                        <p:tav tm="0">
                                          <p:val>
                                            <p:strVal val="#ppt_x"/>
                                          </p:val>
                                        </p:tav>
                                        <p:tav tm="100000">
                                          <p:val>
                                            <p:strVal val="#ppt_x"/>
                                          </p:val>
                                        </p:tav>
                                      </p:tavLst>
                                    </p:anim>
                                    <p:anim calcmode="lin" valueType="num">
                                      <p:cBhvr>
                                        <p:cTn id="27" dur="1000" fill="hold"/>
                                        <p:tgtEl>
                                          <p:spTgt spid="20"/>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1000"/>
                                        <p:tgtEl>
                                          <p:spTgt spid="21"/>
                                        </p:tgtEl>
                                      </p:cBhvr>
                                    </p:animEffect>
                                    <p:anim calcmode="lin" valueType="num">
                                      <p:cBhvr>
                                        <p:cTn id="31" dur="1000" fill="hold"/>
                                        <p:tgtEl>
                                          <p:spTgt spid="21"/>
                                        </p:tgtEl>
                                        <p:attrNameLst>
                                          <p:attrName>ppt_x</p:attrName>
                                        </p:attrNameLst>
                                      </p:cBhvr>
                                      <p:tavLst>
                                        <p:tav tm="0">
                                          <p:val>
                                            <p:strVal val="#ppt_x"/>
                                          </p:val>
                                        </p:tav>
                                        <p:tav tm="100000">
                                          <p:val>
                                            <p:strVal val="#ppt_x"/>
                                          </p:val>
                                        </p:tav>
                                      </p:tavLst>
                                    </p:anim>
                                    <p:anim calcmode="lin" valueType="num">
                                      <p:cBhvr>
                                        <p:cTn id="32" dur="1000" fill="hold"/>
                                        <p:tgtEl>
                                          <p:spTgt spid="21"/>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1000"/>
                                        <p:tgtEl>
                                          <p:spTgt spid="11"/>
                                        </p:tgtEl>
                                      </p:cBhvr>
                                    </p:animEffect>
                                    <p:anim calcmode="lin" valueType="num">
                                      <p:cBhvr>
                                        <p:cTn id="36" dur="1000" fill="hold"/>
                                        <p:tgtEl>
                                          <p:spTgt spid="11"/>
                                        </p:tgtEl>
                                        <p:attrNameLst>
                                          <p:attrName>ppt_x</p:attrName>
                                        </p:attrNameLst>
                                      </p:cBhvr>
                                      <p:tavLst>
                                        <p:tav tm="0">
                                          <p:val>
                                            <p:strVal val="#ppt_x"/>
                                          </p:val>
                                        </p:tav>
                                        <p:tav tm="100000">
                                          <p:val>
                                            <p:strVal val="#ppt_x"/>
                                          </p:val>
                                        </p:tav>
                                      </p:tavLst>
                                    </p:anim>
                                    <p:anim calcmode="lin" valueType="num">
                                      <p:cBhvr>
                                        <p:cTn id="37" dur="1000" fill="hold"/>
                                        <p:tgtEl>
                                          <p:spTgt spid="11"/>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1000"/>
                                        <p:tgtEl>
                                          <p:spTgt spid="12"/>
                                        </p:tgtEl>
                                      </p:cBhvr>
                                    </p:animEffect>
                                    <p:anim calcmode="lin" valueType="num">
                                      <p:cBhvr>
                                        <p:cTn id="41" dur="1000" fill="hold"/>
                                        <p:tgtEl>
                                          <p:spTgt spid="12"/>
                                        </p:tgtEl>
                                        <p:attrNameLst>
                                          <p:attrName>ppt_x</p:attrName>
                                        </p:attrNameLst>
                                      </p:cBhvr>
                                      <p:tavLst>
                                        <p:tav tm="0">
                                          <p:val>
                                            <p:strVal val="#ppt_x"/>
                                          </p:val>
                                        </p:tav>
                                        <p:tav tm="100000">
                                          <p:val>
                                            <p:strVal val="#ppt_x"/>
                                          </p:val>
                                        </p:tav>
                                      </p:tavLst>
                                    </p:anim>
                                    <p:anim calcmode="lin" valueType="num">
                                      <p:cBhvr>
                                        <p:cTn id="4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0" grpId="0"/>
      <p:bldP spid="21"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30949" y="0"/>
            <a:ext cx="5861051" cy="6858000"/>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11968" y="635721"/>
            <a:ext cx="4980032" cy="5915832"/>
          </a:xfrm>
          <a:prstGeom prst="rect">
            <a:avLst/>
          </a:prstGeom>
        </p:spPr>
      </p:pic>
      <p:sp>
        <p:nvSpPr>
          <p:cNvPr id="10" name="TextBox 6"/>
          <p:cNvSpPr txBox="1"/>
          <p:nvPr/>
        </p:nvSpPr>
        <p:spPr>
          <a:xfrm>
            <a:off x="1007435" y="1892830"/>
            <a:ext cx="4183774" cy="1323439"/>
          </a:xfrm>
          <a:prstGeom prst="rect">
            <a:avLst/>
          </a:prstGeom>
          <a:noFill/>
        </p:spPr>
        <p:txBody>
          <a:bodyPr wrap="none" rtlCol="0">
            <a:spAutoFit/>
          </a:bodyPr>
          <a:lstStyle/>
          <a:p>
            <a:pPr defTabSz="1219200"/>
            <a:r>
              <a:rPr lang="en-US" altLang="zh-CN" sz="8000" dirty="0">
                <a:solidFill>
                  <a:srgbClr val="E1E0D8"/>
                </a:solidFill>
                <a:latin typeface="方正黑体简体" panose="02010601030101010101" pitchFamily="2" charset="-122"/>
                <a:ea typeface="方正黑体简体" panose="02010601030101010101" pitchFamily="2" charset="-122"/>
                <a:cs typeface="+mn-ea"/>
                <a:sym typeface="+mn-lt"/>
              </a:rPr>
              <a:t>PART 02</a:t>
            </a:r>
            <a:endParaRPr lang="zh-CN" altLang="en-US" sz="8000"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11" name="TextBox 7"/>
          <p:cNvSpPr txBox="1"/>
          <p:nvPr/>
        </p:nvSpPr>
        <p:spPr>
          <a:xfrm>
            <a:off x="1586470" y="2660915"/>
            <a:ext cx="5109091" cy="830997"/>
          </a:xfrm>
          <a:prstGeom prst="rect">
            <a:avLst/>
          </a:prstGeom>
          <a:noFill/>
        </p:spPr>
        <p:txBody>
          <a:bodyPr wrap="none" rtlCol="0">
            <a:spAutoFit/>
          </a:bodyPr>
          <a:lstStyle/>
          <a:p>
            <a:pPr defTabSz="1219200"/>
            <a:r>
              <a:rPr lang="zh-CN" altLang="en-US" sz="4800" dirty="0">
                <a:solidFill>
                  <a:srgbClr val="4F4D50"/>
                </a:solidFill>
                <a:latin typeface="方正黑体简体" panose="02010601030101010101" pitchFamily="2" charset="-122"/>
                <a:ea typeface="方正黑体简体" panose="02010601030101010101" pitchFamily="2" charset="-122"/>
                <a:cs typeface="+mn-ea"/>
                <a:sym typeface="+mn-lt"/>
              </a:rPr>
              <a:t>影像信息读取实例</a:t>
            </a:r>
            <a:endParaRPr lang="en-US" altLang="zh-CN" sz="48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
        <p:nvSpPr>
          <p:cNvPr id="13" name="TextBox 6"/>
          <p:cNvSpPr txBox="1"/>
          <p:nvPr/>
        </p:nvSpPr>
        <p:spPr>
          <a:xfrm>
            <a:off x="9388833" y="2168473"/>
            <a:ext cx="2092239" cy="2646878"/>
          </a:xfrm>
          <a:prstGeom prst="rect">
            <a:avLst/>
          </a:prstGeom>
          <a:noFill/>
        </p:spPr>
        <p:txBody>
          <a:bodyPr wrap="none" rtlCol="0">
            <a:spAutoFit/>
          </a:bodyPr>
          <a:lstStyle/>
          <a:p>
            <a:pPr defTabSz="1219200"/>
            <a:r>
              <a:rPr lang="en-US" altLang="zh-CN" sz="16600" spc="600" dirty="0">
                <a:gradFill>
                  <a:gsLst>
                    <a:gs pos="0">
                      <a:srgbClr val="F7DCAC"/>
                    </a:gs>
                    <a:gs pos="100000">
                      <a:srgbClr val="88745B"/>
                    </a:gs>
                  </a:gsLst>
                  <a:lin ang="1800000" scaled="0"/>
                </a:gradFill>
                <a:effectLst>
                  <a:outerShdw blurRad="190500" dist="63500" dir="2700000" algn="tl">
                    <a:srgbClr val="000000">
                      <a:alpha val="30000"/>
                    </a:srgbClr>
                  </a:outerShdw>
                </a:effectLst>
                <a:latin typeface="Agency FB" panose="020B0503020202020204" pitchFamily="34" charset="0"/>
                <a:ea typeface="方正黑体简体" panose="02010601030101010101" pitchFamily="2" charset="-122"/>
                <a:cs typeface="+mn-ea"/>
                <a:sym typeface="+mn-lt"/>
              </a:rPr>
              <a:t>02</a:t>
            </a:r>
            <a:endParaRPr lang="zh-CN" altLang="en-US" sz="16600" spc="600" dirty="0">
              <a:gradFill>
                <a:gsLst>
                  <a:gs pos="0">
                    <a:srgbClr val="F7DCAC"/>
                  </a:gs>
                  <a:gs pos="100000">
                    <a:srgbClr val="88745B"/>
                  </a:gs>
                </a:gsLst>
                <a:lin ang="1800000" scaled="0"/>
              </a:gradFill>
              <a:effectLst>
                <a:outerShdw blurRad="190500" dist="63500" dir="2700000" algn="tl">
                  <a:srgbClr val="000000">
                    <a:alpha val="30000"/>
                  </a:srgbClr>
                </a:outerShdw>
              </a:effectLst>
              <a:latin typeface="Agency FB" panose="020B0503020202020204" pitchFamily="34" charset="0"/>
              <a:ea typeface="方正黑体简体" panose="02010601030101010101" pitchFamily="2" charset="-122"/>
              <a:cs typeface="+mn-ea"/>
              <a:sym typeface="+mn-lt"/>
            </a:endParaRPr>
          </a:p>
        </p:txBody>
      </p:sp>
    </p:spTree>
    <p:extLst>
      <p:ext uri="{BB962C8B-B14F-4D97-AF65-F5344CB8AC3E}">
        <p14:creationId xmlns:p14="http://schemas.microsoft.com/office/powerpoint/2010/main" val="1660643741"/>
      </p:ext>
    </p:extLst>
  </p:cSld>
  <p:clrMapOvr>
    <a:masterClrMapping/>
  </p:clrMapOvr>
  <mc:AlternateContent xmlns:mc="http://schemas.openxmlformats.org/markup-compatibility/2006" xmlns:p14="http://schemas.microsoft.com/office/powerpoint/2010/main">
    <mc:Choice Requires="p14">
      <p:transition p14:dur="250" advClick="0" advTm="2694">
        <p14:flip dir="r"/>
      </p:transition>
    </mc:Choice>
    <mc:Fallback xmlns="">
      <p:transition advClick="0" advTm="269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3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30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p:cNvSpPr txBox="1"/>
          <p:nvPr/>
        </p:nvSpPr>
        <p:spPr>
          <a:xfrm>
            <a:off x="539982" y="440281"/>
            <a:ext cx="4582524" cy="461665"/>
          </a:xfrm>
          <a:prstGeom prst="rect">
            <a:avLst/>
          </a:prstGeom>
          <a:noFill/>
        </p:spPr>
        <p:txBody>
          <a:bodyPr wrap="square" rtlCol="0">
            <a:spAutoFit/>
          </a:bodyPr>
          <a:lstStyle/>
          <a:p>
            <a:pPr defTabSz="121920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 获取基本信息</a:t>
            </a:r>
          </a:p>
        </p:txBody>
      </p:sp>
      <p:sp>
        <p:nvSpPr>
          <p:cNvPr id="6" name="矩形 5">
            <a:extLst>
              <a:ext uri="{FF2B5EF4-FFF2-40B4-BE49-F238E27FC236}">
                <a16:creationId xmlns:a16="http://schemas.microsoft.com/office/drawing/2014/main" id="{08C56996-2FFE-4856-B3E0-E5FF5D9A00BC}"/>
              </a:ext>
            </a:extLst>
          </p:cNvPr>
          <p:cNvSpPr/>
          <p:nvPr/>
        </p:nvSpPr>
        <p:spPr>
          <a:xfrm>
            <a:off x="6203951" y="2037402"/>
            <a:ext cx="45719" cy="3856054"/>
          </a:xfrm>
          <a:prstGeom prst="rect">
            <a:avLst/>
          </a:prstGeom>
          <a:solidFill>
            <a:srgbClr val="37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29FC9952-8B76-4E28-83A2-F47D482B9CEA}"/>
              </a:ext>
            </a:extLst>
          </p:cNvPr>
          <p:cNvGrpSpPr/>
          <p:nvPr/>
        </p:nvGrpSpPr>
        <p:grpSpPr>
          <a:xfrm>
            <a:off x="6203950" y="2598396"/>
            <a:ext cx="1111250" cy="463551"/>
            <a:chOff x="6203950" y="2112621"/>
            <a:chExt cx="1111250" cy="463551"/>
          </a:xfrm>
        </p:grpSpPr>
        <p:sp>
          <p:nvSpPr>
            <p:cNvPr id="8" name="五边形 25">
              <a:extLst>
                <a:ext uri="{FF2B5EF4-FFF2-40B4-BE49-F238E27FC236}">
                  <a16:creationId xmlns:a16="http://schemas.microsoft.com/office/drawing/2014/main" id="{6C6E31A7-6F04-4DF7-A8EC-9F9BFAD8F7B9}"/>
                </a:ext>
              </a:extLst>
            </p:cNvPr>
            <p:cNvSpPr/>
            <p:nvPr/>
          </p:nvSpPr>
          <p:spPr>
            <a:xfrm>
              <a:off x="6203950" y="2114550"/>
              <a:ext cx="893536" cy="461622"/>
            </a:xfrm>
            <a:prstGeom prst="homePlate">
              <a:avLst/>
            </a:prstGeom>
            <a:solidFill>
              <a:srgbClr val="37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燕尾形 26">
              <a:extLst>
                <a:ext uri="{FF2B5EF4-FFF2-40B4-BE49-F238E27FC236}">
                  <a16:creationId xmlns:a16="http://schemas.microsoft.com/office/drawing/2014/main" id="{78BF4958-DD9D-4FCE-8833-132FFEC12504}"/>
                </a:ext>
              </a:extLst>
            </p:cNvPr>
            <p:cNvSpPr/>
            <p:nvPr/>
          </p:nvSpPr>
          <p:spPr>
            <a:xfrm>
              <a:off x="6851649" y="2112621"/>
              <a:ext cx="463551" cy="463551"/>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10" name="组合 9">
            <a:extLst>
              <a:ext uri="{FF2B5EF4-FFF2-40B4-BE49-F238E27FC236}">
                <a16:creationId xmlns:a16="http://schemas.microsoft.com/office/drawing/2014/main" id="{3C83D8F3-B600-4913-A7C4-A3BE01FC0ACA}"/>
              </a:ext>
            </a:extLst>
          </p:cNvPr>
          <p:cNvGrpSpPr/>
          <p:nvPr/>
        </p:nvGrpSpPr>
        <p:grpSpPr>
          <a:xfrm>
            <a:off x="6238058" y="4288376"/>
            <a:ext cx="1111250" cy="463551"/>
            <a:chOff x="6203950" y="2112621"/>
            <a:chExt cx="1111250" cy="463551"/>
          </a:xfrm>
        </p:grpSpPr>
        <p:sp>
          <p:nvSpPr>
            <p:cNvPr id="11" name="五边形 28">
              <a:extLst>
                <a:ext uri="{FF2B5EF4-FFF2-40B4-BE49-F238E27FC236}">
                  <a16:creationId xmlns:a16="http://schemas.microsoft.com/office/drawing/2014/main" id="{4BBEEA73-FE50-472F-9FE6-E86A70EEA5D0}"/>
                </a:ext>
              </a:extLst>
            </p:cNvPr>
            <p:cNvSpPr/>
            <p:nvPr/>
          </p:nvSpPr>
          <p:spPr>
            <a:xfrm>
              <a:off x="6203950" y="2114550"/>
              <a:ext cx="893536" cy="461622"/>
            </a:xfrm>
            <a:prstGeom prst="homePlate">
              <a:avLst/>
            </a:prstGeom>
            <a:solidFill>
              <a:srgbClr val="37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燕尾形 29">
              <a:extLst>
                <a:ext uri="{FF2B5EF4-FFF2-40B4-BE49-F238E27FC236}">
                  <a16:creationId xmlns:a16="http://schemas.microsoft.com/office/drawing/2014/main" id="{D83372B0-31CA-4DC9-B0CF-1BC78E3FD05E}"/>
                </a:ext>
              </a:extLst>
            </p:cNvPr>
            <p:cNvSpPr/>
            <p:nvPr/>
          </p:nvSpPr>
          <p:spPr>
            <a:xfrm>
              <a:off x="6851649" y="2112621"/>
              <a:ext cx="463551" cy="463551"/>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3" name="文本框 12">
            <a:extLst>
              <a:ext uri="{FF2B5EF4-FFF2-40B4-BE49-F238E27FC236}">
                <a16:creationId xmlns:a16="http://schemas.microsoft.com/office/drawing/2014/main" id="{6EC3D4BB-4287-4E13-9B78-AEC29431B836}"/>
              </a:ext>
            </a:extLst>
          </p:cNvPr>
          <p:cNvSpPr txBox="1"/>
          <p:nvPr/>
        </p:nvSpPr>
        <p:spPr>
          <a:xfrm>
            <a:off x="6431748" y="2660894"/>
            <a:ext cx="437940" cy="338554"/>
          </a:xfrm>
          <a:prstGeom prst="rect">
            <a:avLst/>
          </a:prstGeom>
          <a:noFill/>
        </p:spPr>
        <p:txBody>
          <a:bodyPr wrap="none" rtlCol="0">
            <a:spAutoFit/>
          </a:bodyPr>
          <a:lstStyle/>
          <a:p>
            <a:r>
              <a:rPr lang="en-US" altLang="zh-CN" sz="1600" b="1" dirty="0">
                <a:solidFill>
                  <a:schemeClr val="bg1"/>
                </a:solidFill>
                <a:latin typeface="微软雅黑" panose="020B0503020204020204" pitchFamily="34" charset="-122"/>
                <a:ea typeface="微软雅黑" panose="020B0503020204020204" pitchFamily="34" charset="-122"/>
              </a:rPr>
              <a:t>01</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C9900347-56C4-4DF0-8837-975233756262}"/>
              </a:ext>
            </a:extLst>
          </p:cNvPr>
          <p:cNvSpPr txBox="1"/>
          <p:nvPr/>
        </p:nvSpPr>
        <p:spPr>
          <a:xfrm>
            <a:off x="6431748" y="3626875"/>
            <a:ext cx="437940" cy="338554"/>
          </a:xfrm>
          <a:prstGeom prst="rect">
            <a:avLst/>
          </a:prstGeom>
          <a:noFill/>
        </p:spPr>
        <p:txBody>
          <a:bodyPr wrap="none" rtlCol="0">
            <a:spAutoFit/>
          </a:bodyPr>
          <a:lstStyle/>
          <a:p>
            <a:r>
              <a:rPr lang="en-US" altLang="zh-CN" sz="1600" b="1" dirty="0">
                <a:solidFill>
                  <a:schemeClr val="bg1"/>
                </a:solidFill>
                <a:latin typeface="微软雅黑" panose="020B0503020204020204" pitchFamily="34" charset="-122"/>
                <a:ea typeface="微软雅黑" panose="020B0503020204020204" pitchFamily="34" charset="-122"/>
              </a:rPr>
              <a:t>02</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2227AE2D-9A57-4668-A9D6-D080BF5DDBD0}"/>
              </a:ext>
            </a:extLst>
          </p:cNvPr>
          <p:cNvSpPr txBox="1"/>
          <p:nvPr/>
        </p:nvSpPr>
        <p:spPr>
          <a:xfrm>
            <a:off x="6438342" y="4354121"/>
            <a:ext cx="437940" cy="338554"/>
          </a:xfrm>
          <a:prstGeom prst="rect">
            <a:avLst/>
          </a:prstGeom>
          <a:noFill/>
        </p:spPr>
        <p:txBody>
          <a:bodyPr wrap="none" rtlCol="0">
            <a:spAutoFit/>
          </a:bodyPr>
          <a:lstStyle/>
          <a:p>
            <a:r>
              <a:rPr lang="en-US" altLang="zh-CN" sz="1600" b="1" dirty="0">
                <a:solidFill>
                  <a:schemeClr val="bg1"/>
                </a:solidFill>
                <a:latin typeface="微软雅黑" panose="020B0503020204020204" pitchFamily="34" charset="-122"/>
                <a:ea typeface="微软雅黑" panose="020B0503020204020204" pitchFamily="34" charset="-122"/>
              </a:rPr>
              <a:t>02</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pic>
        <p:nvPicPr>
          <p:cNvPr id="16" name="图片 15">
            <a:extLst>
              <a:ext uri="{FF2B5EF4-FFF2-40B4-BE49-F238E27FC236}">
                <a16:creationId xmlns:a16="http://schemas.microsoft.com/office/drawing/2014/main" id="{77BC0962-4628-4A6B-9C42-7208E4A752C4}"/>
              </a:ext>
            </a:extLst>
          </p:cNvPr>
          <p:cNvPicPr>
            <a:picLocks noChangeAspect="1"/>
          </p:cNvPicPr>
          <p:nvPr/>
        </p:nvPicPr>
        <p:blipFill>
          <a:blip r:embed="rId4"/>
          <a:stretch>
            <a:fillRect/>
          </a:stretch>
        </p:blipFill>
        <p:spPr>
          <a:xfrm>
            <a:off x="1352487" y="2037402"/>
            <a:ext cx="3871295" cy="3856054"/>
          </a:xfrm>
          <a:prstGeom prst="rect">
            <a:avLst/>
          </a:prstGeom>
        </p:spPr>
      </p:pic>
      <p:sp>
        <p:nvSpPr>
          <p:cNvPr id="17" name="文本框 16">
            <a:extLst>
              <a:ext uri="{FF2B5EF4-FFF2-40B4-BE49-F238E27FC236}">
                <a16:creationId xmlns:a16="http://schemas.microsoft.com/office/drawing/2014/main" id="{EBD49ED0-E7DD-4E81-BBD7-ED76B42AE9D2}"/>
              </a:ext>
            </a:extLst>
          </p:cNvPr>
          <p:cNvSpPr txBox="1"/>
          <p:nvPr/>
        </p:nvSpPr>
        <p:spPr>
          <a:xfrm>
            <a:off x="7449170" y="2645505"/>
            <a:ext cx="7479792" cy="369332"/>
          </a:xfrm>
          <a:prstGeom prst="rect">
            <a:avLst/>
          </a:prstGeom>
          <a:noFill/>
        </p:spPr>
        <p:txBody>
          <a:bodyPr wrap="square">
            <a:spAutoFit/>
          </a:bodyPr>
          <a:lstStyle/>
          <a:p>
            <a:r>
              <a:rPr lang="zh-CN" altLang="en-US" b="1" dirty="0"/>
              <a:t>裁剪</a:t>
            </a:r>
            <a:r>
              <a:rPr lang="en-US" altLang="zh-CN" b="1" dirty="0" err="1"/>
              <a:t>lena</a:t>
            </a:r>
            <a:r>
              <a:rPr lang="zh-CN" altLang="en-US" b="1" dirty="0"/>
              <a:t>图像的某部分内容</a:t>
            </a:r>
          </a:p>
        </p:txBody>
      </p:sp>
      <p:sp>
        <p:nvSpPr>
          <p:cNvPr id="18" name="文本框 17">
            <a:extLst>
              <a:ext uri="{FF2B5EF4-FFF2-40B4-BE49-F238E27FC236}">
                <a16:creationId xmlns:a16="http://schemas.microsoft.com/office/drawing/2014/main" id="{46E4270E-87FD-4F5B-9274-0F72984737AE}"/>
              </a:ext>
            </a:extLst>
          </p:cNvPr>
          <p:cNvSpPr txBox="1"/>
          <p:nvPr/>
        </p:nvSpPr>
        <p:spPr>
          <a:xfrm>
            <a:off x="7483278" y="4323343"/>
            <a:ext cx="7479792" cy="369332"/>
          </a:xfrm>
          <a:prstGeom prst="rect">
            <a:avLst/>
          </a:prstGeom>
          <a:noFill/>
        </p:spPr>
        <p:txBody>
          <a:bodyPr wrap="square">
            <a:spAutoFit/>
          </a:bodyPr>
          <a:lstStyle/>
          <a:p>
            <a:r>
              <a:rPr lang="zh-CN" altLang="en-US" b="1" dirty="0"/>
              <a:t>将其放入到新创建的</a:t>
            </a:r>
            <a:r>
              <a:rPr lang="en-US" altLang="zh-CN" b="1" dirty="0"/>
              <a:t>.</a:t>
            </a:r>
            <a:r>
              <a:rPr lang="en-US" altLang="zh-CN" b="1" dirty="0" err="1"/>
              <a:t>tif</a:t>
            </a:r>
            <a:r>
              <a:rPr lang="zh-CN" altLang="en-US" b="1" dirty="0"/>
              <a:t>文件</a:t>
            </a:r>
          </a:p>
        </p:txBody>
      </p:sp>
    </p:spTree>
    <p:extLst>
      <p:ext uri="{BB962C8B-B14F-4D97-AF65-F5344CB8AC3E}">
        <p14:creationId xmlns:p14="http://schemas.microsoft.com/office/powerpoint/2010/main" val="1173009868"/>
      </p:ext>
    </p:extLst>
  </p:cSld>
  <p:clrMapOvr>
    <a:masterClrMapping/>
  </p:clrMapOvr>
  <mc:AlternateContent xmlns:mc="http://schemas.openxmlformats.org/markup-compatibility/2006" xmlns:p14="http://schemas.microsoft.com/office/powerpoint/2010/main">
    <mc:Choice Requires="p14">
      <p:transition p14:dur="250" advClick="0" advTm="8471">
        <p:push dir="u"/>
      </p:transition>
    </mc:Choice>
    <mc:Fallback xmlns="">
      <p:transition advClick="0" advTm="847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图片 28">
            <a:extLst>
              <a:ext uri="{FF2B5EF4-FFF2-40B4-BE49-F238E27FC236}">
                <a16:creationId xmlns:a16="http://schemas.microsoft.com/office/drawing/2014/main" id="{31B1DB7A-FABB-4D5E-B50F-48C83F39A453}"/>
              </a:ext>
            </a:extLst>
          </p:cNvPr>
          <p:cNvPicPr>
            <a:picLocks noChangeAspect="1"/>
          </p:cNvPicPr>
          <p:nvPr/>
        </p:nvPicPr>
        <p:blipFill>
          <a:blip r:embed="rId3" cstate="email"/>
          <a:stretch>
            <a:fillRect/>
          </a:stretch>
        </p:blipFill>
        <p:spPr>
          <a:xfrm>
            <a:off x="-479952" y="740551"/>
            <a:ext cx="8528577" cy="5211908"/>
          </a:xfrm>
          <a:prstGeom prst="rect">
            <a:avLst/>
          </a:prstGeom>
        </p:spPr>
      </p:pic>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p:cNvSpPr txBox="1"/>
          <p:nvPr/>
        </p:nvSpPr>
        <p:spPr>
          <a:xfrm>
            <a:off x="539982" y="440281"/>
            <a:ext cx="4582524" cy="461665"/>
          </a:xfrm>
          <a:prstGeom prst="rect">
            <a:avLst/>
          </a:prstGeom>
          <a:noFill/>
        </p:spPr>
        <p:txBody>
          <a:bodyPr wrap="square" rtlCol="0">
            <a:spAutoFit/>
          </a:bodyPr>
          <a:lstStyle/>
          <a:p>
            <a:pPr defTabSz="121920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 获取基本信息</a:t>
            </a:r>
          </a:p>
        </p:txBody>
      </p:sp>
      <p:sp>
        <p:nvSpPr>
          <p:cNvPr id="19" name="文本框 18">
            <a:extLst>
              <a:ext uri="{FF2B5EF4-FFF2-40B4-BE49-F238E27FC236}">
                <a16:creationId xmlns:a16="http://schemas.microsoft.com/office/drawing/2014/main" id="{608FDD91-D587-4C16-AAF4-79BB027EA6C4}"/>
              </a:ext>
            </a:extLst>
          </p:cNvPr>
          <p:cNvSpPr txBox="1"/>
          <p:nvPr/>
        </p:nvSpPr>
        <p:spPr>
          <a:xfrm>
            <a:off x="8296721" y="1185793"/>
            <a:ext cx="3325827" cy="369332"/>
          </a:xfrm>
          <a:prstGeom prst="rect">
            <a:avLst/>
          </a:prstGeom>
          <a:noFill/>
        </p:spPr>
        <p:txBody>
          <a:bodyPr wrap="square" rtlCol="0">
            <a:spAutoFit/>
          </a:bodyPr>
          <a:lstStyle/>
          <a:p>
            <a:r>
              <a:rPr lang="en-US" altLang="zh-CN" b="1" dirty="0">
                <a:solidFill>
                  <a:sysClr val="windowText" lastClr="000000"/>
                </a:solidFill>
                <a:latin typeface="微软雅黑" panose="020B0503020204020204" pitchFamily="34" charset="-122"/>
                <a:ea typeface="微软雅黑" panose="020B0503020204020204" pitchFamily="34" charset="-122"/>
              </a:rPr>
              <a:t>01.</a:t>
            </a:r>
            <a:r>
              <a:rPr lang="zh-CN" altLang="en-US" b="1" dirty="0">
                <a:solidFill>
                  <a:sysClr val="windowText" lastClr="000000"/>
                </a:solidFill>
                <a:latin typeface="微软雅黑" panose="020B0503020204020204" pitchFamily="34" charset="-122"/>
                <a:ea typeface="微软雅黑" panose="020B0503020204020204" pitchFamily="34" charset="-122"/>
              </a:rPr>
              <a:t>打开图像</a:t>
            </a:r>
          </a:p>
        </p:txBody>
      </p:sp>
      <p:sp>
        <p:nvSpPr>
          <p:cNvPr id="20" name="矩形 19">
            <a:extLst>
              <a:ext uri="{FF2B5EF4-FFF2-40B4-BE49-F238E27FC236}">
                <a16:creationId xmlns:a16="http://schemas.microsoft.com/office/drawing/2014/main" id="{31CD54AC-EB86-4ABF-BC5D-97C0BA021CD6}"/>
              </a:ext>
            </a:extLst>
          </p:cNvPr>
          <p:cNvSpPr/>
          <p:nvPr/>
        </p:nvSpPr>
        <p:spPr>
          <a:xfrm>
            <a:off x="8296722" y="1564953"/>
            <a:ext cx="3174727" cy="905248"/>
          </a:xfrm>
          <a:prstGeom prst="rect">
            <a:avLst/>
          </a:prstGeom>
        </p:spPr>
        <p:txBody>
          <a:bodyPr wrap="square">
            <a:spAutoFit/>
          </a:bodyPr>
          <a:lstStyle/>
          <a:p>
            <a:pPr>
              <a:lnSpc>
                <a:spcPct val="130000"/>
              </a:lnSpc>
            </a:pPr>
            <a:r>
              <a:rPr lang="zh-CN" altLang="en-US" sz="1400" dirty="0">
                <a:solidFill>
                  <a:schemeClr val="tx1">
                    <a:lumMod val="85000"/>
                    <a:lumOff val="15000"/>
                  </a:schemeClr>
                </a:solidFill>
                <a:latin typeface="微软雅黑" pitchFamily="34" charset="-122"/>
                <a:ea typeface="微软雅黑" pitchFamily="34" charset="-122"/>
              </a:rPr>
              <a:t>指的是获取图像的头文件，以此得到图像的一些信息，没有涉及到读取像素操作。</a:t>
            </a:r>
          </a:p>
        </p:txBody>
      </p:sp>
      <p:sp>
        <p:nvSpPr>
          <p:cNvPr id="21" name="文本框 20">
            <a:extLst>
              <a:ext uri="{FF2B5EF4-FFF2-40B4-BE49-F238E27FC236}">
                <a16:creationId xmlns:a16="http://schemas.microsoft.com/office/drawing/2014/main" id="{6ABFD68F-7CAD-404F-A76A-6A93C31A1894}"/>
              </a:ext>
            </a:extLst>
          </p:cNvPr>
          <p:cNvSpPr txBox="1"/>
          <p:nvPr/>
        </p:nvSpPr>
        <p:spPr>
          <a:xfrm>
            <a:off x="8296722" y="2539519"/>
            <a:ext cx="2383470" cy="369332"/>
          </a:xfrm>
          <a:prstGeom prst="rect">
            <a:avLst/>
          </a:prstGeom>
          <a:noFill/>
        </p:spPr>
        <p:txBody>
          <a:bodyPr wrap="square" rtlCol="0">
            <a:spAutoFit/>
          </a:bodyPr>
          <a:lstStyle/>
          <a:p>
            <a:r>
              <a:rPr lang="en-US" altLang="zh-CN" b="1" dirty="0">
                <a:solidFill>
                  <a:sysClr val="windowText" lastClr="000000"/>
                </a:solidFill>
                <a:latin typeface="微软雅黑" panose="020B0503020204020204" pitchFamily="34" charset="-122"/>
                <a:ea typeface="微软雅黑" panose="020B0503020204020204" pitchFamily="34" charset="-122"/>
              </a:rPr>
              <a:t>02.</a:t>
            </a:r>
            <a:r>
              <a:rPr lang="zh-CN" altLang="en-US" b="1" dirty="0">
                <a:solidFill>
                  <a:sysClr val="windowText" lastClr="000000"/>
                </a:solidFill>
                <a:latin typeface="微软雅黑" panose="020B0503020204020204" pitchFamily="34" charset="-122"/>
                <a:ea typeface="微软雅黑" panose="020B0503020204020204" pitchFamily="34" charset="-122"/>
              </a:rPr>
              <a:t>读取图像信息</a:t>
            </a:r>
          </a:p>
        </p:txBody>
      </p:sp>
      <p:sp>
        <p:nvSpPr>
          <p:cNvPr id="22" name="矩形 21">
            <a:extLst>
              <a:ext uri="{FF2B5EF4-FFF2-40B4-BE49-F238E27FC236}">
                <a16:creationId xmlns:a16="http://schemas.microsoft.com/office/drawing/2014/main" id="{FF94BDBE-C8D4-436F-9368-F64448BAF0C8}"/>
              </a:ext>
            </a:extLst>
          </p:cNvPr>
          <p:cNvSpPr/>
          <p:nvPr/>
        </p:nvSpPr>
        <p:spPr>
          <a:xfrm>
            <a:off x="8296722" y="2872959"/>
            <a:ext cx="3174727" cy="2025555"/>
          </a:xfrm>
          <a:prstGeom prst="rect">
            <a:avLst/>
          </a:prstGeom>
        </p:spPr>
        <p:txBody>
          <a:bodyPr wrap="square">
            <a:spAutoFit/>
          </a:bodyPr>
          <a:lstStyle/>
          <a:p>
            <a:pPr>
              <a:lnSpc>
                <a:spcPct val="130000"/>
              </a:lnSpc>
            </a:pPr>
            <a:r>
              <a:rPr lang="zh-CN" altLang="en-US" sz="1400" dirty="0">
                <a:solidFill>
                  <a:schemeClr val="tx1">
                    <a:lumMod val="85000"/>
                    <a:lumOff val="15000"/>
                  </a:schemeClr>
                </a:solidFill>
                <a:latin typeface="微软雅黑" pitchFamily="34" charset="-122"/>
                <a:ea typeface="微软雅黑" pitchFamily="34" charset="-122"/>
              </a:rPr>
              <a:t>图像宽、高总所周知了，而波段数就是通道，如</a:t>
            </a:r>
            <a:r>
              <a:rPr lang="en-US" altLang="zh-CN" sz="1400" dirty="0">
                <a:solidFill>
                  <a:schemeClr val="tx1">
                    <a:lumMod val="85000"/>
                    <a:lumOff val="15000"/>
                  </a:schemeClr>
                </a:solidFill>
                <a:latin typeface="微软雅黑" pitchFamily="34" charset="-122"/>
                <a:ea typeface="微软雅黑" pitchFamily="34" charset="-122"/>
              </a:rPr>
              <a:t>RGB</a:t>
            </a:r>
            <a:r>
              <a:rPr lang="zh-CN" altLang="en-US" sz="1400" dirty="0">
                <a:solidFill>
                  <a:schemeClr val="tx1">
                    <a:lumMod val="85000"/>
                    <a:lumOff val="15000"/>
                  </a:schemeClr>
                </a:solidFill>
                <a:latin typeface="微软雅黑" pitchFamily="34" charset="-122"/>
                <a:ea typeface="微软雅黑" pitchFamily="34" charset="-122"/>
              </a:rPr>
              <a:t>图像的波段数为</a:t>
            </a:r>
            <a:r>
              <a:rPr lang="en-US" altLang="zh-CN" sz="1400" dirty="0">
                <a:solidFill>
                  <a:schemeClr val="tx1">
                    <a:lumMod val="85000"/>
                    <a:lumOff val="15000"/>
                  </a:schemeClr>
                </a:solidFill>
                <a:latin typeface="微软雅黑" pitchFamily="34" charset="-122"/>
                <a:ea typeface="微软雅黑" pitchFamily="34" charset="-122"/>
              </a:rPr>
              <a:t>3</a:t>
            </a:r>
            <a:r>
              <a:rPr lang="zh-CN" altLang="en-US" sz="1400" dirty="0">
                <a:solidFill>
                  <a:schemeClr val="tx1">
                    <a:lumMod val="85000"/>
                    <a:lumOff val="15000"/>
                  </a:schemeClr>
                </a:solidFill>
                <a:latin typeface="微软雅黑" pitchFamily="34" charset="-122"/>
                <a:ea typeface="微软雅黑" pitchFamily="34" charset="-122"/>
              </a:rPr>
              <a:t>。深度标识的就是图像的存储单位，比如一般图像就是</a:t>
            </a:r>
            <a:r>
              <a:rPr lang="en-US" altLang="zh-CN" sz="1400" dirty="0">
                <a:solidFill>
                  <a:schemeClr val="tx1">
                    <a:lumMod val="85000"/>
                    <a:lumOff val="15000"/>
                  </a:schemeClr>
                </a:solidFill>
                <a:latin typeface="微软雅黑" pitchFamily="34" charset="-122"/>
                <a:ea typeface="微软雅黑" pitchFamily="34" charset="-122"/>
              </a:rPr>
              <a:t>8</a:t>
            </a:r>
            <a:r>
              <a:rPr lang="zh-CN" altLang="en-US" sz="1400" dirty="0">
                <a:solidFill>
                  <a:schemeClr val="tx1">
                    <a:lumMod val="85000"/>
                    <a:lumOff val="15000"/>
                  </a:schemeClr>
                </a:solidFill>
                <a:latin typeface="微软雅黑" pitchFamily="34" charset="-122"/>
                <a:ea typeface="微软雅黑" pitchFamily="34" charset="-122"/>
              </a:rPr>
              <a:t>位，用无字节字符型</a:t>
            </a:r>
            <a:r>
              <a:rPr lang="en-US" altLang="zh-CN" sz="1400" dirty="0">
                <a:solidFill>
                  <a:schemeClr val="tx1">
                    <a:lumMod val="85000"/>
                    <a:lumOff val="15000"/>
                  </a:schemeClr>
                </a:solidFill>
                <a:latin typeface="微软雅黑" pitchFamily="34" charset="-122"/>
                <a:ea typeface="微软雅黑" pitchFamily="34" charset="-122"/>
              </a:rPr>
              <a:t>unsigned char</a:t>
            </a:r>
            <a:r>
              <a:rPr lang="zh-CN" altLang="en-US" sz="1400" dirty="0">
                <a:solidFill>
                  <a:schemeClr val="tx1">
                    <a:lumMod val="85000"/>
                    <a:lumOff val="15000"/>
                  </a:schemeClr>
                </a:solidFill>
                <a:latin typeface="微软雅黑" pitchFamily="34" charset="-122"/>
                <a:ea typeface="微软雅黑" pitchFamily="34" charset="-122"/>
              </a:rPr>
              <a:t>来表达</a:t>
            </a:r>
            <a:r>
              <a:rPr lang="en-US" altLang="zh-CN" sz="1400" dirty="0">
                <a:solidFill>
                  <a:schemeClr val="tx1">
                    <a:lumMod val="85000"/>
                    <a:lumOff val="15000"/>
                  </a:schemeClr>
                </a:solidFill>
                <a:latin typeface="微软雅黑" pitchFamily="34" charset="-122"/>
                <a:ea typeface="微软雅黑" pitchFamily="34" charset="-122"/>
              </a:rPr>
              <a:t>0~255</a:t>
            </a:r>
            <a:r>
              <a:rPr lang="zh-CN" altLang="en-US" sz="1400" dirty="0">
                <a:solidFill>
                  <a:schemeClr val="tx1">
                    <a:lumMod val="85000"/>
                    <a:lumOff val="15000"/>
                  </a:schemeClr>
                </a:solidFill>
                <a:latin typeface="微软雅黑" pitchFamily="34" charset="-122"/>
                <a:ea typeface="微软雅黑" pitchFamily="34" charset="-122"/>
              </a:rPr>
              <a:t>的像素值；而除以</a:t>
            </a:r>
            <a:r>
              <a:rPr lang="en-US" altLang="zh-CN" sz="1400" dirty="0">
                <a:solidFill>
                  <a:schemeClr val="tx1">
                    <a:lumMod val="85000"/>
                    <a:lumOff val="15000"/>
                  </a:schemeClr>
                </a:solidFill>
                <a:latin typeface="微软雅黑" pitchFamily="34" charset="-122"/>
                <a:ea typeface="微软雅黑" pitchFamily="34" charset="-122"/>
              </a:rPr>
              <a:t>8</a:t>
            </a:r>
            <a:r>
              <a:rPr lang="zh-CN" altLang="en-US" sz="1400" dirty="0">
                <a:solidFill>
                  <a:schemeClr val="tx1">
                    <a:lumMod val="85000"/>
                    <a:lumOff val="15000"/>
                  </a:schemeClr>
                </a:solidFill>
                <a:latin typeface="微软雅黑" pitchFamily="34" charset="-122"/>
                <a:ea typeface="微软雅黑" pitchFamily="34" charset="-122"/>
              </a:rPr>
              <a:t>标识</a:t>
            </a:r>
            <a:r>
              <a:rPr lang="en-US" altLang="zh-CN" sz="1400" dirty="0">
                <a:solidFill>
                  <a:schemeClr val="tx1">
                    <a:lumMod val="85000"/>
                    <a:lumOff val="15000"/>
                  </a:schemeClr>
                </a:solidFill>
                <a:latin typeface="微软雅黑" pitchFamily="34" charset="-122"/>
                <a:ea typeface="微软雅黑" pitchFamily="34" charset="-122"/>
              </a:rPr>
              <a:t>1</a:t>
            </a:r>
            <a:r>
              <a:rPr lang="zh-CN" altLang="en-US" sz="1400" dirty="0">
                <a:solidFill>
                  <a:schemeClr val="tx1">
                    <a:lumMod val="85000"/>
                    <a:lumOff val="15000"/>
                  </a:schemeClr>
                </a:solidFill>
                <a:latin typeface="微软雅黑" pitchFamily="34" charset="-122"/>
                <a:ea typeface="微软雅黑" pitchFamily="34" charset="-122"/>
              </a:rPr>
              <a:t>个字节，方便读取像素</a:t>
            </a:r>
            <a:r>
              <a:rPr lang="en-US" altLang="zh-CN" sz="1400" dirty="0" err="1">
                <a:solidFill>
                  <a:schemeClr val="tx1">
                    <a:lumMod val="85000"/>
                    <a:lumOff val="15000"/>
                  </a:schemeClr>
                </a:solidFill>
                <a:latin typeface="微软雅黑" pitchFamily="34" charset="-122"/>
                <a:ea typeface="微软雅黑" pitchFamily="34" charset="-122"/>
              </a:rPr>
              <a:t>buf</a:t>
            </a:r>
            <a:r>
              <a:rPr lang="zh-CN" altLang="en-US" sz="1400" dirty="0">
                <a:solidFill>
                  <a:schemeClr val="tx1">
                    <a:lumMod val="85000"/>
                    <a:lumOff val="15000"/>
                  </a:schemeClr>
                </a:solidFill>
                <a:latin typeface="微软雅黑" pitchFamily="34" charset="-122"/>
                <a:ea typeface="微软雅黑" pitchFamily="34" charset="-122"/>
              </a:rPr>
              <a:t>。</a:t>
            </a:r>
          </a:p>
        </p:txBody>
      </p:sp>
      <p:sp>
        <p:nvSpPr>
          <p:cNvPr id="23" name="文本框 22">
            <a:extLst>
              <a:ext uri="{FF2B5EF4-FFF2-40B4-BE49-F238E27FC236}">
                <a16:creationId xmlns:a16="http://schemas.microsoft.com/office/drawing/2014/main" id="{B97AF10B-13CF-4238-A278-0DEA565F0C0D}"/>
              </a:ext>
            </a:extLst>
          </p:cNvPr>
          <p:cNvSpPr txBox="1"/>
          <p:nvPr/>
        </p:nvSpPr>
        <p:spPr>
          <a:xfrm>
            <a:off x="8296722" y="4864410"/>
            <a:ext cx="3718494" cy="369332"/>
          </a:xfrm>
          <a:prstGeom prst="rect">
            <a:avLst/>
          </a:prstGeom>
          <a:noFill/>
        </p:spPr>
        <p:txBody>
          <a:bodyPr wrap="square" rtlCol="0">
            <a:spAutoFit/>
          </a:bodyPr>
          <a:lstStyle/>
          <a:p>
            <a:r>
              <a:rPr lang="en-US" altLang="zh-CN" b="1" dirty="0">
                <a:solidFill>
                  <a:sysClr val="windowText" lastClr="000000"/>
                </a:solidFill>
                <a:latin typeface="微软雅黑" panose="020B0503020204020204" pitchFamily="34" charset="-122"/>
                <a:ea typeface="微软雅黑" panose="020B0503020204020204" pitchFamily="34" charset="-122"/>
              </a:rPr>
              <a:t>03.</a:t>
            </a:r>
            <a:r>
              <a:rPr lang="zh-CN" altLang="en-US" b="1" dirty="0">
                <a:solidFill>
                  <a:sysClr val="windowText" lastClr="000000"/>
                </a:solidFill>
                <a:latin typeface="微软雅黑" panose="020B0503020204020204" pitchFamily="34" charset="-122"/>
                <a:ea typeface="微软雅黑" panose="020B0503020204020204" pitchFamily="34" charset="-122"/>
              </a:rPr>
              <a:t>关闭打开的文件</a:t>
            </a:r>
          </a:p>
        </p:txBody>
      </p:sp>
      <p:sp>
        <p:nvSpPr>
          <p:cNvPr id="24" name="矩形 23">
            <a:extLst>
              <a:ext uri="{FF2B5EF4-FFF2-40B4-BE49-F238E27FC236}">
                <a16:creationId xmlns:a16="http://schemas.microsoft.com/office/drawing/2014/main" id="{59AAAB2D-A6D7-43F0-AF6F-A400135931DF}"/>
              </a:ext>
            </a:extLst>
          </p:cNvPr>
          <p:cNvSpPr/>
          <p:nvPr/>
        </p:nvSpPr>
        <p:spPr>
          <a:xfrm>
            <a:off x="8296723" y="5206994"/>
            <a:ext cx="3174726" cy="905248"/>
          </a:xfrm>
          <a:prstGeom prst="rect">
            <a:avLst/>
          </a:prstGeom>
        </p:spPr>
        <p:txBody>
          <a:bodyPr wrap="square">
            <a:spAutoFit/>
          </a:bodyPr>
          <a:lstStyle/>
          <a:p>
            <a:pPr>
              <a:lnSpc>
                <a:spcPct val="130000"/>
              </a:lnSpc>
            </a:pPr>
            <a:r>
              <a:rPr lang="zh-CN" altLang="en-US" sz="1400" dirty="0">
                <a:solidFill>
                  <a:schemeClr val="tx1">
                    <a:lumMod val="85000"/>
                    <a:lumOff val="15000"/>
                  </a:schemeClr>
                </a:solidFill>
                <a:latin typeface="微软雅黑" pitchFamily="34" charset="-122"/>
                <a:ea typeface="微软雅黑" pitchFamily="34" charset="-122"/>
              </a:rPr>
              <a:t>如果已经读取完毕或者不需要这张图像的相关操作了，最后要关闭打开的文件，否则会内存泄漏。</a:t>
            </a:r>
          </a:p>
        </p:txBody>
      </p:sp>
      <p:pic>
        <p:nvPicPr>
          <p:cNvPr id="26" name="图片 25">
            <a:extLst>
              <a:ext uri="{FF2B5EF4-FFF2-40B4-BE49-F238E27FC236}">
                <a16:creationId xmlns:a16="http://schemas.microsoft.com/office/drawing/2014/main" id="{93703910-9977-4637-8FBC-DDEC0A249F6F}"/>
              </a:ext>
            </a:extLst>
          </p:cNvPr>
          <p:cNvPicPr>
            <a:picLocks noChangeAspect="1"/>
          </p:cNvPicPr>
          <p:nvPr/>
        </p:nvPicPr>
        <p:blipFill rotWithShape="1">
          <a:blip r:embed="rId5"/>
          <a:srcRect r="10979"/>
          <a:stretch/>
        </p:blipFill>
        <p:spPr>
          <a:xfrm>
            <a:off x="925126" y="3560821"/>
            <a:ext cx="5951993" cy="907075"/>
          </a:xfrm>
          <a:prstGeom prst="rect">
            <a:avLst/>
          </a:prstGeom>
        </p:spPr>
      </p:pic>
      <p:pic>
        <p:nvPicPr>
          <p:cNvPr id="27" name="图片 26">
            <a:extLst>
              <a:ext uri="{FF2B5EF4-FFF2-40B4-BE49-F238E27FC236}">
                <a16:creationId xmlns:a16="http://schemas.microsoft.com/office/drawing/2014/main" id="{F849C5AF-2750-4E69-BB4D-FED4258A0038}"/>
              </a:ext>
            </a:extLst>
          </p:cNvPr>
          <p:cNvPicPr>
            <a:picLocks noChangeAspect="1"/>
          </p:cNvPicPr>
          <p:nvPr/>
        </p:nvPicPr>
        <p:blipFill>
          <a:blip r:embed="rId6"/>
          <a:stretch>
            <a:fillRect/>
          </a:stretch>
        </p:blipFill>
        <p:spPr>
          <a:xfrm>
            <a:off x="926545" y="1404823"/>
            <a:ext cx="5960807" cy="2154024"/>
          </a:xfrm>
          <a:prstGeom prst="rect">
            <a:avLst/>
          </a:prstGeom>
        </p:spPr>
      </p:pic>
      <p:pic>
        <p:nvPicPr>
          <p:cNvPr id="28" name="图片 27">
            <a:extLst>
              <a:ext uri="{FF2B5EF4-FFF2-40B4-BE49-F238E27FC236}">
                <a16:creationId xmlns:a16="http://schemas.microsoft.com/office/drawing/2014/main" id="{D5DCC6A2-7443-4F12-BAA8-8C7B1302B816}"/>
              </a:ext>
            </a:extLst>
          </p:cNvPr>
          <p:cNvPicPr>
            <a:picLocks noChangeAspect="1"/>
          </p:cNvPicPr>
          <p:nvPr/>
        </p:nvPicPr>
        <p:blipFill>
          <a:blip r:embed="rId7"/>
          <a:stretch>
            <a:fillRect/>
          </a:stretch>
        </p:blipFill>
        <p:spPr>
          <a:xfrm>
            <a:off x="923901" y="4453986"/>
            <a:ext cx="5953149" cy="202948"/>
          </a:xfrm>
          <a:prstGeom prst="rect">
            <a:avLst/>
          </a:prstGeom>
        </p:spPr>
      </p:pic>
    </p:spTree>
    <p:extLst>
      <p:ext uri="{BB962C8B-B14F-4D97-AF65-F5344CB8AC3E}">
        <p14:creationId xmlns:p14="http://schemas.microsoft.com/office/powerpoint/2010/main" val="1934477087"/>
      </p:ext>
    </p:extLst>
  </p:cSld>
  <p:clrMapOvr>
    <a:masterClrMapping/>
  </p:clrMapOvr>
  <mc:AlternateContent xmlns:mc="http://schemas.openxmlformats.org/markup-compatibility/2006" xmlns:p14="http://schemas.microsoft.com/office/powerpoint/2010/main">
    <mc:Choice Requires="p14">
      <p:transition p14:dur="250" advClick="0" advTm="8471">
        <p:push dir="u"/>
      </p:transition>
    </mc:Choice>
    <mc:Fallback xmlns="">
      <p:transition advClick="0" advTm="847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1000"/>
                                        <p:tgtEl>
                                          <p:spTgt spid="19"/>
                                        </p:tgtEl>
                                      </p:cBhvr>
                                    </p:animEffect>
                                    <p:anim calcmode="lin" valueType="num">
                                      <p:cBhvr>
                                        <p:cTn id="18" dur="1000" fill="hold"/>
                                        <p:tgtEl>
                                          <p:spTgt spid="19"/>
                                        </p:tgtEl>
                                        <p:attrNameLst>
                                          <p:attrName>ppt_x</p:attrName>
                                        </p:attrNameLst>
                                      </p:cBhvr>
                                      <p:tavLst>
                                        <p:tav tm="0">
                                          <p:val>
                                            <p:strVal val="#ppt_x"/>
                                          </p:val>
                                        </p:tav>
                                        <p:tav tm="100000">
                                          <p:val>
                                            <p:strVal val="#ppt_x"/>
                                          </p:val>
                                        </p:tav>
                                      </p:tavLst>
                                    </p:anim>
                                    <p:anim calcmode="lin" valueType="num">
                                      <p:cBhvr>
                                        <p:cTn id="19" dur="1000" fill="hold"/>
                                        <p:tgtEl>
                                          <p:spTgt spid="1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1000"/>
                                        <p:tgtEl>
                                          <p:spTgt spid="20"/>
                                        </p:tgtEl>
                                      </p:cBhvr>
                                    </p:animEffect>
                                    <p:anim calcmode="lin" valueType="num">
                                      <p:cBhvr>
                                        <p:cTn id="23" dur="1000" fill="hold"/>
                                        <p:tgtEl>
                                          <p:spTgt spid="20"/>
                                        </p:tgtEl>
                                        <p:attrNameLst>
                                          <p:attrName>ppt_x</p:attrName>
                                        </p:attrNameLst>
                                      </p:cBhvr>
                                      <p:tavLst>
                                        <p:tav tm="0">
                                          <p:val>
                                            <p:strVal val="#ppt_x"/>
                                          </p:val>
                                        </p:tav>
                                        <p:tav tm="100000">
                                          <p:val>
                                            <p:strVal val="#ppt_x"/>
                                          </p:val>
                                        </p:tav>
                                      </p:tavLst>
                                    </p:anim>
                                    <p:anim calcmode="lin" valueType="num">
                                      <p:cBhvr>
                                        <p:cTn id="24" dur="1000" fill="hold"/>
                                        <p:tgtEl>
                                          <p:spTgt spid="2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1000"/>
                                        <p:tgtEl>
                                          <p:spTgt spid="22"/>
                                        </p:tgtEl>
                                      </p:cBhvr>
                                    </p:animEffect>
                                    <p:anim calcmode="lin" valueType="num">
                                      <p:cBhvr>
                                        <p:cTn id="33" dur="1000" fill="hold"/>
                                        <p:tgtEl>
                                          <p:spTgt spid="22"/>
                                        </p:tgtEl>
                                        <p:attrNameLst>
                                          <p:attrName>ppt_x</p:attrName>
                                        </p:attrNameLst>
                                      </p:cBhvr>
                                      <p:tavLst>
                                        <p:tav tm="0">
                                          <p:val>
                                            <p:strVal val="#ppt_x"/>
                                          </p:val>
                                        </p:tav>
                                        <p:tav tm="100000">
                                          <p:val>
                                            <p:strVal val="#ppt_x"/>
                                          </p:val>
                                        </p:tav>
                                      </p:tavLst>
                                    </p:anim>
                                    <p:anim calcmode="lin" valueType="num">
                                      <p:cBhvr>
                                        <p:cTn id="34" dur="1000" fill="hold"/>
                                        <p:tgtEl>
                                          <p:spTgt spid="2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1000"/>
                                        <p:tgtEl>
                                          <p:spTgt spid="23"/>
                                        </p:tgtEl>
                                      </p:cBhvr>
                                    </p:animEffect>
                                    <p:anim calcmode="lin" valueType="num">
                                      <p:cBhvr>
                                        <p:cTn id="38" dur="1000" fill="hold"/>
                                        <p:tgtEl>
                                          <p:spTgt spid="23"/>
                                        </p:tgtEl>
                                        <p:attrNameLst>
                                          <p:attrName>ppt_x</p:attrName>
                                        </p:attrNameLst>
                                      </p:cBhvr>
                                      <p:tavLst>
                                        <p:tav tm="0">
                                          <p:val>
                                            <p:strVal val="#ppt_x"/>
                                          </p:val>
                                        </p:tav>
                                        <p:tav tm="100000">
                                          <p:val>
                                            <p:strVal val="#ppt_x"/>
                                          </p:val>
                                        </p:tav>
                                      </p:tavLst>
                                    </p:anim>
                                    <p:anim calcmode="lin" valueType="num">
                                      <p:cBhvr>
                                        <p:cTn id="39" dur="1000" fill="hold"/>
                                        <p:tgtEl>
                                          <p:spTgt spid="23"/>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1000"/>
                                        <p:tgtEl>
                                          <p:spTgt spid="24"/>
                                        </p:tgtEl>
                                      </p:cBhvr>
                                    </p:animEffect>
                                    <p:anim calcmode="lin" valueType="num">
                                      <p:cBhvr>
                                        <p:cTn id="43" dur="1000" fill="hold"/>
                                        <p:tgtEl>
                                          <p:spTgt spid="24"/>
                                        </p:tgtEl>
                                        <p:attrNameLst>
                                          <p:attrName>ppt_x</p:attrName>
                                        </p:attrNameLst>
                                      </p:cBhvr>
                                      <p:tavLst>
                                        <p:tav tm="0">
                                          <p:val>
                                            <p:strVal val="#ppt_x"/>
                                          </p:val>
                                        </p:tav>
                                        <p:tav tm="100000">
                                          <p:val>
                                            <p:strVal val="#ppt_x"/>
                                          </p:val>
                                        </p:tav>
                                      </p:tavLst>
                                    </p:anim>
                                    <p:anim calcmode="lin" valueType="num">
                                      <p:cBhvr>
                                        <p:cTn id="44"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29"/>
                                        </p:tgtEl>
                                        <p:attrNameLst>
                                          <p:attrName>style.visibility</p:attrName>
                                        </p:attrNameLst>
                                      </p:cBhvr>
                                      <p:to>
                                        <p:strVal val="visible"/>
                                      </p:to>
                                    </p:set>
                                    <p:anim calcmode="lin" valueType="num">
                                      <p:cBhvr>
                                        <p:cTn id="49" dur="500" fill="hold"/>
                                        <p:tgtEl>
                                          <p:spTgt spid="29"/>
                                        </p:tgtEl>
                                        <p:attrNameLst>
                                          <p:attrName>ppt_w</p:attrName>
                                        </p:attrNameLst>
                                      </p:cBhvr>
                                      <p:tavLst>
                                        <p:tav tm="0">
                                          <p:val>
                                            <p:fltVal val="0"/>
                                          </p:val>
                                        </p:tav>
                                        <p:tav tm="100000">
                                          <p:val>
                                            <p:strVal val="#ppt_w"/>
                                          </p:val>
                                        </p:tav>
                                      </p:tavLst>
                                    </p:anim>
                                    <p:anim calcmode="lin" valueType="num">
                                      <p:cBhvr>
                                        <p:cTn id="50" dur="500" fill="hold"/>
                                        <p:tgtEl>
                                          <p:spTgt spid="29"/>
                                        </p:tgtEl>
                                        <p:attrNameLst>
                                          <p:attrName>ppt_h</p:attrName>
                                        </p:attrNameLst>
                                      </p:cBhvr>
                                      <p:tavLst>
                                        <p:tav tm="0">
                                          <p:val>
                                            <p:fltVal val="0"/>
                                          </p:val>
                                        </p:tav>
                                        <p:tav tm="100000">
                                          <p:val>
                                            <p:strVal val="#ppt_h"/>
                                          </p:val>
                                        </p:tav>
                                      </p:tavLst>
                                    </p:anim>
                                    <p:animEffect transition="in" filter="fade">
                                      <p:cBhvr>
                                        <p:cTn id="5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9" grpId="0"/>
      <p:bldP spid="20" grpId="0"/>
      <p:bldP spid="21" grpId="0"/>
      <p:bldP spid="22" grpId="0"/>
      <p:bldP spid="23" grpId="0"/>
      <p:bldP spid="2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图片 28">
            <a:extLst>
              <a:ext uri="{FF2B5EF4-FFF2-40B4-BE49-F238E27FC236}">
                <a16:creationId xmlns:a16="http://schemas.microsoft.com/office/drawing/2014/main" id="{31B1DB7A-FABB-4D5E-B50F-48C83F39A453}"/>
              </a:ext>
            </a:extLst>
          </p:cNvPr>
          <p:cNvPicPr>
            <a:picLocks noChangeAspect="1"/>
          </p:cNvPicPr>
          <p:nvPr/>
        </p:nvPicPr>
        <p:blipFill>
          <a:blip r:embed="rId3" cstate="email"/>
          <a:stretch>
            <a:fillRect/>
          </a:stretch>
        </p:blipFill>
        <p:spPr>
          <a:xfrm>
            <a:off x="-467917" y="1084926"/>
            <a:ext cx="8726389" cy="5332793"/>
          </a:xfrm>
          <a:prstGeom prst="rect">
            <a:avLst/>
          </a:prstGeom>
        </p:spPr>
      </p:pic>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p:cNvSpPr txBox="1"/>
          <p:nvPr/>
        </p:nvSpPr>
        <p:spPr>
          <a:xfrm>
            <a:off x="539982" y="440281"/>
            <a:ext cx="4582524" cy="461665"/>
          </a:xfrm>
          <a:prstGeom prst="rect">
            <a:avLst/>
          </a:prstGeom>
          <a:noFill/>
        </p:spPr>
        <p:txBody>
          <a:bodyPr wrap="square" rtlCol="0">
            <a:spAutoFit/>
          </a:bodyPr>
          <a:lstStyle/>
          <a:p>
            <a:pPr defTabSz="121920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创建图像</a:t>
            </a:r>
          </a:p>
        </p:txBody>
      </p:sp>
      <p:sp>
        <p:nvSpPr>
          <p:cNvPr id="19" name="文本框 18">
            <a:extLst>
              <a:ext uri="{FF2B5EF4-FFF2-40B4-BE49-F238E27FC236}">
                <a16:creationId xmlns:a16="http://schemas.microsoft.com/office/drawing/2014/main" id="{608FDD91-D587-4C16-AAF4-79BB027EA6C4}"/>
              </a:ext>
            </a:extLst>
          </p:cNvPr>
          <p:cNvSpPr txBox="1"/>
          <p:nvPr/>
        </p:nvSpPr>
        <p:spPr>
          <a:xfrm>
            <a:off x="8296721" y="785743"/>
            <a:ext cx="3325827" cy="369332"/>
          </a:xfrm>
          <a:prstGeom prst="rect">
            <a:avLst/>
          </a:prstGeom>
          <a:noFill/>
        </p:spPr>
        <p:txBody>
          <a:bodyPr wrap="square" rtlCol="0">
            <a:spAutoFit/>
          </a:bodyPr>
          <a:lstStyle/>
          <a:p>
            <a:r>
              <a:rPr lang="en-US" altLang="zh-CN" b="1" dirty="0">
                <a:solidFill>
                  <a:sysClr val="windowText" lastClr="000000"/>
                </a:solidFill>
                <a:latin typeface="微软雅黑" panose="020B0503020204020204" pitchFamily="34" charset="-122"/>
                <a:ea typeface="微软雅黑" panose="020B0503020204020204" pitchFamily="34" charset="-122"/>
              </a:rPr>
              <a:t>01.</a:t>
            </a:r>
            <a:r>
              <a:rPr lang="zh-CN" altLang="en-US" b="1" dirty="0">
                <a:solidFill>
                  <a:sysClr val="windowText" lastClr="000000"/>
                </a:solidFill>
                <a:latin typeface="微软雅黑" panose="020B0503020204020204" pitchFamily="34" charset="-122"/>
                <a:ea typeface="微软雅黑" panose="020B0503020204020204" pitchFamily="34" charset="-122"/>
              </a:rPr>
              <a:t>创建图像</a:t>
            </a:r>
          </a:p>
        </p:txBody>
      </p:sp>
      <p:sp>
        <p:nvSpPr>
          <p:cNvPr id="20" name="矩形 19">
            <a:extLst>
              <a:ext uri="{FF2B5EF4-FFF2-40B4-BE49-F238E27FC236}">
                <a16:creationId xmlns:a16="http://schemas.microsoft.com/office/drawing/2014/main" id="{31CD54AC-EB86-4ABF-BC5D-97C0BA021CD6}"/>
              </a:ext>
            </a:extLst>
          </p:cNvPr>
          <p:cNvSpPr/>
          <p:nvPr/>
        </p:nvSpPr>
        <p:spPr>
          <a:xfrm>
            <a:off x="8296722" y="1164903"/>
            <a:ext cx="3174727" cy="625171"/>
          </a:xfrm>
          <a:prstGeom prst="rect">
            <a:avLst/>
          </a:prstGeom>
        </p:spPr>
        <p:txBody>
          <a:bodyPr wrap="square">
            <a:spAutoFit/>
          </a:bodyPr>
          <a:lstStyle/>
          <a:p>
            <a:pPr>
              <a:lnSpc>
                <a:spcPct val="130000"/>
              </a:lnSpc>
            </a:pPr>
            <a:r>
              <a:rPr lang="zh-CN" altLang="en-US" sz="1400" dirty="0">
                <a:solidFill>
                  <a:schemeClr val="tx1">
                    <a:lumMod val="85000"/>
                    <a:lumOff val="15000"/>
                  </a:schemeClr>
                </a:solidFill>
                <a:latin typeface="微软雅黑" pitchFamily="34" charset="-122"/>
                <a:ea typeface="微软雅黑" pitchFamily="34" charset="-122"/>
              </a:rPr>
              <a:t>这里创建了一个</a:t>
            </a:r>
            <a:r>
              <a:rPr lang="en-US" altLang="zh-CN" sz="1400" dirty="0">
                <a:solidFill>
                  <a:schemeClr val="tx1">
                    <a:lumMod val="85000"/>
                    <a:lumOff val="15000"/>
                  </a:schemeClr>
                </a:solidFill>
                <a:latin typeface="微软雅黑" pitchFamily="34" charset="-122"/>
                <a:ea typeface="微软雅黑" pitchFamily="34" charset="-122"/>
              </a:rPr>
              <a:t>256X256</a:t>
            </a:r>
            <a:r>
              <a:rPr lang="zh-CN" altLang="en-US" sz="1400" dirty="0">
                <a:solidFill>
                  <a:schemeClr val="tx1">
                    <a:lumMod val="85000"/>
                    <a:lumOff val="15000"/>
                  </a:schemeClr>
                </a:solidFill>
                <a:latin typeface="微软雅黑" pitchFamily="34" charset="-122"/>
                <a:ea typeface="微软雅黑" pitchFamily="34" charset="-122"/>
              </a:rPr>
              <a:t>大小</a:t>
            </a:r>
            <a:r>
              <a:rPr lang="en-US" altLang="zh-CN" sz="1400" dirty="0">
                <a:solidFill>
                  <a:schemeClr val="tx1">
                    <a:lumMod val="85000"/>
                    <a:lumOff val="15000"/>
                  </a:schemeClr>
                </a:solidFill>
                <a:latin typeface="微软雅黑" pitchFamily="34" charset="-122"/>
                <a:ea typeface="微软雅黑" pitchFamily="34" charset="-122"/>
              </a:rPr>
              <a:t>,</a:t>
            </a:r>
            <a:r>
              <a:rPr lang="zh-CN" altLang="en-US" sz="1400" dirty="0">
                <a:solidFill>
                  <a:schemeClr val="tx1">
                    <a:lumMod val="85000"/>
                    <a:lumOff val="15000"/>
                  </a:schemeClr>
                </a:solidFill>
                <a:latin typeface="微软雅黑" pitchFamily="34" charset="-122"/>
                <a:ea typeface="微软雅黑" pitchFamily="34" charset="-122"/>
              </a:rPr>
              <a:t>被读取图像波段，深度</a:t>
            </a:r>
            <a:r>
              <a:rPr lang="en-US" altLang="zh-CN" sz="1400" dirty="0">
                <a:solidFill>
                  <a:schemeClr val="tx1">
                    <a:lumMod val="85000"/>
                    <a:lumOff val="15000"/>
                  </a:schemeClr>
                </a:solidFill>
                <a:latin typeface="微软雅黑" pitchFamily="34" charset="-122"/>
                <a:ea typeface="微软雅黑" pitchFamily="34" charset="-122"/>
              </a:rPr>
              <a:t>8</a:t>
            </a:r>
            <a:r>
              <a:rPr lang="zh-CN" altLang="en-US" sz="1400" dirty="0">
                <a:solidFill>
                  <a:schemeClr val="tx1">
                    <a:lumMod val="85000"/>
                    <a:lumOff val="15000"/>
                  </a:schemeClr>
                </a:solidFill>
                <a:latin typeface="微软雅黑" pitchFamily="34" charset="-122"/>
                <a:ea typeface="微软雅黑" pitchFamily="34" charset="-122"/>
              </a:rPr>
              <a:t>位的</a:t>
            </a:r>
            <a:r>
              <a:rPr lang="en-US" altLang="zh-CN" sz="1400" dirty="0" err="1">
                <a:solidFill>
                  <a:schemeClr val="tx1">
                    <a:lumMod val="85000"/>
                    <a:lumOff val="15000"/>
                  </a:schemeClr>
                </a:solidFill>
                <a:latin typeface="微软雅黑" pitchFamily="34" charset="-122"/>
                <a:ea typeface="微软雅黑" pitchFamily="34" charset="-122"/>
              </a:rPr>
              <a:t>tif</a:t>
            </a:r>
            <a:endParaRPr lang="zh-CN" altLang="en-US" sz="1400" dirty="0">
              <a:solidFill>
                <a:schemeClr val="tx1">
                  <a:lumMod val="85000"/>
                  <a:lumOff val="15000"/>
                </a:schemeClr>
              </a:solidFill>
              <a:latin typeface="微软雅黑" pitchFamily="34" charset="-122"/>
              <a:ea typeface="微软雅黑" pitchFamily="34" charset="-122"/>
            </a:endParaRPr>
          </a:p>
        </p:txBody>
      </p:sp>
      <p:sp>
        <p:nvSpPr>
          <p:cNvPr id="21" name="文本框 20">
            <a:extLst>
              <a:ext uri="{FF2B5EF4-FFF2-40B4-BE49-F238E27FC236}">
                <a16:creationId xmlns:a16="http://schemas.microsoft.com/office/drawing/2014/main" id="{6ABFD68F-7CAD-404F-A76A-6A93C31A1894}"/>
              </a:ext>
            </a:extLst>
          </p:cNvPr>
          <p:cNvSpPr txBox="1"/>
          <p:nvPr/>
        </p:nvSpPr>
        <p:spPr>
          <a:xfrm>
            <a:off x="8296722" y="1863244"/>
            <a:ext cx="2383470" cy="369332"/>
          </a:xfrm>
          <a:prstGeom prst="rect">
            <a:avLst/>
          </a:prstGeom>
          <a:noFill/>
        </p:spPr>
        <p:txBody>
          <a:bodyPr wrap="square" rtlCol="0">
            <a:spAutoFit/>
          </a:bodyPr>
          <a:lstStyle/>
          <a:p>
            <a:r>
              <a:rPr lang="en-US" altLang="zh-CN" b="1" dirty="0">
                <a:solidFill>
                  <a:sysClr val="windowText" lastClr="000000"/>
                </a:solidFill>
                <a:latin typeface="微软雅黑" panose="020B0503020204020204" pitchFamily="34" charset="-122"/>
                <a:ea typeface="微软雅黑" panose="020B0503020204020204" pitchFamily="34" charset="-122"/>
              </a:rPr>
              <a:t>02.</a:t>
            </a:r>
            <a:r>
              <a:rPr lang="zh-CN" altLang="en-US" b="1" dirty="0">
                <a:solidFill>
                  <a:sysClr val="windowText" lastClr="000000"/>
                </a:solidFill>
                <a:latin typeface="微软雅黑" panose="020B0503020204020204" pitchFamily="34" charset="-122"/>
                <a:ea typeface="微软雅黑" panose="020B0503020204020204" pitchFamily="34" charset="-122"/>
              </a:rPr>
              <a:t>参数的设置</a:t>
            </a:r>
          </a:p>
        </p:txBody>
      </p:sp>
      <p:sp>
        <p:nvSpPr>
          <p:cNvPr id="22" name="矩形 21">
            <a:extLst>
              <a:ext uri="{FF2B5EF4-FFF2-40B4-BE49-F238E27FC236}">
                <a16:creationId xmlns:a16="http://schemas.microsoft.com/office/drawing/2014/main" id="{FF94BDBE-C8D4-436F-9368-F64448BAF0C8}"/>
              </a:ext>
            </a:extLst>
          </p:cNvPr>
          <p:cNvSpPr/>
          <p:nvPr/>
        </p:nvSpPr>
        <p:spPr>
          <a:xfrm>
            <a:off x="8296722" y="2215734"/>
            <a:ext cx="3174727" cy="1745478"/>
          </a:xfrm>
          <a:prstGeom prst="rect">
            <a:avLst/>
          </a:prstGeom>
        </p:spPr>
        <p:txBody>
          <a:bodyPr wrap="square">
            <a:spAutoFit/>
          </a:bodyPr>
          <a:lstStyle/>
          <a:p>
            <a:pPr>
              <a:lnSpc>
                <a:spcPct val="130000"/>
              </a:lnSpc>
            </a:pPr>
            <a:r>
              <a:rPr lang="zh-CN" altLang="en-US" sz="1400" dirty="0">
                <a:solidFill>
                  <a:schemeClr val="tx1">
                    <a:lumMod val="85000"/>
                    <a:lumOff val="15000"/>
                  </a:schemeClr>
                </a:solidFill>
                <a:latin typeface="微软雅黑" pitchFamily="34" charset="-122"/>
                <a:ea typeface="微软雅黑" pitchFamily="34" charset="-122"/>
              </a:rPr>
              <a:t>需要注意的是创建图像可能需要一些特别的设置信息，是需要到</a:t>
            </a:r>
            <a:r>
              <a:rPr lang="en-US" altLang="zh-CN" sz="1400" dirty="0">
                <a:solidFill>
                  <a:schemeClr val="tx1">
                    <a:lumMod val="85000"/>
                    <a:lumOff val="15000"/>
                  </a:schemeClr>
                </a:solidFill>
                <a:latin typeface="微软雅黑" pitchFamily="34" charset="-122"/>
                <a:ea typeface="微软雅黑" pitchFamily="34" charset="-122"/>
              </a:rPr>
              <a:t>GDAL</a:t>
            </a:r>
            <a:r>
              <a:rPr lang="zh-CN" altLang="en-US" sz="1400" dirty="0">
                <a:solidFill>
                  <a:schemeClr val="tx1">
                    <a:lumMod val="85000"/>
                    <a:lumOff val="15000"/>
                  </a:schemeClr>
                </a:solidFill>
                <a:latin typeface="微软雅黑" pitchFamily="34" charset="-122"/>
                <a:ea typeface="微软雅黑" pitchFamily="34" charset="-122"/>
              </a:rPr>
              <a:t>对应格式的文档中去查看的，也可以什么都不设置用默认值。我这里设置的是如果需要的话，就创建支持大小超过</a:t>
            </a:r>
            <a:r>
              <a:rPr lang="en-US" altLang="zh-CN" sz="1400" dirty="0">
                <a:solidFill>
                  <a:schemeClr val="tx1">
                    <a:lumMod val="85000"/>
                    <a:lumOff val="15000"/>
                  </a:schemeClr>
                </a:solidFill>
                <a:latin typeface="微软雅黑" pitchFamily="34" charset="-122"/>
                <a:ea typeface="微软雅黑" pitchFamily="34" charset="-122"/>
              </a:rPr>
              <a:t>4G</a:t>
            </a:r>
            <a:r>
              <a:rPr lang="zh-CN" altLang="en-US" sz="1400" dirty="0">
                <a:solidFill>
                  <a:schemeClr val="tx1">
                    <a:lumMod val="85000"/>
                    <a:lumOff val="15000"/>
                  </a:schemeClr>
                </a:solidFill>
                <a:latin typeface="微软雅黑" pitchFamily="34" charset="-122"/>
                <a:ea typeface="微软雅黑" pitchFamily="34" charset="-122"/>
              </a:rPr>
              <a:t>的</a:t>
            </a:r>
            <a:r>
              <a:rPr lang="en-US" altLang="zh-CN" sz="1400" dirty="0" err="1">
                <a:solidFill>
                  <a:schemeClr val="tx1">
                    <a:lumMod val="85000"/>
                    <a:lumOff val="15000"/>
                  </a:schemeClr>
                </a:solidFill>
                <a:latin typeface="微软雅黑" pitchFamily="34" charset="-122"/>
                <a:ea typeface="微软雅黑" pitchFamily="34" charset="-122"/>
              </a:rPr>
              <a:t>bigtiff</a:t>
            </a:r>
            <a:r>
              <a:rPr lang="zh-CN" altLang="en-US" sz="1400" dirty="0">
                <a:solidFill>
                  <a:schemeClr val="tx1">
                    <a:lumMod val="85000"/>
                    <a:lumOff val="15000"/>
                  </a:schemeClr>
                </a:solidFill>
                <a:latin typeface="微软雅黑" pitchFamily="34" charset="-122"/>
                <a:ea typeface="微软雅黑" pitchFamily="34" charset="-122"/>
              </a:rPr>
              <a:t>。</a:t>
            </a:r>
          </a:p>
        </p:txBody>
      </p:sp>
      <p:sp>
        <p:nvSpPr>
          <p:cNvPr id="23" name="文本框 22">
            <a:extLst>
              <a:ext uri="{FF2B5EF4-FFF2-40B4-BE49-F238E27FC236}">
                <a16:creationId xmlns:a16="http://schemas.microsoft.com/office/drawing/2014/main" id="{B97AF10B-13CF-4238-A278-0DEA565F0C0D}"/>
              </a:ext>
            </a:extLst>
          </p:cNvPr>
          <p:cNvSpPr txBox="1"/>
          <p:nvPr/>
        </p:nvSpPr>
        <p:spPr>
          <a:xfrm>
            <a:off x="8296722" y="3969060"/>
            <a:ext cx="3718494" cy="369332"/>
          </a:xfrm>
          <a:prstGeom prst="rect">
            <a:avLst/>
          </a:prstGeom>
          <a:noFill/>
        </p:spPr>
        <p:txBody>
          <a:bodyPr wrap="square" rtlCol="0">
            <a:spAutoFit/>
          </a:bodyPr>
          <a:lstStyle/>
          <a:p>
            <a:r>
              <a:rPr lang="en-US" altLang="zh-CN" b="1" dirty="0">
                <a:solidFill>
                  <a:sysClr val="windowText" lastClr="000000"/>
                </a:solidFill>
                <a:latin typeface="微软雅黑" panose="020B0503020204020204" pitchFamily="34" charset="-122"/>
                <a:ea typeface="微软雅黑" panose="020B0503020204020204" pitchFamily="34" charset="-122"/>
              </a:rPr>
              <a:t>03.</a:t>
            </a:r>
            <a:r>
              <a:rPr lang="zh-CN" altLang="en-US" b="1" dirty="0">
                <a:solidFill>
                  <a:sysClr val="windowText" lastClr="000000"/>
                </a:solidFill>
                <a:latin typeface="微软雅黑" panose="020B0503020204020204" pitchFamily="34" charset="-122"/>
                <a:ea typeface="微软雅黑" panose="020B0503020204020204" pitchFamily="34" charset="-122"/>
              </a:rPr>
              <a:t>关闭打开的文件</a:t>
            </a:r>
          </a:p>
        </p:txBody>
      </p:sp>
      <p:sp>
        <p:nvSpPr>
          <p:cNvPr id="24" name="矩形 23">
            <a:extLst>
              <a:ext uri="{FF2B5EF4-FFF2-40B4-BE49-F238E27FC236}">
                <a16:creationId xmlns:a16="http://schemas.microsoft.com/office/drawing/2014/main" id="{59AAAB2D-A6D7-43F0-AF6F-A400135931DF}"/>
              </a:ext>
            </a:extLst>
          </p:cNvPr>
          <p:cNvSpPr/>
          <p:nvPr/>
        </p:nvSpPr>
        <p:spPr>
          <a:xfrm>
            <a:off x="8296723" y="4311644"/>
            <a:ext cx="3174726" cy="1185324"/>
          </a:xfrm>
          <a:prstGeom prst="rect">
            <a:avLst/>
          </a:prstGeom>
        </p:spPr>
        <p:txBody>
          <a:bodyPr wrap="square">
            <a:spAutoFit/>
          </a:bodyPr>
          <a:lstStyle/>
          <a:p>
            <a:pPr>
              <a:lnSpc>
                <a:spcPct val="130000"/>
              </a:lnSpc>
            </a:pPr>
            <a:r>
              <a:rPr lang="zh-CN" altLang="en-US" sz="1400" dirty="0">
                <a:solidFill>
                  <a:schemeClr val="tx1">
                    <a:lumMod val="85000"/>
                    <a:lumOff val="15000"/>
                  </a:schemeClr>
                </a:solidFill>
                <a:latin typeface="微软雅黑" pitchFamily="34" charset="-122"/>
                <a:ea typeface="微软雅黑" pitchFamily="34" charset="-122"/>
              </a:rPr>
              <a:t>如果已经写入完毕或者不需要这张图像的相关操作了，最后一定要注意关闭关闭打开的文件，之前只会内存泄漏，而这里还会可能创建失败。</a:t>
            </a:r>
          </a:p>
        </p:txBody>
      </p:sp>
      <p:pic>
        <p:nvPicPr>
          <p:cNvPr id="5" name="图片 4">
            <a:extLst>
              <a:ext uri="{FF2B5EF4-FFF2-40B4-BE49-F238E27FC236}">
                <a16:creationId xmlns:a16="http://schemas.microsoft.com/office/drawing/2014/main" id="{08BF0868-03DB-4425-9CC0-7BE2DE721697}"/>
              </a:ext>
            </a:extLst>
          </p:cNvPr>
          <p:cNvPicPr>
            <a:picLocks noChangeAspect="1"/>
          </p:cNvPicPr>
          <p:nvPr/>
        </p:nvPicPr>
        <p:blipFill>
          <a:blip r:embed="rId5"/>
          <a:stretch>
            <a:fillRect/>
          </a:stretch>
        </p:blipFill>
        <p:spPr>
          <a:xfrm>
            <a:off x="832564" y="2158259"/>
            <a:ext cx="6206411" cy="2537566"/>
          </a:xfrm>
          <a:prstGeom prst="rect">
            <a:avLst/>
          </a:prstGeom>
        </p:spPr>
      </p:pic>
      <p:pic>
        <p:nvPicPr>
          <p:cNvPr id="7" name="图片 6">
            <a:extLst>
              <a:ext uri="{FF2B5EF4-FFF2-40B4-BE49-F238E27FC236}">
                <a16:creationId xmlns:a16="http://schemas.microsoft.com/office/drawing/2014/main" id="{AD57A475-8CD5-413B-BC91-EAECE3975C46}"/>
              </a:ext>
            </a:extLst>
          </p:cNvPr>
          <p:cNvPicPr>
            <a:picLocks noChangeAspect="1"/>
          </p:cNvPicPr>
          <p:nvPr/>
        </p:nvPicPr>
        <p:blipFill rotWithShape="1">
          <a:blip r:embed="rId6"/>
          <a:srcRect t="1" r="12897" b="7901"/>
          <a:stretch/>
        </p:blipFill>
        <p:spPr>
          <a:xfrm>
            <a:off x="832564" y="4688947"/>
            <a:ext cx="6206411" cy="175463"/>
          </a:xfrm>
          <a:prstGeom prst="rect">
            <a:avLst/>
          </a:prstGeom>
        </p:spPr>
      </p:pic>
      <p:sp>
        <p:nvSpPr>
          <p:cNvPr id="18" name="文本框 17">
            <a:extLst>
              <a:ext uri="{FF2B5EF4-FFF2-40B4-BE49-F238E27FC236}">
                <a16:creationId xmlns:a16="http://schemas.microsoft.com/office/drawing/2014/main" id="{BFDD46C2-83E0-4BDF-98F2-ECA2871AF3C7}"/>
              </a:ext>
            </a:extLst>
          </p:cNvPr>
          <p:cNvSpPr txBox="1"/>
          <p:nvPr/>
        </p:nvSpPr>
        <p:spPr>
          <a:xfrm>
            <a:off x="8296721" y="5554118"/>
            <a:ext cx="3718494" cy="369332"/>
          </a:xfrm>
          <a:prstGeom prst="rect">
            <a:avLst/>
          </a:prstGeom>
          <a:noFill/>
        </p:spPr>
        <p:txBody>
          <a:bodyPr wrap="square" rtlCol="0">
            <a:spAutoFit/>
          </a:bodyPr>
          <a:lstStyle/>
          <a:p>
            <a:r>
              <a:rPr lang="en-US" altLang="zh-CN" b="1" dirty="0">
                <a:solidFill>
                  <a:sysClr val="windowText" lastClr="000000"/>
                </a:solidFill>
                <a:latin typeface="微软雅黑" panose="020B0503020204020204" pitchFamily="34" charset="-122"/>
                <a:ea typeface="微软雅黑" panose="020B0503020204020204" pitchFamily="34" charset="-122"/>
              </a:rPr>
              <a:t>04.</a:t>
            </a:r>
            <a:r>
              <a:rPr lang="zh-CN" altLang="en-US" b="1" dirty="0">
                <a:solidFill>
                  <a:sysClr val="windowText" lastClr="000000"/>
                </a:solidFill>
                <a:latin typeface="微软雅黑" panose="020B0503020204020204" pitchFamily="34" charset="-122"/>
                <a:ea typeface="微软雅黑" panose="020B0503020204020204" pitchFamily="34" charset="-122"/>
              </a:rPr>
              <a:t>创建后位操作</a:t>
            </a:r>
          </a:p>
        </p:txBody>
      </p:sp>
      <p:sp>
        <p:nvSpPr>
          <p:cNvPr id="25" name="矩形 24">
            <a:extLst>
              <a:ext uri="{FF2B5EF4-FFF2-40B4-BE49-F238E27FC236}">
                <a16:creationId xmlns:a16="http://schemas.microsoft.com/office/drawing/2014/main" id="{E75C8A47-0452-4145-98DA-A2045A14EEEF}"/>
              </a:ext>
            </a:extLst>
          </p:cNvPr>
          <p:cNvSpPr/>
          <p:nvPr/>
        </p:nvSpPr>
        <p:spPr>
          <a:xfrm>
            <a:off x="8449123" y="5873744"/>
            <a:ext cx="3174726" cy="1185324"/>
          </a:xfrm>
          <a:prstGeom prst="rect">
            <a:avLst/>
          </a:prstGeom>
        </p:spPr>
        <p:txBody>
          <a:bodyPr wrap="square">
            <a:spAutoFit/>
          </a:bodyPr>
          <a:lstStyle/>
          <a:p>
            <a:pPr>
              <a:lnSpc>
                <a:spcPct val="130000"/>
              </a:lnSpc>
            </a:pPr>
            <a:r>
              <a:rPr lang="zh-CN" altLang="en-US" sz="1400" dirty="0">
                <a:solidFill>
                  <a:schemeClr val="tx1">
                    <a:lumMod val="85000"/>
                    <a:lumOff val="15000"/>
                  </a:schemeClr>
                </a:solidFill>
                <a:latin typeface="微软雅黑" pitchFamily="34" charset="-122"/>
                <a:ea typeface="微软雅黑" pitchFamily="34" charset="-122"/>
              </a:rPr>
              <a:t>如果创建后什么都不做，关闭后</a:t>
            </a:r>
            <a:r>
              <a:rPr lang="en-US" altLang="zh-CN" sz="1400" dirty="0">
                <a:solidFill>
                  <a:schemeClr val="tx1">
                    <a:lumMod val="85000"/>
                    <a:lumOff val="15000"/>
                  </a:schemeClr>
                </a:solidFill>
                <a:latin typeface="微软雅黑" pitchFamily="34" charset="-122"/>
                <a:ea typeface="微软雅黑" pitchFamily="34" charset="-122"/>
              </a:rPr>
              <a:t>GDAL</a:t>
            </a:r>
            <a:r>
              <a:rPr lang="zh-CN" altLang="en-US" sz="1400" dirty="0">
                <a:solidFill>
                  <a:schemeClr val="tx1">
                    <a:lumMod val="85000"/>
                    <a:lumOff val="15000"/>
                  </a:schemeClr>
                </a:solidFill>
                <a:latin typeface="微软雅黑" pitchFamily="34" charset="-122"/>
                <a:ea typeface="微软雅黑" pitchFamily="34" charset="-122"/>
              </a:rPr>
              <a:t>会自动写入</a:t>
            </a:r>
            <a:r>
              <a:rPr lang="en-US" altLang="zh-CN" sz="1400" dirty="0">
                <a:solidFill>
                  <a:schemeClr val="tx1">
                    <a:lumMod val="85000"/>
                    <a:lumOff val="15000"/>
                  </a:schemeClr>
                </a:solidFill>
                <a:latin typeface="微软雅黑" pitchFamily="34" charset="-122"/>
                <a:ea typeface="微软雅黑" pitchFamily="34" charset="-122"/>
              </a:rPr>
              <a:t>0</a:t>
            </a:r>
            <a:r>
              <a:rPr lang="zh-CN" altLang="en-US" sz="1400" dirty="0">
                <a:solidFill>
                  <a:schemeClr val="tx1">
                    <a:lumMod val="85000"/>
                    <a:lumOff val="15000"/>
                  </a:schemeClr>
                </a:solidFill>
                <a:latin typeface="微软雅黑" pitchFamily="34" charset="-122"/>
                <a:ea typeface="微软雅黑" pitchFamily="34" charset="-122"/>
              </a:rPr>
              <a:t>像素值，打开后就是纯黑色图像。</a:t>
            </a:r>
          </a:p>
          <a:p>
            <a:pPr>
              <a:lnSpc>
                <a:spcPct val="130000"/>
              </a:lnSpc>
            </a:pPr>
            <a:endParaRPr lang="zh-CN" altLang="en-US" sz="1400" dirty="0">
              <a:solidFill>
                <a:schemeClr val="tx1">
                  <a:lumMod val="85000"/>
                  <a:lumOff val="15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994788526"/>
      </p:ext>
    </p:extLst>
  </p:cSld>
  <p:clrMapOvr>
    <a:masterClrMapping/>
  </p:clrMapOvr>
  <mc:AlternateContent xmlns:mc="http://schemas.openxmlformats.org/markup-compatibility/2006" xmlns:p14="http://schemas.microsoft.com/office/powerpoint/2010/main">
    <mc:Choice Requires="p14">
      <p:transition p14:dur="250" advClick="0" advTm="8471">
        <p:push dir="u"/>
      </p:transition>
    </mc:Choice>
    <mc:Fallback xmlns="">
      <p:transition advClick="0" advTm="847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1000"/>
                                        <p:tgtEl>
                                          <p:spTgt spid="19"/>
                                        </p:tgtEl>
                                      </p:cBhvr>
                                    </p:animEffect>
                                    <p:anim calcmode="lin" valueType="num">
                                      <p:cBhvr>
                                        <p:cTn id="18" dur="1000" fill="hold"/>
                                        <p:tgtEl>
                                          <p:spTgt spid="19"/>
                                        </p:tgtEl>
                                        <p:attrNameLst>
                                          <p:attrName>ppt_x</p:attrName>
                                        </p:attrNameLst>
                                      </p:cBhvr>
                                      <p:tavLst>
                                        <p:tav tm="0">
                                          <p:val>
                                            <p:strVal val="#ppt_x"/>
                                          </p:val>
                                        </p:tav>
                                        <p:tav tm="100000">
                                          <p:val>
                                            <p:strVal val="#ppt_x"/>
                                          </p:val>
                                        </p:tav>
                                      </p:tavLst>
                                    </p:anim>
                                    <p:anim calcmode="lin" valueType="num">
                                      <p:cBhvr>
                                        <p:cTn id="19" dur="1000" fill="hold"/>
                                        <p:tgtEl>
                                          <p:spTgt spid="1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1000"/>
                                        <p:tgtEl>
                                          <p:spTgt spid="20"/>
                                        </p:tgtEl>
                                      </p:cBhvr>
                                    </p:animEffect>
                                    <p:anim calcmode="lin" valueType="num">
                                      <p:cBhvr>
                                        <p:cTn id="23" dur="1000" fill="hold"/>
                                        <p:tgtEl>
                                          <p:spTgt spid="20"/>
                                        </p:tgtEl>
                                        <p:attrNameLst>
                                          <p:attrName>ppt_x</p:attrName>
                                        </p:attrNameLst>
                                      </p:cBhvr>
                                      <p:tavLst>
                                        <p:tav tm="0">
                                          <p:val>
                                            <p:strVal val="#ppt_x"/>
                                          </p:val>
                                        </p:tav>
                                        <p:tav tm="100000">
                                          <p:val>
                                            <p:strVal val="#ppt_x"/>
                                          </p:val>
                                        </p:tav>
                                      </p:tavLst>
                                    </p:anim>
                                    <p:anim calcmode="lin" valueType="num">
                                      <p:cBhvr>
                                        <p:cTn id="24" dur="1000" fill="hold"/>
                                        <p:tgtEl>
                                          <p:spTgt spid="2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1000"/>
                                        <p:tgtEl>
                                          <p:spTgt spid="22"/>
                                        </p:tgtEl>
                                      </p:cBhvr>
                                    </p:animEffect>
                                    <p:anim calcmode="lin" valueType="num">
                                      <p:cBhvr>
                                        <p:cTn id="33" dur="1000" fill="hold"/>
                                        <p:tgtEl>
                                          <p:spTgt spid="22"/>
                                        </p:tgtEl>
                                        <p:attrNameLst>
                                          <p:attrName>ppt_x</p:attrName>
                                        </p:attrNameLst>
                                      </p:cBhvr>
                                      <p:tavLst>
                                        <p:tav tm="0">
                                          <p:val>
                                            <p:strVal val="#ppt_x"/>
                                          </p:val>
                                        </p:tav>
                                        <p:tav tm="100000">
                                          <p:val>
                                            <p:strVal val="#ppt_x"/>
                                          </p:val>
                                        </p:tav>
                                      </p:tavLst>
                                    </p:anim>
                                    <p:anim calcmode="lin" valueType="num">
                                      <p:cBhvr>
                                        <p:cTn id="34" dur="1000" fill="hold"/>
                                        <p:tgtEl>
                                          <p:spTgt spid="2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1000"/>
                                        <p:tgtEl>
                                          <p:spTgt spid="23"/>
                                        </p:tgtEl>
                                      </p:cBhvr>
                                    </p:animEffect>
                                    <p:anim calcmode="lin" valueType="num">
                                      <p:cBhvr>
                                        <p:cTn id="38" dur="1000" fill="hold"/>
                                        <p:tgtEl>
                                          <p:spTgt spid="23"/>
                                        </p:tgtEl>
                                        <p:attrNameLst>
                                          <p:attrName>ppt_x</p:attrName>
                                        </p:attrNameLst>
                                      </p:cBhvr>
                                      <p:tavLst>
                                        <p:tav tm="0">
                                          <p:val>
                                            <p:strVal val="#ppt_x"/>
                                          </p:val>
                                        </p:tav>
                                        <p:tav tm="100000">
                                          <p:val>
                                            <p:strVal val="#ppt_x"/>
                                          </p:val>
                                        </p:tav>
                                      </p:tavLst>
                                    </p:anim>
                                    <p:anim calcmode="lin" valueType="num">
                                      <p:cBhvr>
                                        <p:cTn id="39" dur="1000" fill="hold"/>
                                        <p:tgtEl>
                                          <p:spTgt spid="23"/>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1000"/>
                                        <p:tgtEl>
                                          <p:spTgt spid="24"/>
                                        </p:tgtEl>
                                      </p:cBhvr>
                                    </p:animEffect>
                                    <p:anim calcmode="lin" valueType="num">
                                      <p:cBhvr>
                                        <p:cTn id="43" dur="1000" fill="hold"/>
                                        <p:tgtEl>
                                          <p:spTgt spid="24"/>
                                        </p:tgtEl>
                                        <p:attrNameLst>
                                          <p:attrName>ppt_x</p:attrName>
                                        </p:attrNameLst>
                                      </p:cBhvr>
                                      <p:tavLst>
                                        <p:tav tm="0">
                                          <p:val>
                                            <p:strVal val="#ppt_x"/>
                                          </p:val>
                                        </p:tav>
                                        <p:tav tm="100000">
                                          <p:val>
                                            <p:strVal val="#ppt_x"/>
                                          </p:val>
                                        </p:tav>
                                      </p:tavLst>
                                    </p:anim>
                                    <p:anim calcmode="lin" valueType="num">
                                      <p:cBhvr>
                                        <p:cTn id="44"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29"/>
                                        </p:tgtEl>
                                        <p:attrNameLst>
                                          <p:attrName>style.visibility</p:attrName>
                                        </p:attrNameLst>
                                      </p:cBhvr>
                                      <p:to>
                                        <p:strVal val="visible"/>
                                      </p:to>
                                    </p:set>
                                    <p:anim calcmode="lin" valueType="num">
                                      <p:cBhvr>
                                        <p:cTn id="49" dur="500" fill="hold"/>
                                        <p:tgtEl>
                                          <p:spTgt spid="29"/>
                                        </p:tgtEl>
                                        <p:attrNameLst>
                                          <p:attrName>ppt_w</p:attrName>
                                        </p:attrNameLst>
                                      </p:cBhvr>
                                      <p:tavLst>
                                        <p:tav tm="0">
                                          <p:val>
                                            <p:fltVal val="0"/>
                                          </p:val>
                                        </p:tav>
                                        <p:tav tm="100000">
                                          <p:val>
                                            <p:strVal val="#ppt_w"/>
                                          </p:val>
                                        </p:tav>
                                      </p:tavLst>
                                    </p:anim>
                                    <p:anim calcmode="lin" valueType="num">
                                      <p:cBhvr>
                                        <p:cTn id="50" dur="500" fill="hold"/>
                                        <p:tgtEl>
                                          <p:spTgt spid="29"/>
                                        </p:tgtEl>
                                        <p:attrNameLst>
                                          <p:attrName>ppt_h</p:attrName>
                                        </p:attrNameLst>
                                      </p:cBhvr>
                                      <p:tavLst>
                                        <p:tav tm="0">
                                          <p:val>
                                            <p:fltVal val="0"/>
                                          </p:val>
                                        </p:tav>
                                        <p:tav tm="100000">
                                          <p:val>
                                            <p:strVal val="#ppt_h"/>
                                          </p:val>
                                        </p:tav>
                                      </p:tavLst>
                                    </p:anim>
                                    <p:animEffect transition="in" filter="fade">
                                      <p:cBhvr>
                                        <p:cTn id="51" dur="500"/>
                                        <p:tgtEl>
                                          <p:spTgt spid="29"/>
                                        </p:tgtEl>
                                      </p:cBhvr>
                                    </p:animEffect>
                                  </p:childTnLst>
                                </p:cTn>
                              </p:par>
                              <p:par>
                                <p:cTn id="52" presetID="42"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1000"/>
                                        <p:tgtEl>
                                          <p:spTgt spid="18"/>
                                        </p:tgtEl>
                                      </p:cBhvr>
                                    </p:animEffect>
                                    <p:anim calcmode="lin" valueType="num">
                                      <p:cBhvr>
                                        <p:cTn id="55" dur="1000" fill="hold"/>
                                        <p:tgtEl>
                                          <p:spTgt spid="18"/>
                                        </p:tgtEl>
                                        <p:attrNameLst>
                                          <p:attrName>ppt_x</p:attrName>
                                        </p:attrNameLst>
                                      </p:cBhvr>
                                      <p:tavLst>
                                        <p:tav tm="0">
                                          <p:val>
                                            <p:strVal val="#ppt_x"/>
                                          </p:val>
                                        </p:tav>
                                        <p:tav tm="100000">
                                          <p:val>
                                            <p:strVal val="#ppt_x"/>
                                          </p:val>
                                        </p:tav>
                                      </p:tavLst>
                                    </p:anim>
                                    <p:anim calcmode="lin" valueType="num">
                                      <p:cBhvr>
                                        <p:cTn id="56" dur="1000" fill="hold"/>
                                        <p:tgtEl>
                                          <p:spTgt spid="18"/>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1000"/>
                                        <p:tgtEl>
                                          <p:spTgt spid="25"/>
                                        </p:tgtEl>
                                      </p:cBhvr>
                                    </p:animEffect>
                                    <p:anim calcmode="lin" valueType="num">
                                      <p:cBhvr>
                                        <p:cTn id="60" dur="1000" fill="hold"/>
                                        <p:tgtEl>
                                          <p:spTgt spid="25"/>
                                        </p:tgtEl>
                                        <p:attrNameLst>
                                          <p:attrName>ppt_x</p:attrName>
                                        </p:attrNameLst>
                                      </p:cBhvr>
                                      <p:tavLst>
                                        <p:tav tm="0">
                                          <p:val>
                                            <p:strVal val="#ppt_x"/>
                                          </p:val>
                                        </p:tav>
                                        <p:tav tm="100000">
                                          <p:val>
                                            <p:strVal val="#ppt_x"/>
                                          </p:val>
                                        </p:tav>
                                      </p:tavLst>
                                    </p:anim>
                                    <p:anim calcmode="lin" valueType="num">
                                      <p:cBhvr>
                                        <p:cTn id="61"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9" grpId="0"/>
      <p:bldP spid="20" grpId="0"/>
      <p:bldP spid="21" grpId="0"/>
      <p:bldP spid="22" grpId="0"/>
      <p:bldP spid="23" grpId="0"/>
      <p:bldP spid="24" grpId="0"/>
      <p:bldP spid="18" grpId="0"/>
      <p:bldP spid="2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图片 28">
            <a:extLst>
              <a:ext uri="{FF2B5EF4-FFF2-40B4-BE49-F238E27FC236}">
                <a16:creationId xmlns:a16="http://schemas.microsoft.com/office/drawing/2014/main" id="{31B1DB7A-FABB-4D5E-B50F-48C83F39A453}"/>
              </a:ext>
            </a:extLst>
          </p:cNvPr>
          <p:cNvPicPr>
            <a:picLocks noChangeAspect="1"/>
          </p:cNvPicPr>
          <p:nvPr/>
        </p:nvPicPr>
        <p:blipFill>
          <a:blip r:embed="rId3" cstate="email"/>
          <a:stretch>
            <a:fillRect/>
          </a:stretch>
        </p:blipFill>
        <p:spPr>
          <a:xfrm>
            <a:off x="-467917" y="1084926"/>
            <a:ext cx="8726389" cy="5332793"/>
          </a:xfrm>
          <a:prstGeom prst="rect">
            <a:avLst/>
          </a:prstGeom>
        </p:spPr>
      </p:pic>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p:cNvSpPr txBox="1"/>
          <p:nvPr/>
        </p:nvSpPr>
        <p:spPr>
          <a:xfrm>
            <a:off x="539982" y="440281"/>
            <a:ext cx="4582524" cy="461665"/>
          </a:xfrm>
          <a:prstGeom prst="rect">
            <a:avLst/>
          </a:prstGeom>
          <a:noFill/>
        </p:spPr>
        <p:txBody>
          <a:bodyPr wrap="square" rtlCol="0">
            <a:spAutoFit/>
          </a:bodyPr>
          <a:lstStyle/>
          <a:p>
            <a:pPr defTabSz="121920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创建图像</a:t>
            </a:r>
          </a:p>
        </p:txBody>
      </p:sp>
      <p:sp>
        <p:nvSpPr>
          <p:cNvPr id="19" name="文本框 18">
            <a:extLst>
              <a:ext uri="{FF2B5EF4-FFF2-40B4-BE49-F238E27FC236}">
                <a16:creationId xmlns:a16="http://schemas.microsoft.com/office/drawing/2014/main" id="{608FDD91-D587-4C16-AAF4-79BB027EA6C4}"/>
              </a:ext>
            </a:extLst>
          </p:cNvPr>
          <p:cNvSpPr txBox="1"/>
          <p:nvPr/>
        </p:nvSpPr>
        <p:spPr>
          <a:xfrm>
            <a:off x="8296721" y="785743"/>
            <a:ext cx="3325827" cy="369332"/>
          </a:xfrm>
          <a:prstGeom prst="rect">
            <a:avLst/>
          </a:prstGeom>
          <a:noFill/>
        </p:spPr>
        <p:txBody>
          <a:bodyPr wrap="square" rtlCol="0">
            <a:spAutoFit/>
          </a:bodyPr>
          <a:lstStyle/>
          <a:p>
            <a:r>
              <a:rPr lang="en-US" altLang="zh-CN" b="1" dirty="0">
                <a:solidFill>
                  <a:sysClr val="windowText" lastClr="000000"/>
                </a:solidFill>
                <a:latin typeface="微软雅黑" panose="020B0503020204020204" pitchFamily="34" charset="-122"/>
                <a:ea typeface="微软雅黑" panose="020B0503020204020204" pitchFamily="34" charset="-122"/>
              </a:rPr>
              <a:t>01.</a:t>
            </a:r>
            <a:r>
              <a:rPr lang="zh-CN" altLang="en-US" b="1" dirty="0">
                <a:solidFill>
                  <a:sysClr val="windowText" lastClr="000000"/>
                </a:solidFill>
                <a:latin typeface="微软雅黑" panose="020B0503020204020204" pitchFamily="34" charset="-122"/>
                <a:ea typeface="微软雅黑" panose="020B0503020204020204" pitchFamily="34" charset="-122"/>
              </a:rPr>
              <a:t>创建图像</a:t>
            </a:r>
          </a:p>
        </p:txBody>
      </p:sp>
      <p:sp>
        <p:nvSpPr>
          <p:cNvPr id="20" name="矩形 19">
            <a:extLst>
              <a:ext uri="{FF2B5EF4-FFF2-40B4-BE49-F238E27FC236}">
                <a16:creationId xmlns:a16="http://schemas.microsoft.com/office/drawing/2014/main" id="{31CD54AC-EB86-4ABF-BC5D-97C0BA021CD6}"/>
              </a:ext>
            </a:extLst>
          </p:cNvPr>
          <p:cNvSpPr/>
          <p:nvPr/>
        </p:nvSpPr>
        <p:spPr>
          <a:xfrm>
            <a:off x="8296722" y="1164903"/>
            <a:ext cx="3174727" cy="625171"/>
          </a:xfrm>
          <a:prstGeom prst="rect">
            <a:avLst/>
          </a:prstGeom>
        </p:spPr>
        <p:txBody>
          <a:bodyPr wrap="square">
            <a:spAutoFit/>
          </a:bodyPr>
          <a:lstStyle/>
          <a:p>
            <a:pPr>
              <a:lnSpc>
                <a:spcPct val="130000"/>
              </a:lnSpc>
            </a:pPr>
            <a:r>
              <a:rPr lang="zh-CN" altLang="en-US" sz="1400" dirty="0">
                <a:solidFill>
                  <a:schemeClr val="tx1">
                    <a:lumMod val="85000"/>
                    <a:lumOff val="15000"/>
                  </a:schemeClr>
                </a:solidFill>
                <a:latin typeface="微软雅黑" pitchFamily="34" charset="-122"/>
                <a:ea typeface="微软雅黑" pitchFamily="34" charset="-122"/>
              </a:rPr>
              <a:t>这里创建了一个</a:t>
            </a:r>
            <a:r>
              <a:rPr lang="en-US" altLang="zh-CN" sz="1400" dirty="0">
                <a:solidFill>
                  <a:schemeClr val="tx1">
                    <a:lumMod val="85000"/>
                    <a:lumOff val="15000"/>
                  </a:schemeClr>
                </a:solidFill>
                <a:latin typeface="微软雅黑" pitchFamily="34" charset="-122"/>
                <a:ea typeface="微软雅黑" pitchFamily="34" charset="-122"/>
              </a:rPr>
              <a:t>256X256</a:t>
            </a:r>
            <a:r>
              <a:rPr lang="zh-CN" altLang="en-US" sz="1400" dirty="0">
                <a:solidFill>
                  <a:schemeClr val="tx1">
                    <a:lumMod val="85000"/>
                    <a:lumOff val="15000"/>
                  </a:schemeClr>
                </a:solidFill>
                <a:latin typeface="微软雅黑" pitchFamily="34" charset="-122"/>
                <a:ea typeface="微软雅黑" pitchFamily="34" charset="-122"/>
              </a:rPr>
              <a:t>大小</a:t>
            </a:r>
            <a:r>
              <a:rPr lang="en-US" altLang="zh-CN" sz="1400" dirty="0">
                <a:solidFill>
                  <a:schemeClr val="tx1">
                    <a:lumMod val="85000"/>
                    <a:lumOff val="15000"/>
                  </a:schemeClr>
                </a:solidFill>
                <a:latin typeface="微软雅黑" pitchFamily="34" charset="-122"/>
                <a:ea typeface="微软雅黑" pitchFamily="34" charset="-122"/>
              </a:rPr>
              <a:t>,</a:t>
            </a:r>
            <a:r>
              <a:rPr lang="zh-CN" altLang="en-US" sz="1400" dirty="0">
                <a:solidFill>
                  <a:schemeClr val="tx1">
                    <a:lumMod val="85000"/>
                    <a:lumOff val="15000"/>
                  </a:schemeClr>
                </a:solidFill>
                <a:latin typeface="微软雅黑" pitchFamily="34" charset="-122"/>
                <a:ea typeface="微软雅黑" pitchFamily="34" charset="-122"/>
              </a:rPr>
              <a:t>被读取图像波段，深度</a:t>
            </a:r>
            <a:r>
              <a:rPr lang="en-US" altLang="zh-CN" sz="1400" dirty="0">
                <a:solidFill>
                  <a:schemeClr val="tx1">
                    <a:lumMod val="85000"/>
                    <a:lumOff val="15000"/>
                  </a:schemeClr>
                </a:solidFill>
                <a:latin typeface="微软雅黑" pitchFamily="34" charset="-122"/>
                <a:ea typeface="微软雅黑" pitchFamily="34" charset="-122"/>
              </a:rPr>
              <a:t>8</a:t>
            </a:r>
            <a:r>
              <a:rPr lang="zh-CN" altLang="en-US" sz="1400" dirty="0">
                <a:solidFill>
                  <a:schemeClr val="tx1">
                    <a:lumMod val="85000"/>
                    <a:lumOff val="15000"/>
                  </a:schemeClr>
                </a:solidFill>
                <a:latin typeface="微软雅黑" pitchFamily="34" charset="-122"/>
                <a:ea typeface="微软雅黑" pitchFamily="34" charset="-122"/>
              </a:rPr>
              <a:t>位的</a:t>
            </a:r>
            <a:r>
              <a:rPr lang="en-US" altLang="zh-CN" sz="1400" dirty="0" err="1">
                <a:solidFill>
                  <a:schemeClr val="tx1">
                    <a:lumMod val="85000"/>
                    <a:lumOff val="15000"/>
                  </a:schemeClr>
                </a:solidFill>
                <a:latin typeface="微软雅黑" pitchFamily="34" charset="-122"/>
                <a:ea typeface="微软雅黑" pitchFamily="34" charset="-122"/>
              </a:rPr>
              <a:t>tif</a:t>
            </a:r>
            <a:endParaRPr lang="zh-CN" altLang="en-US" sz="1400" dirty="0">
              <a:solidFill>
                <a:schemeClr val="tx1">
                  <a:lumMod val="85000"/>
                  <a:lumOff val="15000"/>
                </a:schemeClr>
              </a:solidFill>
              <a:latin typeface="微软雅黑" pitchFamily="34" charset="-122"/>
              <a:ea typeface="微软雅黑" pitchFamily="34" charset="-122"/>
            </a:endParaRPr>
          </a:p>
        </p:txBody>
      </p:sp>
      <p:sp>
        <p:nvSpPr>
          <p:cNvPr id="21" name="文本框 20">
            <a:extLst>
              <a:ext uri="{FF2B5EF4-FFF2-40B4-BE49-F238E27FC236}">
                <a16:creationId xmlns:a16="http://schemas.microsoft.com/office/drawing/2014/main" id="{6ABFD68F-7CAD-404F-A76A-6A93C31A1894}"/>
              </a:ext>
            </a:extLst>
          </p:cNvPr>
          <p:cNvSpPr txBox="1"/>
          <p:nvPr/>
        </p:nvSpPr>
        <p:spPr>
          <a:xfrm>
            <a:off x="8296722" y="1863244"/>
            <a:ext cx="2383470" cy="369332"/>
          </a:xfrm>
          <a:prstGeom prst="rect">
            <a:avLst/>
          </a:prstGeom>
          <a:noFill/>
        </p:spPr>
        <p:txBody>
          <a:bodyPr wrap="square" rtlCol="0">
            <a:spAutoFit/>
          </a:bodyPr>
          <a:lstStyle/>
          <a:p>
            <a:r>
              <a:rPr lang="en-US" altLang="zh-CN" b="1" dirty="0">
                <a:solidFill>
                  <a:sysClr val="windowText" lastClr="000000"/>
                </a:solidFill>
                <a:latin typeface="微软雅黑" panose="020B0503020204020204" pitchFamily="34" charset="-122"/>
                <a:ea typeface="微软雅黑" panose="020B0503020204020204" pitchFamily="34" charset="-122"/>
              </a:rPr>
              <a:t>02.</a:t>
            </a:r>
            <a:r>
              <a:rPr lang="zh-CN" altLang="en-US" b="1" dirty="0">
                <a:solidFill>
                  <a:sysClr val="windowText" lastClr="000000"/>
                </a:solidFill>
                <a:latin typeface="微软雅黑" panose="020B0503020204020204" pitchFamily="34" charset="-122"/>
                <a:ea typeface="微软雅黑" panose="020B0503020204020204" pitchFamily="34" charset="-122"/>
              </a:rPr>
              <a:t>参数的设置</a:t>
            </a:r>
          </a:p>
        </p:txBody>
      </p:sp>
      <p:sp>
        <p:nvSpPr>
          <p:cNvPr id="22" name="矩形 21">
            <a:extLst>
              <a:ext uri="{FF2B5EF4-FFF2-40B4-BE49-F238E27FC236}">
                <a16:creationId xmlns:a16="http://schemas.microsoft.com/office/drawing/2014/main" id="{FF94BDBE-C8D4-436F-9368-F64448BAF0C8}"/>
              </a:ext>
            </a:extLst>
          </p:cNvPr>
          <p:cNvSpPr/>
          <p:nvPr/>
        </p:nvSpPr>
        <p:spPr>
          <a:xfrm>
            <a:off x="8296722" y="2215734"/>
            <a:ext cx="3174727" cy="1745478"/>
          </a:xfrm>
          <a:prstGeom prst="rect">
            <a:avLst/>
          </a:prstGeom>
        </p:spPr>
        <p:txBody>
          <a:bodyPr wrap="square">
            <a:spAutoFit/>
          </a:bodyPr>
          <a:lstStyle/>
          <a:p>
            <a:pPr>
              <a:lnSpc>
                <a:spcPct val="130000"/>
              </a:lnSpc>
            </a:pPr>
            <a:r>
              <a:rPr lang="zh-CN" altLang="en-US" sz="1400" dirty="0">
                <a:solidFill>
                  <a:schemeClr val="tx1">
                    <a:lumMod val="85000"/>
                    <a:lumOff val="15000"/>
                  </a:schemeClr>
                </a:solidFill>
                <a:latin typeface="微软雅黑" pitchFamily="34" charset="-122"/>
                <a:ea typeface="微软雅黑" pitchFamily="34" charset="-122"/>
              </a:rPr>
              <a:t>需要注意的是创建图像可能需要一些特别的设置信息，是需要到</a:t>
            </a:r>
            <a:r>
              <a:rPr lang="en-US" altLang="zh-CN" sz="1400" dirty="0">
                <a:solidFill>
                  <a:schemeClr val="tx1">
                    <a:lumMod val="85000"/>
                    <a:lumOff val="15000"/>
                  </a:schemeClr>
                </a:solidFill>
                <a:latin typeface="微软雅黑" pitchFamily="34" charset="-122"/>
                <a:ea typeface="微软雅黑" pitchFamily="34" charset="-122"/>
              </a:rPr>
              <a:t>GDAL</a:t>
            </a:r>
            <a:r>
              <a:rPr lang="zh-CN" altLang="en-US" sz="1400" dirty="0">
                <a:solidFill>
                  <a:schemeClr val="tx1">
                    <a:lumMod val="85000"/>
                    <a:lumOff val="15000"/>
                  </a:schemeClr>
                </a:solidFill>
                <a:latin typeface="微软雅黑" pitchFamily="34" charset="-122"/>
                <a:ea typeface="微软雅黑" pitchFamily="34" charset="-122"/>
              </a:rPr>
              <a:t>对应格式的文档中去查看的，也可以什么都不设置用默认值。我这里设置的是如果需要的话，就创建支持大小超过</a:t>
            </a:r>
            <a:r>
              <a:rPr lang="en-US" altLang="zh-CN" sz="1400" dirty="0">
                <a:solidFill>
                  <a:schemeClr val="tx1">
                    <a:lumMod val="85000"/>
                    <a:lumOff val="15000"/>
                  </a:schemeClr>
                </a:solidFill>
                <a:latin typeface="微软雅黑" pitchFamily="34" charset="-122"/>
                <a:ea typeface="微软雅黑" pitchFamily="34" charset="-122"/>
              </a:rPr>
              <a:t>4G</a:t>
            </a:r>
            <a:r>
              <a:rPr lang="zh-CN" altLang="en-US" sz="1400" dirty="0">
                <a:solidFill>
                  <a:schemeClr val="tx1">
                    <a:lumMod val="85000"/>
                    <a:lumOff val="15000"/>
                  </a:schemeClr>
                </a:solidFill>
                <a:latin typeface="微软雅黑" pitchFamily="34" charset="-122"/>
                <a:ea typeface="微软雅黑" pitchFamily="34" charset="-122"/>
              </a:rPr>
              <a:t>的</a:t>
            </a:r>
            <a:r>
              <a:rPr lang="en-US" altLang="zh-CN" sz="1400" dirty="0" err="1">
                <a:solidFill>
                  <a:schemeClr val="tx1">
                    <a:lumMod val="85000"/>
                    <a:lumOff val="15000"/>
                  </a:schemeClr>
                </a:solidFill>
                <a:latin typeface="微软雅黑" pitchFamily="34" charset="-122"/>
                <a:ea typeface="微软雅黑" pitchFamily="34" charset="-122"/>
              </a:rPr>
              <a:t>bigtiff</a:t>
            </a:r>
            <a:r>
              <a:rPr lang="zh-CN" altLang="en-US" sz="1400" dirty="0">
                <a:solidFill>
                  <a:schemeClr val="tx1">
                    <a:lumMod val="85000"/>
                    <a:lumOff val="15000"/>
                  </a:schemeClr>
                </a:solidFill>
                <a:latin typeface="微软雅黑" pitchFamily="34" charset="-122"/>
                <a:ea typeface="微软雅黑" pitchFamily="34" charset="-122"/>
              </a:rPr>
              <a:t>。</a:t>
            </a:r>
          </a:p>
        </p:txBody>
      </p:sp>
      <p:sp>
        <p:nvSpPr>
          <p:cNvPr id="23" name="文本框 22">
            <a:extLst>
              <a:ext uri="{FF2B5EF4-FFF2-40B4-BE49-F238E27FC236}">
                <a16:creationId xmlns:a16="http://schemas.microsoft.com/office/drawing/2014/main" id="{B97AF10B-13CF-4238-A278-0DEA565F0C0D}"/>
              </a:ext>
            </a:extLst>
          </p:cNvPr>
          <p:cNvSpPr txBox="1"/>
          <p:nvPr/>
        </p:nvSpPr>
        <p:spPr>
          <a:xfrm>
            <a:off x="8296722" y="3969060"/>
            <a:ext cx="3718494" cy="369332"/>
          </a:xfrm>
          <a:prstGeom prst="rect">
            <a:avLst/>
          </a:prstGeom>
          <a:noFill/>
        </p:spPr>
        <p:txBody>
          <a:bodyPr wrap="square" rtlCol="0">
            <a:spAutoFit/>
          </a:bodyPr>
          <a:lstStyle/>
          <a:p>
            <a:r>
              <a:rPr lang="en-US" altLang="zh-CN" b="1" dirty="0">
                <a:solidFill>
                  <a:sysClr val="windowText" lastClr="000000"/>
                </a:solidFill>
                <a:latin typeface="微软雅黑" panose="020B0503020204020204" pitchFamily="34" charset="-122"/>
                <a:ea typeface="微软雅黑" panose="020B0503020204020204" pitchFamily="34" charset="-122"/>
              </a:rPr>
              <a:t>03.</a:t>
            </a:r>
            <a:r>
              <a:rPr lang="zh-CN" altLang="en-US" b="1" dirty="0">
                <a:solidFill>
                  <a:sysClr val="windowText" lastClr="000000"/>
                </a:solidFill>
                <a:latin typeface="微软雅黑" panose="020B0503020204020204" pitchFamily="34" charset="-122"/>
                <a:ea typeface="微软雅黑" panose="020B0503020204020204" pitchFamily="34" charset="-122"/>
              </a:rPr>
              <a:t>关闭打开的文件</a:t>
            </a:r>
          </a:p>
        </p:txBody>
      </p:sp>
      <p:sp>
        <p:nvSpPr>
          <p:cNvPr id="24" name="矩形 23">
            <a:extLst>
              <a:ext uri="{FF2B5EF4-FFF2-40B4-BE49-F238E27FC236}">
                <a16:creationId xmlns:a16="http://schemas.microsoft.com/office/drawing/2014/main" id="{59AAAB2D-A6D7-43F0-AF6F-A400135931DF}"/>
              </a:ext>
            </a:extLst>
          </p:cNvPr>
          <p:cNvSpPr/>
          <p:nvPr/>
        </p:nvSpPr>
        <p:spPr>
          <a:xfrm>
            <a:off x="8296723" y="4311644"/>
            <a:ext cx="3174726" cy="1185324"/>
          </a:xfrm>
          <a:prstGeom prst="rect">
            <a:avLst/>
          </a:prstGeom>
        </p:spPr>
        <p:txBody>
          <a:bodyPr wrap="square">
            <a:spAutoFit/>
          </a:bodyPr>
          <a:lstStyle/>
          <a:p>
            <a:pPr>
              <a:lnSpc>
                <a:spcPct val="130000"/>
              </a:lnSpc>
            </a:pPr>
            <a:r>
              <a:rPr lang="zh-CN" altLang="en-US" sz="1400" dirty="0">
                <a:solidFill>
                  <a:schemeClr val="tx1">
                    <a:lumMod val="85000"/>
                    <a:lumOff val="15000"/>
                  </a:schemeClr>
                </a:solidFill>
                <a:latin typeface="微软雅黑" pitchFamily="34" charset="-122"/>
                <a:ea typeface="微软雅黑" pitchFamily="34" charset="-122"/>
              </a:rPr>
              <a:t>如果已经写入完毕或者不需要这张图像的相关操作了，最后一定要注意关闭关闭打开的文件，之前只会内存泄漏，而这里还会可能创建失败。</a:t>
            </a:r>
          </a:p>
        </p:txBody>
      </p:sp>
      <p:pic>
        <p:nvPicPr>
          <p:cNvPr id="5" name="图片 4">
            <a:extLst>
              <a:ext uri="{FF2B5EF4-FFF2-40B4-BE49-F238E27FC236}">
                <a16:creationId xmlns:a16="http://schemas.microsoft.com/office/drawing/2014/main" id="{08BF0868-03DB-4425-9CC0-7BE2DE721697}"/>
              </a:ext>
            </a:extLst>
          </p:cNvPr>
          <p:cNvPicPr>
            <a:picLocks noChangeAspect="1"/>
          </p:cNvPicPr>
          <p:nvPr/>
        </p:nvPicPr>
        <p:blipFill>
          <a:blip r:embed="rId5"/>
          <a:stretch>
            <a:fillRect/>
          </a:stretch>
        </p:blipFill>
        <p:spPr>
          <a:xfrm>
            <a:off x="832564" y="2158259"/>
            <a:ext cx="6206411" cy="2537566"/>
          </a:xfrm>
          <a:prstGeom prst="rect">
            <a:avLst/>
          </a:prstGeom>
        </p:spPr>
      </p:pic>
      <p:pic>
        <p:nvPicPr>
          <p:cNvPr id="7" name="图片 6">
            <a:extLst>
              <a:ext uri="{FF2B5EF4-FFF2-40B4-BE49-F238E27FC236}">
                <a16:creationId xmlns:a16="http://schemas.microsoft.com/office/drawing/2014/main" id="{AD57A475-8CD5-413B-BC91-EAECE3975C46}"/>
              </a:ext>
            </a:extLst>
          </p:cNvPr>
          <p:cNvPicPr>
            <a:picLocks noChangeAspect="1"/>
          </p:cNvPicPr>
          <p:nvPr/>
        </p:nvPicPr>
        <p:blipFill rotWithShape="1">
          <a:blip r:embed="rId6"/>
          <a:srcRect t="1" r="12897" b="7901"/>
          <a:stretch/>
        </p:blipFill>
        <p:spPr>
          <a:xfrm>
            <a:off x="832564" y="4688947"/>
            <a:ext cx="6206411" cy="175463"/>
          </a:xfrm>
          <a:prstGeom prst="rect">
            <a:avLst/>
          </a:prstGeom>
        </p:spPr>
      </p:pic>
      <p:sp>
        <p:nvSpPr>
          <p:cNvPr id="18" name="文本框 17">
            <a:extLst>
              <a:ext uri="{FF2B5EF4-FFF2-40B4-BE49-F238E27FC236}">
                <a16:creationId xmlns:a16="http://schemas.microsoft.com/office/drawing/2014/main" id="{BFDD46C2-83E0-4BDF-98F2-ECA2871AF3C7}"/>
              </a:ext>
            </a:extLst>
          </p:cNvPr>
          <p:cNvSpPr txBox="1"/>
          <p:nvPr/>
        </p:nvSpPr>
        <p:spPr>
          <a:xfrm>
            <a:off x="8296721" y="5554118"/>
            <a:ext cx="3718494" cy="369332"/>
          </a:xfrm>
          <a:prstGeom prst="rect">
            <a:avLst/>
          </a:prstGeom>
          <a:noFill/>
        </p:spPr>
        <p:txBody>
          <a:bodyPr wrap="square" rtlCol="0">
            <a:spAutoFit/>
          </a:bodyPr>
          <a:lstStyle/>
          <a:p>
            <a:r>
              <a:rPr lang="en-US" altLang="zh-CN" b="1" dirty="0">
                <a:solidFill>
                  <a:sysClr val="windowText" lastClr="000000"/>
                </a:solidFill>
                <a:latin typeface="微软雅黑" panose="020B0503020204020204" pitchFamily="34" charset="-122"/>
                <a:ea typeface="微软雅黑" panose="020B0503020204020204" pitchFamily="34" charset="-122"/>
              </a:rPr>
              <a:t>04.</a:t>
            </a:r>
            <a:r>
              <a:rPr lang="zh-CN" altLang="en-US" b="1" dirty="0">
                <a:solidFill>
                  <a:sysClr val="windowText" lastClr="000000"/>
                </a:solidFill>
                <a:latin typeface="微软雅黑" panose="020B0503020204020204" pitchFamily="34" charset="-122"/>
                <a:ea typeface="微软雅黑" panose="020B0503020204020204" pitchFamily="34" charset="-122"/>
              </a:rPr>
              <a:t>创建后位操作</a:t>
            </a:r>
          </a:p>
        </p:txBody>
      </p:sp>
      <p:sp>
        <p:nvSpPr>
          <p:cNvPr id="25" name="矩形 24">
            <a:extLst>
              <a:ext uri="{FF2B5EF4-FFF2-40B4-BE49-F238E27FC236}">
                <a16:creationId xmlns:a16="http://schemas.microsoft.com/office/drawing/2014/main" id="{E75C8A47-0452-4145-98DA-A2045A14EEEF}"/>
              </a:ext>
            </a:extLst>
          </p:cNvPr>
          <p:cNvSpPr/>
          <p:nvPr/>
        </p:nvSpPr>
        <p:spPr>
          <a:xfrm>
            <a:off x="8449123" y="5873744"/>
            <a:ext cx="3174726" cy="1185324"/>
          </a:xfrm>
          <a:prstGeom prst="rect">
            <a:avLst/>
          </a:prstGeom>
        </p:spPr>
        <p:txBody>
          <a:bodyPr wrap="square">
            <a:spAutoFit/>
          </a:bodyPr>
          <a:lstStyle/>
          <a:p>
            <a:pPr>
              <a:lnSpc>
                <a:spcPct val="130000"/>
              </a:lnSpc>
            </a:pPr>
            <a:r>
              <a:rPr lang="zh-CN" altLang="en-US" sz="1400" dirty="0">
                <a:solidFill>
                  <a:schemeClr val="tx1">
                    <a:lumMod val="85000"/>
                    <a:lumOff val="15000"/>
                  </a:schemeClr>
                </a:solidFill>
                <a:latin typeface="微软雅黑" pitchFamily="34" charset="-122"/>
                <a:ea typeface="微软雅黑" pitchFamily="34" charset="-122"/>
              </a:rPr>
              <a:t>如果创建后什么都不做，关闭后</a:t>
            </a:r>
            <a:r>
              <a:rPr lang="en-US" altLang="zh-CN" sz="1400" dirty="0">
                <a:solidFill>
                  <a:schemeClr val="tx1">
                    <a:lumMod val="85000"/>
                    <a:lumOff val="15000"/>
                  </a:schemeClr>
                </a:solidFill>
                <a:latin typeface="微软雅黑" pitchFamily="34" charset="-122"/>
                <a:ea typeface="微软雅黑" pitchFamily="34" charset="-122"/>
              </a:rPr>
              <a:t>GDAL</a:t>
            </a:r>
            <a:r>
              <a:rPr lang="zh-CN" altLang="en-US" sz="1400" dirty="0">
                <a:solidFill>
                  <a:schemeClr val="tx1">
                    <a:lumMod val="85000"/>
                    <a:lumOff val="15000"/>
                  </a:schemeClr>
                </a:solidFill>
                <a:latin typeface="微软雅黑" pitchFamily="34" charset="-122"/>
                <a:ea typeface="微软雅黑" pitchFamily="34" charset="-122"/>
              </a:rPr>
              <a:t>会自动写入</a:t>
            </a:r>
            <a:r>
              <a:rPr lang="en-US" altLang="zh-CN" sz="1400" dirty="0">
                <a:solidFill>
                  <a:schemeClr val="tx1">
                    <a:lumMod val="85000"/>
                    <a:lumOff val="15000"/>
                  </a:schemeClr>
                </a:solidFill>
                <a:latin typeface="微软雅黑" pitchFamily="34" charset="-122"/>
                <a:ea typeface="微软雅黑" pitchFamily="34" charset="-122"/>
              </a:rPr>
              <a:t>0</a:t>
            </a:r>
            <a:r>
              <a:rPr lang="zh-CN" altLang="en-US" sz="1400" dirty="0">
                <a:solidFill>
                  <a:schemeClr val="tx1">
                    <a:lumMod val="85000"/>
                    <a:lumOff val="15000"/>
                  </a:schemeClr>
                </a:solidFill>
                <a:latin typeface="微软雅黑" pitchFamily="34" charset="-122"/>
                <a:ea typeface="微软雅黑" pitchFamily="34" charset="-122"/>
              </a:rPr>
              <a:t>像素值，打开后就是纯黑色图像。</a:t>
            </a:r>
          </a:p>
          <a:p>
            <a:pPr>
              <a:lnSpc>
                <a:spcPct val="130000"/>
              </a:lnSpc>
            </a:pPr>
            <a:endParaRPr lang="zh-CN" altLang="en-US" sz="1400" dirty="0">
              <a:solidFill>
                <a:schemeClr val="tx1">
                  <a:lumMod val="85000"/>
                  <a:lumOff val="15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1713959813"/>
      </p:ext>
    </p:extLst>
  </p:cSld>
  <p:clrMapOvr>
    <a:masterClrMapping/>
  </p:clrMapOvr>
  <mc:AlternateContent xmlns:mc="http://schemas.openxmlformats.org/markup-compatibility/2006" xmlns:p14="http://schemas.microsoft.com/office/powerpoint/2010/main">
    <mc:Choice Requires="p14">
      <p:transition p14:dur="250" advClick="0" advTm="8471">
        <p:push dir="u"/>
      </p:transition>
    </mc:Choice>
    <mc:Fallback xmlns="">
      <p:transition advClick="0" advTm="847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1000"/>
                                        <p:tgtEl>
                                          <p:spTgt spid="19"/>
                                        </p:tgtEl>
                                      </p:cBhvr>
                                    </p:animEffect>
                                    <p:anim calcmode="lin" valueType="num">
                                      <p:cBhvr>
                                        <p:cTn id="18" dur="1000" fill="hold"/>
                                        <p:tgtEl>
                                          <p:spTgt spid="19"/>
                                        </p:tgtEl>
                                        <p:attrNameLst>
                                          <p:attrName>ppt_x</p:attrName>
                                        </p:attrNameLst>
                                      </p:cBhvr>
                                      <p:tavLst>
                                        <p:tav tm="0">
                                          <p:val>
                                            <p:strVal val="#ppt_x"/>
                                          </p:val>
                                        </p:tav>
                                        <p:tav tm="100000">
                                          <p:val>
                                            <p:strVal val="#ppt_x"/>
                                          </p:val>
                                        </p:tav>
                                      </p:tavLst>
                                    </p:anim>
                                    <p:anim calcmode="lin" valueType="num">
                                      <p:cBhvr>
                                        <p:cTn id="19" dur="1000" fill="hold"/>
                                        <p:tgtEl>
                                          <p:spTgt spid="1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1000"/>
                                        <p:tgtEl>
                                          <p:spTgt spid="20"/>
                                        </p:tgtEl>
                                      </p:cBhvr>
                                    </p:animEffect>
                                    <p:anim calcmode="lin" valueType="num">
                                      <p:cBhvr>
                                        <p:cTn id="23" dur="1000" fill="hold"/>
                                        <p:tgtEl>
                                          <p:spTgt spid="20"/>
                                        </p:tgtEl>
                                        <p:attrNameLst>
                                          <p:attrName>ppt_x</p:attrName>
                                        </p:attrNameLst>
                                      </p:cBhvr>
                                      <p:tavLst>
                                        <p:tav tm="0">
                                          <p:val>
                                            <p:strVal val="#ppt_x"/>
                                          </p:val>
                                        </p:tav>
                                        <p:tav tm="100000">
                                          <p:val>
                                            <p:strVal val="#ppt_x"/>
                                          </p:val>
                                        </p:tav>
                                      </p:tavLst>
                                    </p:anim>
                                    <p:anim calcmode="lin" valueType="num">
                                      <p:cBhvr>
                                        <p:cTn id="24" dur="1000" fill="hold"/>
                                        <p:tgtEl>
                                          <p:spTgt spid="2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1000"/>
                                        <p:tgtEl>
                                          <p:spTgt spid="22"/>
                                        </p:tgtEl>
                                      </p:cBhvr>
                                    </p:animEffect>
                                    <p:anim calcmode="lin" valueType="num">
                                      <p:cBhvr>
                                        <p:cTn id="33" dur="1000" fill="hold"/>
                                        <p:tgtEl>
                                          <p:spTgt spid="22"/>
                                        </p:tgtEl>
                                        <p:attrNameLst>
                                          <p:attrName>ppt_x</p:attrName>
                                        </p:attrNameLst>
                                      </p:cBhvr>
                                      <p:tavLst>
                                        <p:tav tm="0">
                                          <p:val>
                                            <p:strVal val="#ppt_x"/>
                                          </p:val>
                                        </p:tav>
                                        <p:tav tm="100000">
                                          <p:val>
                                            <p:strVal val="#ppt_x"/>
                                          </p:val>
                                        </p:tav>
                                      </p:tavLst>
                                    </p:anim>
                                    <p:anim calcmode="lin" valueType="num">
                                      <p:cBhvr>
                                        <p:cTn id="34" dur="1000" fill="hold"/>
                                        <p:tgtEl>
                                          <p:spTgt spid="2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1000"/>
                                        <p:tgtEl>
                                          <p:spTgt spid="23"/>
                                        </p:tgtEl>
                                      </p:cBhvr>
                                    </p:animEffect>
                                    <p:anim calcmode="lin" valueType="num">
                                      <p:cBhvr>
                                        <p:cTn id="38" dur="1000" fill="hold"/>
                                        <p:tgtEl>
                                          <p:spTgt spid="23"/>
                                        </p:tgtEl>
                                        <p:attrNameLst>
                                          <p:attrName>ppt_x</p:attrName>
                                        </p:attrNameLst>
                                      </p:cBhvr>
                                      <p:tavLst>
                                        <p:tav tm="0">
                                          <p:val>
                                            <p:strVal val="#ppt_x"/>
                                          </p:val>
                                        </p:tav>
                                        <p:tav tm="100000">
                                          <p:val>
                                            <p:strVal val="#ppt_x"/>
                                          </p:val>
                                        </p:tav>
                                      </p:tavLst>
                                    </p:anim>
                                    <p:anim calcmode="lin" valueType="num">
                                      <p:cBhvr>
                                        <p:cTn id="39" dur="1000" fill="hold"/>
                                        <p:tgtEl>
                                          <p:spTgt spid="23"/>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1000"/>
                                        <p:tgtEl>
                                          <p:spTgt spid="24"/>
                                        </p:tgtEl>
                                      </p:cBhvr>
                                    </p:animEffect>
                                    <p:anim calcmode="lin" valueType="num">
                                      <p:cBhvr>
                                        <p:cTn id="43" dur="1000" fill="hold"/>
                                        <p:tgtEl>
                                          <p:spTgt spid="24"/>
                                        </p:tgtEl>
                                        <p:attrNameLst>
                                          <p:attrName>ppt_x</p:attrName>
                                        </p:attrNameLst>
                                      </p:cBhvr>
                                      <p:tavLst>
                                        <p:tav tm="0">
                                          <p:val>
                                            <p:strVal val="#ppt_x"/>
                                          </p:val>
                                        </p:tav>
                                        <p:tav tm="100000">
                                          <p:val>
                                            <p:strVal val="#ppt_x"/>
                                          </p:val>
                                        </p:tav>
                                      </p:tavLst>
                                    </p:anim>
                                    <p:anim calcmode="lin" valueType="num">
                                      <p:cBhvr>
                                        <p:cTn id="44"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29"/>
                                        </p:tgtEl>
                                        <p:attrNameLst>
                                          <p:attrName>style.visibility</p:attrName>
                                        </p:attrNameLst>
                                      </p:cBhvr>
                                      <p:to>
                                        <p:strVal val="visible"/>
                                      </p:to>
                                    </p:set>
                                    <p:anim calcmode="lin" valueType="num">
                                      <p:cBhvr>
                                        <p:cTn id="49" dur="500" fill="hold"/>
                                        <p:tgtEl>
                                          <p:spTgt spid="29"/>
                                        </p:tgtEl>
                                        <p:attrNameLst>
                                          <p:attrName>ppt_w</p:attrName>
                                        </p:attrNameLst>
                                      </p:cBhvr>
                                      <p:tavLst>
                                        <p:tav tm="0">
                                          <p:val>
                                            <p:fltVal val="0"/>
                                          </p:val>
                                        </p:tav>
                                        <p:tav tm="100000">
                                          <p:val>
                                            <p:strVal val="#ppt_w"/>
                                          </p:val>
                                        </p:tav>
                                      </p:tavLst>
                                    </p:anim>
                                    <p:anim calcmode="lin" valueType="num">
                                      <p:cBhvr>
                                        <p:cTn id="50" dur="500" fill="hold"/>
                                        <p:tgtEl>
                                          <p:spTgt spid="29"/>
                                        </p:tgtEl>
                                        <p:attrNameLst>
                                          <p:attrName>ppt_h</p:attrName>
                                        </p:attrNameLst>
                                      </p:cBhvr>
                                      <p:tavLst>
                                        <p:tav tm="0">
                                          <p:val>
                                            <p:fltVal val="0"/>
                                          </p:val>
                                        </p:tav>
                                        <p:tav tm="100000">
                                          <p:val>
                                            <p:strVal val="#ppt_h"/>
                                          </p:val>
                                        </p:tav>
                                      </p:tavLst>
                                    </p:anim>
                                    <p:animEffect transition="in" filter="fade">
                                      <p:cBhvr>
                                        <p:cTn id="51" dur="500"/>
                                        <p:tgtEl>
                                          <p:spTgt spid="29"/>
                                        </p:tgtEl>
                                      </p:cBhvr>
                                    </p:animEffect>
                                  </p:childTnLst>
                                </p:cTn>
                              </p:par>
                              <p:par>
                                <p:cTn id="52" presetID="42"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1000"/>
                                        <p:tgtEl>
                                          <p:spTgt spid="18"/>
                                        </p:tgtEl>
                                      </p:cBhvr>
                                    </p:animEffect>
                                    <p:anim calcmode="lin" valueType="num">
                                      <p:cBhvr>
                                        <p:cTn id="55" dur="1000" fill="hold"/>
                                        <p:tgtEl>
                                          <p:spTgt spid="18"/>
                                        </p:tgtEl>
                                        <p:attrNameLst>
                                          <p:attrName>ppt_x</p:attrName>
                                        </p:attrNameLst>
                                      </p:cBhvr>
                                      <p:tavLst>
                                        <p:tav tm="0">
                                          <p:val>
                                            <p:strVal val="#ppt_x"/>
                                          </p:val>
                                        </p:tav>
                                        <p:tav tm="100000">
                                          <p:val>
                                            <p:strVal val="#ppt_x"/>
                                          </p:val>
                                        </p:tav>
                                      </p:tavLst>
                                    </p:anim>
                                    <p:anim calcmode="lin" valueType="num">
                                      <p:cBhvr>
                                        <p:cTn id="56" dur="1000" fill="hold"/>
                                        <p:tgtEl>
                                          <p:spTgt spid="18"/>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1000"/>
                                        <p:tgtEl>
                                          <p:spTgt spid="25"/>
                                        </p:tgtEl>
                                      </p:cBhvr>
                                    </p:animEffect>
                                    <p:anim calcmode="lin" valueType="num">
                                      <p:cBhvr>
                                        <p:cTn id="60" dur="1000" fill="hold"/>
                                        <p:tgtEl>
                                          <p:spTgt spid="25"/>
                                        </p:tgtEl>
                                        <p:attrNameLst>
                                          <p:attrName>ppt_x</p:attrName>
                                        </p:attrNameLst>
                                      </p:cBhvr>
                                      <p:tavLst>
                                        <p:tav tm="0">
                                          <p:val>
                                            <p:strVal val="#ppt_x"/>
                                          </p:val>
                                        </p:tav>
                                        <p:tav tm="100000">
                                          <p:val>
                                            <p:strVal val="#ppt_x"/>
                                          </p:val>
                                        </p:tav>
                                      </p:tavLst>
                                    </p:anim>
                                    <p:anim calcmode="lin" valueType="num">
                                      <p:cBhvr>
                                        <p:cTn id="61"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9" grpId="0"/>
      <p:bldP spid="20" grpId="0"/>
      <p:bldP spid="21" grpId="0"/>
      <p:bldP spid="22" grpId="0"/>
      <p:bldP spid="23" grpId="0"/>
      <p:bldP spid="24" grpId="0"/>
      <p:bldP spid="18" grpId="0"/>
      <p:bldP spid="2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30949" y="0"/>
            <a:ext cx="5861051" cy="6858000"/>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11968" y="635721"/>
            <a:ext cx="4980032" cy="5915832"/>
          </a:xfrm>
          <a:prstGeom prst="rect">
            <a:avLst/>
          </a:prstGeom>
        </p:spPr>
      </p:pic>
      <p:sp>
        <p:nvSpPr>
          <p:cNvPr id="10" name="TextBox 6"/>
          <p:cNvSpPr txBox="1"/>
          <p:nvPr/>
        </p:nvSpPr>
        <p:spPr>
          <a:xfrm>
            <a:off x="1007435" y="1892830"/>
            <a:ext cx="4183774" cy="1323439"/>
          </a:xfrm>
          <a:prstGeom prst="rect">
            <a:avLst/>
          </a:prstGeom>
          <a:noFill/>
        </p:spPr>
        <p:txBody>
          <a:bodyPr wrap="none" rtlCol="0">
            <a:spAutoFit/>
          </a:bodyPr>
          <a:lstStyle/>
          <a:p>
            <a:pPr defTabSz="1219200"/>
            <a:r>
              <a:rPr lang="en-US" altLang="zh-CN" sz="8000" dirty="0">
                <a:solidFill>
                  <a:srgbClr val="E1E0D8"/>
                </a:solidFill>
                <a:latin typeface="方正黑体简体" panose="02010601030101010101" pitchFamily="2" charset="-122"/>
                <a:ea typeface="方正黑体简体" panose="02010601030101010101" pitchFamily="2" charset="-122"/>
                <a:cs typeface="+mn-ea"/>
                <a:sym typeface="+mn-lt"/>
              </a:rPr>
              <a:t>PART 03</a:t>
            </a:r>
            <a:endParaRPr lang="zh-CN" altLang="en-US" sz="8000"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11" name="TextBox 7"/>
          <p:cNvSpPr txBox="1"/>
          <p:nvPr/>
        </p:nvSpPr>
        <p:spPr>
          <a:xfrm>
            <a:off x="1402612" y="2563227"/>
            <a:ext cx="4928337" cy="830997"/>
          </a:xfrm>
          <a:prstGeom prst="rect">
            <a:avLst/>
          </a:prstGeom>
          <a:noFill/>
        </p:spPr>
        <p:txBody>
          <a:bodyPr wrap="none" rtlCol="0">
            <a:spAutoFit/>
          </a:bodyPr>
          <a:lstStyle/>
          <a:p>
            <a:pPr defTabSz="1219200"/>
            <a:r>
              <a:rPr lang="en-US" altLang="zh-CN" sz="4800" dirty="0">
                <a:solidFill>
                  <a:srgbClr val="4F4D50"/>
                </a:solidFill>
                <a:latin typeface="方正黑体简体" panose="02010601030101010101" pitchFamily="2" charset="-122"/>
                <a:ea typeface="方正黑体简体" panose="02010601030101010101" pitchFamily="2" charset="-122"/>
                <a:cs typeface="+mn-ea"/>
                <a:sym typeface="+mn-lt"/>
              </a:rPr>
              <a:t>GDAL</a:t>
            </a:r>
            <a:r>
              <a:rPr lang="zh-CN" altLang="en-US" sz="4800" dirty="0">
                <a:solidFill>
                  <a:srgbClr val="4F4D50"/>
                </a:solidFill>
                <a:latin typeface="方正黑体简体" panose="02010601030101010101" pitchFamily="2" charset="-122"/>
                <a:ea typeface="方正黑体简体" panose="02010601030101010101" pitchFamily="2" charset="-122"/>
                <a:cs typeface="+mn-ea"/>
                <a:sym typeface="+mn-lt"/>
              </a:rPr>
              <a:t>生成快视图</a:t>
            </a:r>
          </a:p>
        </p:txBody>
      </p:sp>
      <p:sp>
        <p:nvSpPr>
          <p:cNvPr id="13" name="TextBox 6"/>
          <p:cNvSpPr txBox="1"/>
          <p:nvPr/>
        </p:nvSpPr>
        <p:spPr>
          <a:xfrm>
            <a:off x="9388833" y="2168473"/>
            <a:ext cx="2159566" cy="2646878"/>
          </a:xfrm>
          <a:prstGeom prst="rect">
            <a:avLst/>
          </a:prstGeom>
          <a:noFill/>
        </p:spPr>
        <p:txBody>
          <a:bodyPr wrap="none" rtlCol="0">
            <a:spAutoFit/>
          </a:bodyPr>
          <a:lstStyle/>
          <a:p>
            <a:pPr defTabSz="1219200"/>
            <a:r>
              <a:rPr lang="en-US" altLang="zh-CN" sz="16600" spc="600" dirty="0">
                <a:gradFill>
                  <a:gsLst>
                    <a:gs pos="0">
                      <a:srgbClr val="F7DCAC"/>
                    </a:gs>
                    <a:gs pos="100000">
                      <a:srgbClr val="88745B"/>
                    </a:gs>
                  </a:gsLst>
                  <a:lin ang="1800000" scaled="0"/>
                </a:gradFill>
                <a:effectLst>
                  <a:outerShdw blurRad="190500" dist="63500" dir="2700000" algn="tl">
                    <a:srgbClr val="000000">
                      <a:alpha val="30000"/>
                    </a:srgbClr>
                  </a:outerShdw>
                </a:effectLst>
                <a:latin typeface="Agency FB" panose="020B0503020202020204" pitchFamily="34" charset="0"/>
                <a:ea typeface="方正黑体简体" panose="02010601030101010101" pitchFamily="2" charset="-122"/>
                <a:cs typeface="+mn-ea"/>
                <a:sym typeface="+mn-lt"/>
              </a:rPr>
              <a:t>03</a:t>
            </a:r>
            <a:endParaRPr lang="zh-CN" altLang="en-US" sz="16600" spc="600" dirty="0">
              <a:gradFill>
                <a:gsLst>
                  <a:gs pos="0">
                    <a:srgbClr val="F7DCAC"/>
                  </a:gs>
                  <a:gs pos="100000">
                    <a:srgbClr val="88745B"/>
                  </a:gs>
                </a:gsLst>
                <a:lin ang="1800000" scaled="0"/>
              </a:gradFill>
              <a:effectLst>
                <a:outerShdw blurRad="190500" dist="63500" dir="2700000" algn="tl">
                  <a:srgbClr val="000000">
                    <a:alpha val="30000"/>
                  </a:srgbClr>
                </a:outerShdw>
              </a:effectLst>
              <a:latin typeface="Agency FB" panose="020B0503020202020204" pitchFamily="34" charset="0"/>
              <a:ea typeface="方正黑体简体" panose="02010601030101010101" pitchFamily="2"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250" advClick="0" advTm="3263">
        <p14:flip dir="r"/>
      </p:transition>
    </mc:Choice>
    <mc:Fallback xmlns="">
      <p:transition advClick="0" advTm="326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3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30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椭圆 20">
            <a:extLst>
              <a:ext uri="{FF2B5EF4-FFF2-40B4-BE49-F238E27FC236}">
                <a16:creationId xmlns:a16="http://schemas.microsoft.com/office/drawing/2014/main" id="{5C27A350-D581-4222-980F-09298F15DA6D}"/>
              </a:ext>
            </a:extLst>
          </p:cNvPr>
          <p:cNvSpPr/>
          <p:nvPr/>
        </p:nvSpPr>
        <p:spPr>
          <a:xfrm>
            <a:off x="8386435" y="1547387"/>
            <a:ext cx="2995585" cy="2995585"/>
          </a:xfrm>
          <a:prstGeom prst="ellipse">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p:cNvSpPr txBox="1"/>
          <p:nvPr/>
        </p:nvSpPr>
        <p:spPr>
          <a:xfrm>
            <a:off x="539982" y="440281"/>
            <a:ext cx="7549659" cy="461665"/>
          </a:xfrm>
          <a:prstGeom prst="rect">
            <a:avLst/>
          </a:prstGeom>
          <a:noFill/>
        </p:spPr>
        <p:txBody>
          <a:bodyPr wrap="square" rtlCol="0">
            <a:spAutoFit/>
          </a:bodyPr>
          <a:lstStyle/>
          <a:p>
            <a:pPr defTabSz="121920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引言</a:t>
            </a:r>
          </a:p>
        </p:txBody>
      </p:sp>
      <p:grpSp>
        <p:nvGrpSpPr>
          <p:cNvPr id="11" name="组合 10">
            <a:extLst>
              <a:ext uri="{FF2B5EF4-FFF2-40B4-BE49-F238E27FC236}">
                <a16:creationId xmlns:a16="http://schemas.microsoft.com/office/drawing/2014/main" id="{1AE7E492-FBC7-428C-BDF4-B1BAFDA01D51}"/>
              </a:ext>
            </a:extLst>
          </p:cNvPr>
          <p:cNvGrpSpPr/>
          <p:nvPr/>
        </p:nvGrpSpPr>
        <p:grpSpPr>
          <a:xfrm>
            <a:off x="1736916" y="1692673"/>
            <a:ext cx="505943" cy="514803"/>
            <a:chOff x="3627907" y="1980747"/>
            <a:chExt cx="1105193" cy="762453"/>
          </a:xfrm>
        </p:grpSpPr>
        <p:sp>
          <p:nvSpPr>
            <p:cNvPr id="12" name="燕尾形 19">
              <a:extLst>
                <a:ext uri="{FF2B5EF4-FFF2-40B4-BE49-F238E27FC236}">
                  <a16:creationId xmlns:a16="http://schemas.microsoft.com/office/drawing/2014/main" id="{E00CA46D-9546-4644-8D55-4AA157206874}"/>
                </a:ext>
              </a:extLst>
            </p:cNvPr>
            <p:cNvSpPr/>
            <p:nvPr/>
          </p:nvSpPr>
          <p:spPr>
            <a:xfrm>
              <a:off x="3627907" y="2000250"/>
              <a:ext cx="601193" cy="742950"/>
            </a:xfrm>
            <a:prstGeom prst="chevron">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20">
              <a:extLst>
                <a:ext uri="{FF2B5EF4-FFF2-40B4-BE49-F238E27FC236}">
                  <a16:creationId xmlns:a16="http://schemas.microsoft.com/office/drawing/2014/main" id="{C83FE0E2-41DA-4081-BB44-9FDC384829A0}"/>
                </a:ext>
              </a:extLst>
            </p:cNvPr>
            <p:cNvSpPr/>
            <p:nvPr/>
          </p:nvSpPr>
          <p:spPr>
            <a:xfrm>
              <a:off x="4131907" y="1980747"/>
              <a:ext cx="601193" cy="742950"/>
            </a:xfrm>
            <a:prstGeom prst="chevron">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5" name="文本框 14">
            <a:extLst>
              <a:ext uri="{FF2B5EF4-FFF2-40B4-BE49-F238E27FC236}">
                <a16:creationId xmlns:a16="http://schemas.microsoft.com/office/drawing/2014/main" id="{58579031-DD78-4FAE-A086-308C5E066E0E}"/>
              </a:ext>
            </a:extLst>
          </p:cNvPr>
          <p:cNvSpPr txBox="1"/>
          <p:nvPr/>
        </p:nvSpPr>
        <p:spPr>
          <a:xfrm>
            <a:off x="2283582" y="1633492"/>
            <a:ext cx="4117218" cy="646331"/>
          </a:xfrm>
          <a:prstGeom prst="rect">
            <a:avLst/>
          </a:prstGeom>
          <a:noFill/>
        </p:spPr>
        <p:txBody>
          <a:bodyPr wrap="square" rtlCol="0">
            <a:spAutoFit/>
          </a:bodyPr>
          <a:lstStyle/>
          <a:p>
            <a:r>
              <a:rPr lang="zh-CN" altLang="en-US" sz="3600" dirty="0">
                <a:solidFill>
                  <a:sysClr val="windowText" lastClr="000000"/>
                </a:solidFill>
                <a:latin typeface="微软雅黑" panose="020B0503020204020204" pitchFamily="34" charset="-122"/>
                <a:ea typeface="微软雅黑" panose="020B0503020204020204" pitchFamily="34" charset="-122"/>
              </a:rPr>
              <a:t>为什么需要快视图？</a:t>
            </a:r>
          </a:p>
        </p:txBody>
      </p:sp>
      <p:sp>
        <p:nvSpPr>
          <p:cNvPr id="16" name="矩形 15">
            <a:extLst>
              <a:ext uri="{FF2B5EF4-FFF2-40B4-BE49-F238E27FC236}">
                <a16:creationId xmlns:a16="http://schemas.microsoft.com/office/drawing/2014/main" id="{CD170630-01E1-426A-B7FE-9A31DC6939CC}"/>
              </a:ext>
            </a:extLst>
          </p:cNvPr>
          <p:cNvSpPr/>
          <p:nvPr/>
        </p:nvSpPr>
        <p:spPr>
          <a:xfrm>
            <a:off x="1669825" y="2618440"/>
            <a:ext cx="5111849" cy="1884618"/>
          </a:xfrm>
          <a:prstGeom prst="rect">
            <a:avLst/>
          </a:prstGeom>
        </p:spPr>
        <p:txBody>
          <a:bodyPr wrap="square">
            <a:spAutoFit/>
          </a:bodyPr>
          <a:lstStyle/>
          <a:p>
            <a:pPr>
              <a:lnSpc>
                <a:spcPct val="150000"/>
              </a:lnSpc>
            </a:pPr>
            <a:r>
              <a:rPr lang="zh-CN" altLang="en-US" sz="2000" dirty="0">
                <a:solidFill>
                  <a:schemeClr val="tx1">
                    <a:lumMod val="85000"/>
                    <a:lumOff val="15000"/>
                  </a:schemeClr>
                </a:solidFill>
                <a:latin typeface="微软雅黑" pitchFamily="34" charset="-122"/>
                <a:ea typeface="微软雅黑" pitchFamily="34" charset="-122"/>
              </a:rPr>
              <a:t>在进行遥感数据平台建设时，往往需要在查看原始数据时查看数据缩略图来确保数据云量是否满足要求（</a:t>
            </a:r>
            <a:r>
              <a:rPr lang="zh-CN" altLang="en-US" sz="2000" dirty="0">
                <a:solidFill>
                  <a:srgbClr val="FF0000"/>
                </a:solidFill>
                <a:latin typeface="微软雅黑" pitchFamily="34" charset="-122"/>
                <a:ea typeface="微软雅黑" pitchFamily="34" charset="-122"/>
              </a:rPr>
              <a:t>往往是遥感图像太大，不可以快速显示，所以拿缩略图来辅助审查</a:t>
            </a:r>
            <a:r>
              <a:rPr lang="zh-CN" altLang="en-US" sz="2000" dirty="0">
                <a:solidFill>
                  <a:schemeClr val="tx1">
                    <a:lumMod val="85000"/>
                    <a:lumOff val="15000"/>
                  </a:schemeClr>
                </a:solidFill>
                <a:latin typeface="微软雅黑" pitchFamily="34" charset="-122"/>
                <a:ea typeface="微软雅黑" pitchFamily="34" charset="-122"/>
              </a:rPr>
              <a:t>）。 </a:t>
            </a:r>
          </a:p>
        </p:txBody>
      </p:sp>
      <p:pic>
        <p:nvPicPr>
          <p:cNvPr id="17" name="图片 16">
            <a:extLst>
              <a:ext uri="{FF2B5EF4-FFF2-40B4-BE49-F238E27FC236}">
                <a16:creationId xmlns:a16="http://schemas.microsoft.com/office/drawing/2014/main" id="{ECCAAAA6-F135-4A65-BF79-7B0EE9763D69}"/>
              </a:ext>
            </a:extLst>
          </p:cNvPr>
          <p:cNvPicPr>
            <a:picLocks noChangeAspect="1"/>
          </p:cNvPicPr>
          <p:nvPr/>
        </p:nvPicPr>
        <p:blipFill>
          <a:blip r:embed="rId4"/>
          <a:stretch>
            <a:fillRect/>
          </a:stretch>
        </p:blipFill>
        <p:spPr>
          <a:xfrm>
            <a:off x="8427158" y="1588917"/>
            <a:ext cx="2914141" cy="2914141"/>
          </a:xfrm>
          <a:prstGeom prst="rect">
            <a:avLst/>
          </a:prstGeom>
        </p:spPr>
      </p:pic>
      <p:grpSp>
        <p:nvGrpSpPr>
          <p:cNvPr id="18" name="组合 17">
            <a:extLst>
              <a:ext uri="{FF2B5EF4-FFF2-40B4-BE49-F238E27FC236}">
                <a16:creationId xmlns:a16="http://schemas.microsoft.com/office/drawing/2014/main" id="{4AA92487-DA29-4B75-9A57-C8DFFE831E93}"/>
              </a:ext>
            </a:extLst>
          </p:cNvPr>
          <p:cNvGrpSpPr/>
          <p:nvPr/>
        </p:nvGrpSpPr>
        <p:grpSpPr>
          <a:xfrm>
            <a:off x="8183031" y="3661228"/>
            <a:ext cx="2119086" cy="2119086"/>
            <a:chOff x="5036457" y="2369456"/>
            <a:chExt cx="2119086" cy="2119086"/>
          </a:xfrm>
        </p:grpSpPr>
        <p:sp>
          <p:nvSpPr>
            <p:cNvPr id="19" name="椭圆 18">
              <a:extLst>
                <a:ext uri="{FF2B5EF4-FFF2-40B4-BE49-F238E27FC236}">
                  <a16:creationId xmlns:a16="http://schemas.microsoft.com/office/drawing/2014/main" id="{0A811CE5-4B54-4DD0-9045-9DE312104D9B}"/>
                </a:ext>
              </a:extLst>
            </p:cNvPr>
            <p:cNvSpPr/>
            <p:nvPr/>
          </p:nvSpPr>
          <p:spPr>
            <a:xfrm>
              <a:off x="5036457" y="2369456"/>
              <a:ext cx="2119086" cy="2119086"/>
            </a:xfrm>
            <a:prstGeom prst="ellipse">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 name="图片 19">
              <a:extLst>
                <a:ext uri="{FF2B5EF4-FFF2-40B4-BE49-F238E27FC236}">
                  <a16:creationId xmlns:a16="http://schemas.microsoft.com/office/drawing/2014/main" id="{745A467E-55E1-4B3F-B063-61B395E3202B}"/>
                </a:ext>
              </a:extLst>
            </p:cNvPr>
            <p:cNvPicPr>
              <a:picLocks noChangeAspect="1"/>
            </p:cNvPicPr>
            <p:nvPr/>
          </p:nvPicPr>
          <p:blipFill>
            <a:blip r:embed="rId5"/>
            <a:stretch>
              <a:fillRect/>
            </a:stretch>
          </p:blipFill>
          <p:spPr>
            <a:xfrm>
              <a:off x="5108362" y="2441362"/>
              <a:ext cx="1975275" cy="1975275"/>
            </a:xfrm>
            <a:prstGeom prst="rect">
              <a:avLst/>
            </a:prstGeom>
          </p:spPr>
        </p:pic>
      </p:grpSp>
    </p:spTree>
    <p:extLst>
      <p:ext uri="{BB962C8B-B14F-4D97-AF65-F5344CB8AC3E}">
        <p14:creationId xmlns:p14="http://schemas.microsoft.com/office/powerpoint/2010/main" val="3639241193"/>
      </p:ext>
    </p:extLst>
  </p:cSld>
  <p:clrMapOvr>
    <a:masterClrMapping/>
  </p:clrMapOvr>
  <mc:AlternateContent xmlns:mc="http://schemas.openxmlformats.org/markup-compatibility/2006" xmlns:p14="http://schemas.microsoft.com/office/powerpoint/2010/main">
    <mc:Choice Requires="p14">
      <p:transition p14:dur="250" advClick="0" advTm="8471">
        <p:push dir="u"/>
      </p:transition>
    </mc:Choice>
    <mc:Fallback xmlns="">
      <p:transition advClick="0" advTm="847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0-#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0-#ppt_w/2"/>
                                          </p:val>
                                        </p:tav>
                                        <p:tav tm="100000">
                                          <p:val>
                                            <p:strVal val="#ppt_x"/>
                                          </p:val>
                                        </p:tav>
                                      </p:tavLst>
                                    </p:anim>
                                    <p:anim calcmode="lin" valueType="num">
                                      <p:cBhvr additive="base">
                                        <p:cTn id="22" dur="500" fill="hold"/>
                                        <p:tgtEl>
                                          <p:spTgt spid="15"/>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500" fill="hold"/>
                                        <p:tgtEl>
                                          <p:spTgt spid="17"/>
                                        </p:tgtEl>
                                        <p:attrNameLst>
                                          <p:attrName>ppt_w</p:attrName>
                                        </p:attrNameLst>
                                      </p:cBhvr>
                                      <p:tavLst>
                                        <p:tav tm="0">
                                          <p:val>
                                            <p:fltVal val="0"/>
                                          </p:val>
                                        </p:tav>
                                        <p:tav tm="100000">
                                          <p:val>
                                            <p:strVal val="#ppt_w"/>
                                          </p:val>
                                        </p:tav>
                                      </p:tavLst>
                                    </p:anim>
                                    <p:anim calcmode="lin" valueType="num">
                                      <p:cBhvr>
                                        <p:cTn id="32" dur="500" fill="hold"/>
                                        <p:tgtEl>
                                          <p:spTgt spid="17"/>
                                        </p:tgtEl>
                                        <p:attrNameLst>
                                          <p:attrName>ppt_h</p:attrName>
                                        </p:attrNameLst>
                                      </p:cBhvr>
                                      <p:tavLst>
                                        <p:tav tm="0">
                                          <p:val>
                                            <p:fltVal val="0"/>
                                          </p:val>
                                        </p:tav>
                                        <p:tav tm="100000">
                                          <p:val>
                                            <p:strVal val="#ppt_h"/>
                                          </p:val>
                                        </p:tav>
                                      </p:tavLst>
                                    </p:anim>
                                    <p:animEffect transition="in" filter="fade">
                                      <p:cBhvr>
                                        <p:cTn id="33" dur="500"/>
                                        <p:tgtEl>
                                          <p:spTgt spid="17"/>
                                        </p:tgtEl>
                                      </p:cBhvr>
                                    </p:animEffect>
                                  </p:childTnLst>
                                </p:cTn>
                              </p:par>
                              <p:par>
                                <p:cTn id="34" presetID="53" presetClass="entr" presetSubtype="16"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p:cTn id="36" dur="500" fill="hold"/>
                                        <p:tgtEl>
                                          <p:spTgt spid="18"/>
                                        </p:tgtEl>
                                        <p:attrNameLst>
                                          <p:attrName>ppt_w</p:attrName>
                                        </p:attrNameLst>
                                      </p:cBhvr>
                                      <p:tavLst>
                                        <p:tav tm="0">
                                          <p:val>
                                            <p:fltVal val="0"/>
                                          </p:val>
                                        </p:tav>
                                        <p:tav tm="100000">
                                          <p:val>
                                            <p:strVal val="#ppt_w"/>
                                          </p:val>
                                        </p:tav>
                                      </p:tavLst>
                                    </p:anim>
                                    <p:anim calcmode="lin" valueType="num">
                                      <p:cBhvr>
                                        <p:cTn id="37" dur="500" fill="hold"/>
                                        <p:tgtEl>
                                          <p:spTgt spid="18"/>
                                        </p:tgtEl>
                                        <p:attrNameLst>
                                          <p:attrName>ppt_h</p:attrName>
                                        </p:attrNameLst>
                                      </p:cBhvr>
                                      <p:tavLst>
                                        <p:tav tm="0">
                                          <p:val>
                                            <p:fltVal val="0"/>
                                          </p:val>
                                        </p:tav>
                                        <p:tav tm="100000">
                                          <p:val>
                                            <p:strVal val="#ppt_h"/>
                                          </p:val>
                                        </p:tav>
                                      </p:tavLst>
                                    </p:anim>
                                    <p:animEffect transition="in" filter="fade">
                                      <p:cBhvr>
                                        <p:cTn id="3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p:cNvSpPr txBox="1"/>
          <p:nvPr/>
        </p:nvSpPr>
        <p:spPr>
          <a:xfrm>
            <a:off x="539982" y="440281"/>
            <a:ext cx="7549659" cy="461665"/>
          </a:xfrm>
          <a:prstGeom prst="rect">
            <a:avLst/>
          </a:prstGeom>
          <a:noFill/>
        </p:spPr>
        <p:txBody>
          <a:bodyPr wrap="square" rtlCol="0">
            <a:spAutoFit/>
          </a:bodyPr>
          <a:lstStyle/>
          <a:p>
            <a:pPr defTabSz="121920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常用方法</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31986" y="1664890"/>
            <a:ext cx="464644" cy="533480"/>
          </a:xfrm>
          <a:prstGeom prst="rect">
            <a:avLst/>
          </a:prstGeom>
        </p:spPr>
      </p:pic>
      <p:pic>
        <p:nvPicPr>
          <p:cNvPr id="10"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31985" y="2944810"/>
            <a:ext cx="464644" cy="533480"/>
          </a:xfrm>
          <a:prstGeom prst="rect">
            <a:avLst/>
          </a:prstGeom>
        </p:spPr>
      </p:pic>
      <p:pic>
        <p:nvPicPr>
          <p:cNvPr id="13" name="图片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31983" y="4510980"/>
            <a:ext cx="464644" cy="533480"/>
          </a:xfrm>
          <a:prstGeom prst="rect">
            <a:avLst/>
          </a:prstGeom>
        </p:spPr>
      </p:pic>
      <p:sp>
        <p:nvSpPr>
          <p:cNvPr id="39" name="TextBox 7"/>
          <p:cNvSpPr txBox="1"/>
          <p:nvPr/>
        </p:nvSpPr>
        <p:spPr>
          <a:xfrm>
            <a:off x="2277744" y="1618315"/>
            <a:ext cx="8051244" cy="499624"/>
          </a:xfrm>
          <a:prstGeom prst="rect">
            <a:avLst/>
          </a:prstGeom>
          <a:noFill/>
        </p:spPr>
        <p:txBody>
          <a:bodyPr wrap="square" rtlCol="0">
            <a:spAutoFit/>
          </a:bodyPr>
          <a:lstStyle/>
          <a:p>
            <a:pPr defTabSz="1219200">
              <a:lnSpc>
                <a:spcPct val="150000"/>
              </a:lnSpc>
            </a:pP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第一种利用重采样生产小图像。</a:t>
            </a:r>
          </a:p>
        </p:txBody>
      </p:sp>
      <p:sp>
        <p:nvSpPr>
          <p:cNvPr id="41" name="TextBox 7"/>
          <p:cNvSpPr txBox="1"/>
          <p:nvPr/>
        </p:nvSpPr>
        <p:spPr>
          <a:xfrm>
            <a:off x="2277796" y="3017775"/>
            <a:ext cx="7155453" cy="961289"/>
          </a:xfrm>
          <a:prstGeom prst="rect">
            <a:avLst/>
          </a:prstGeom>
          <a:noFill/>
        </p:spPr>
        <p:txBody>
          <a:bodyPr wrap="square" rtlCol="0">
            <a:spAutoFit/>
          </a:bodyPr>
          <a:lstStyle/>
          <a:p>
            <a:pPr defTabSz="1219200">
              <a:lnSpc>
                <a:spcPct val="150000"/>
              </a:lnSpc>
            </a:pP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第二种将生成的小图像</a:t>
            </a:r>
            <a:r>
              <a:rPr lang="en-US" altLang="zh-CN" sz="2000" dirty="0" err="1">
                <a:solidFill>
                  <a:srgbClr val="4F4D50"/>
                </a:solidFill>
                <a:latin typeface="方正黑体简体" panose="02010601030101010101" pitchFamily="2" charset="-122"/>
                <a:ea typeface="方正黑体简体" panose="02010601030101010101" pitchFamily="2" charset="-122"/>
                <a:cs typeface="+mn-ea"/>
                <a:sym typeface="+mn-lt"/>
              </a:rPr>
              <a:t>CreateCopy</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生成</a:t>
            </a:r>
            <a:r>
              <a:rPr lang="en-US" altLang="zh-CN" sz="2000" dirty="0">
                <a:solidFill>
                  <a:srgbClr val="4F4D50"/>
                </a:solidFill>
                <a:latin typeface="方正黑体简体" panose="02010601030101010101" pitchFamily="2" charset="-122"/>
                <a:ea typeface="方正黑体简体" panose="02010601030101010101" pitchFamily="2" charset="-122"/>
                <a:cs typeface="+mn-ea"/>
                <a:sym typeface="+mn-lt"/>
              </a:rPr>
              <a:t>jpg</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格式或者</a:t>
            </a:r>
            <a:r>
              <a:rPr lang="en-US" altLang="zh-CN" sz="2000" dirty="0" err="1">
                <a:solidFill>
                  <a:srgbClr val="4F4D50"/>
                </a:solidFill>
                <a:latin typeface="方正黑体简体" panose="02010601030101010101" pitchFamily="2" charset="-122"/>
                <a:ea typeface="方正黑体简体" panose="02010601030101010101" pitchFamily="2" charset="-122"/>
                <a:cs typeface="+mn-ea"/>
                <a:sym typeface="+mn-lt"/>
              </a:rPr>
              <a:t>png</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格式。（</a:t>
            </a:r>
            <a:r>
              <a:rPr lang="zh-CN" altLang="en-US" sz="2000" dirty="0">
                <a:solidFill>
                  <a:srgbClr val="FF0000"/>
                </a:solidFill>
                <a:latin typeface="方正黑体简体" panose="02010601030101010101" pitchFamily="2" charset="-122"/>
                <a:ea typeface="方正黑体简体" panose="02010601030101010101" pitchFamily="2" charset="-122"/>
                <a:cs typeface="+mn-ea"/>
                <a:sym typeface="+mn-lt"/>
              </a:rPr>
              <a:t>本实例介绍的内容）</a:t>
            </a:r>
          </a:p>
        </p:txBody>
      </p:sp>
      <p:sp>
        <p:nvSpPr>
          <p:cNvPr id="45" name="TextBox 7"/>
          <p:cNvSpPr txBox="1"/>
          <p:nvPr/>
        </p:nvSpPr>
        <p:spPr>
          <a:xfrm>
            <a:off x="2277743" y="4396808"/>
            <a:ext cx="7734003" cy="2807948"/>
          </a:xfrm>
          <a:prstGeom prst="rect">
            <a:avLst/>
          </a:prstGeom>
          <a:noFill/>
        </p:spPr>
        <p:txBody>
          <a:bodyPr wrap="square" rtlCol="0">
            <a:spAutoFit/>
          </a:bodyPr>
          <a:lstStyle/>
          <a:p>
            <a:pPr defTabSz="1219200">
              <a:lnSpc>
                <a:spcPct val="150000"/>
              </a:lnSpc>
            </a:pPr>
            <a:r>
              <a:rPr lang="zh-CN" altLang="en-US" sz="2000" dirty="0">
                <a:solidFill>
                  <a:srgbClr val="FF0000"/>
                </a:solidFill>
                <a:latin typeface="方正黑体简体" panose="02010601030101010101" pitchFamily="2" charset="-122"/>
                <a:ea typeface="方正黑体简体" panose="02010601030101010101" pitchFamily="2" charset="-122"/>
                <a:cs typeface="+mn-ea"/>
                <a:sym typeface="+mn-lt"/>
              </a:rPr>
              <a:t>注意：</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由于</a:t>
            </a:r>
            <a:r>
              <a:rPr lang="en-US" altLang="zh-CN" sz="2000" dirty="0">
                <a:solidFill>
                  <a:srgbClr val="4F4D50"/>
                </a:solidFill>
                <a:latin typeface="方正黑体简体" panose="02010601030101010101" pitchFamily="2" charset="-122"/>
                <a:ea typeface="方正黑体简体" panose="02010601030101010101" pitchFamily="2" charset="-122"/>
                <a:cs typeface="+mn-ea"/>
                <a:sym typeface="+mn-lt"/>
              </a:rPr>
              <a:t>GDAL</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不支持直接创建</a:t>
            </a:r>
            <a:r>
              <a:rPr lang="en-US" altLang="zh-CN" sz="2000" dirty="0">
                <a:solidFill>
                  <a:srgbClr val="4F4D50"/>
                </a:solidFill>
                <a:latin typeface="方正黑体简体" panose="02010601030101010101" pitchFamily="2" charset="-122"/>
                <a:ea typeface="方正黑体简体" panose="02010601030101010101" pitchFamily="2" charset="-122"/>
                <a:cs typeface="+mn-ea"/>
                <a:sym typeface="+mn-lt"/>
              </a:rPr>
              <a:t>jpg</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或者</a:t>
            </a:r>
            <a:r>
              <a:rPr lang="en-US" altLang="zh-CN" sz="2000" dirty="0" err="1">
                <a:solidFill>
                  <a:srgbClr val="4F4D50"/>
                </a:solidFill>
                <a:latin typeface="方正黑体简体" panose="02010601030101010101" pitchFamily="2" charset="-122"/>
                <a:ea typeface="方正黑体简体" panose="02010601030101010101" pitchFamily="2" charset="-122"/>
                <a:cs typeface="+mn-ea"/>
                <a:sym typeface="+mn-lt"/>
              </a:rPr>
              <a:t>png</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的压缩格式的图像，所以中间需要一个中转的过程（</a:t>
            </a:r>
            <a:r>
              <a:rPr lang="en-US" altLang="zh-CN" sz="2000" dirty="0">
                <a:solidFill>
                  <a:srgbClr val="4F4D50"/>
                </a:solidFill>
                <a:latin typeface="方正黑体简体" panose="02010601030101010101" pitchFamily="2" charset="-122"/>
                <a:ea typeface="方正黑体简体" panose="02010601030101010101" pitchFamily="2" charset="-122"/>
                <a:cs typeface="+mn-ea"/>
                <a:sym typeface="+mn-lt"/>
              </a:rPr>
              <a:t>MEM</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文件）。关于</a:t>
            </a:r>
            <a:r>
              <a:rPr lang="en-US" altLang="zh-CN" sz="2000" dirty="0">
                <a:solidFill>
                  <a:srgbClr val="4F4D50"/>
                </a:solidFill>
                <a:latin typeface="方正黑体简体" panose="02010601030101010101" pitchFamily="2" charset="-122"/>
                <a:ea typeface="方正黑体简体" panose="02010601030101010101" pitchFamily="2" charset="-122"/>
                <a:cs typeface="+mn-ea"/>
                <a:sym typeface="+mn-lt"/>
              </a:rPr>
              <a:t>MEM</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内存文件的使用，和普通的图像一样，只不过在创建的时候（</a:t>
            </a:r>
            <a:r>
              <a:rPr lang="zh-CN" altLang="en-US" sz="2000" dirty="0">
                <a:solidFill>
                  <a:srgbClr val="FF0000"/>
                </a:solidFill>
                <a:latin typeface="方正黑体简体" panose="02010601030101010101" pitchFamily="2" charset="-122"/>
                <a:ea typeface="方正黑体简体" panose="02010601030101010101" pitchFamily="2" charset="-122"/>
                <a:cs typeface="+mn-ea"/>
                <a:sym typeface="+mn-lt"/>
              </a:rPr>
              <a:t>上一节已经给出实例</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），驱动选择</a:t>
            </a:r>
            <a:r>
              <a:rPr lang="en-US" altLang="zh-CN" sz="2000" dirty="0">
                <a:solidFill>
                  <a:srgbClr val="4F4D50"/>
                </a:solidFill>
                <a:latin typeface="方正黑体简体" panose="02010601030101010101" pitchFamily="2" charset="-122"/>
                <a:ea typeface="方正黑体简体" panose="02010601030101010101" pitchFamily="2" charset="-122"/>
                <a:cs typeface="+mn-ea"/>
                <a:sym typeface="+mn-lt"/>
              </a:rPr>
              <a:t>MEM</a:t>
            </a: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，创建图像的时候不需要指定文件路径，直接用空字符串即可。</a:t>
            </a:r>
          </a:p>
          <a:p>
            <a:pPr defTabSz="1219200">
              <a:lnSpc>
                <a:spcPct val="150000"/>
              </a:lnSpc>
            </a:pPr>
            <a:endPar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Tree>
    <p:extLst>
      <p:ext uri="{BB962C8B-B14F-4D97-AF65-F5344CB8AC3E}">
        <p14:creationId xmlns:p14="http://schemas.microsoft.com/office/powerpoint/2010/main" val="3247985657"/>
      </p:ext>
    </p:extLst>
  </p:cSld>
  <p:clrMapOvr>
    <a:masterClrMapping/>
  </p:clrMapOvr>
  <mc:AlternateContent xmlns:mc="http://schemas.openxmlformats.org/markup-compatibility/2006" xmlns:p14="http://schemas.microsoft.com/office/powerpoint/2010/main">
    <mc:Choice Requires="p14">
      <p:transition p14:dur="250" advClick="0" advTm="8471">
        <p:push dir="u"/>
      </p:transition>
    </mc:Choice>
    <mc:Fallback xmlns="">
      <p:transition advClick="0" advTm="847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anim calcmode="lin" valueType="num">
                                      <p:cBhvr>
                                        <p:cTn id="16" dur="1000" fill="hold"/>
                                        <p:tgtEl>
                                          <p:spTgt spid="8"/>
                                        </p:tgtEl>
                                        <p:attrNameLst>
                                          <p:attrName>ppt_x</p:attrName>
                                        </p:attrNameLst>
                                      </p:cBhvr>
                                      <p:tavLst>
                                        <p:tav tm="0">
                                          <p:val>
                                            <p:strVal val="#ppt_x"/>
                                          </p:val>
                                        </p:tav>
                                        <p:tav tm="100000">
                                          <p:val>
                                            <p:strVal val="#ppt_x"/>
                                          </p:val>
                                        </p:tav>
                                      </p:tavLst>
                                    </p:anim>
                                    <p:anim calcmode="lin" valueType="num">
                                      <p:cBhvr>
                                        <p:cTn id="17" dur="1000" fill="hold"/>
                                        <p:tgtEl>
                                          <p:spTgt spid="8"/>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anim calcmode="lin" valueType="num">
                                      <p:cBhvr>
                                        <p:cTn id="21" dur="1000" fill="hold"/>
                                        <p:tgtEl>
                                          <p:spTgt spid="10"/>
                                        </p:tgtEl>
                                        <p:attrNameLst>
                                          <p:attrName>ppt_x</p:attrName>
                                        </p:attrNameLst>
                                      </p:cBhvr>
                                      <p:tavLst>
                                        <p:tav tm="0">
                                          <p:val>
                                            <p:strVal val="#ppt_x"/>
                                          </p:val>
                                        </p:tav>
                                        <p:tav tm="100000">
                                          <p:val>
                                            <p:strVal val="#ppt_x"/>
                                          </p:val>
                                        </p:tav>
                                      </p:tavLst>
                                    </p:anim>
                                    <p:anim calcmode="lin" valueType="num">
                                      <p:cBhvr>
                                        <p:cTn id="22" dur="1000" fill="hold"/>
                                        <p:tgtEl>
                                          <p:spTgt spid="10"/>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1000"/>
                                        <p:tgtEl>
                                          <p:spTgt spid="13"/>
                                        </p:tgtEl>
                                      </p:cBhvr>
                                    </p:animEffect>
                                    <p:anim calcmode="lin" valueType="num">
                                      <p:cBhvr>
                                        <p:cTn id="26" dur="1000" fill="hold"/>
                                        <p:tgtEl>
                                          <p:spTgt spid="13"/>
                                        </p:tgtEl>
                                        <p:attrNameLst>
                                          <p:attrName>ppt_x</p:attrName>
                                        </p:attrNameLst>
                                      </p:cBhvr>
                                      <p:tavLst>
                                        <p:tav tm="0">
                                          <p:val>
                                            <p:strVal val="#ppt_x"/>
                                          </p:val>
                                        </p:tav>
                                        <p:tav tm="100000">
                                          <p:val>
                                            <p:strVal val="#ppt_x"/>
                                          </p:val>
                                        </p:tav>
                                      </p:tavLst>
                                    </p:anim>
                                    <p:anim calcmode="lin" valueType="num">
                                      <p:cBhvr>
                                        <p:cTn id="27" dur="1000" fill="hold"/>
                                        <p:tgtEl>
                                          <p:spTgt spid="13"/>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fade">
                                      <p:cBhvr>
                                        <p:cTn id="30" dur="1000"/>
                                        <p:tgtEl>
                                          <p:spTgt spid="39"/>
                                        </p:tgtEl>
                                      </p:cBhvr>
                                    </p:animEffect>
                                    <p:anim calcmode="lin" valueType="num">
                                      <p:cBhvr>
                                        <p:cTn id="31" dur="1000" fill="hold"/>
                                        <p:tgtEl>
                                          <p:spTgt spid="39"/>
                                        </p:tgtEl>
                                        <p:attrNameLst>
                                          <p:attrName>ppt_x</p:attrName>
                                        </p:attrNameLst>
                                      </p:cBhvr>
                                      <p:tavLst>
                                        <p:tav tm="0">
                                          <p:val>
                                            <p:strVal val="#ppt_x"/>
                                          </p:val>
                                        </p:tav>
                                        <p:tav tm="100000">
                                          <p:val>
                                            <p:strVal val="#ppt_x"/>
                                          </p:val>
                                        </p:tav>
                                      </p:tavLst>
                                    </p:anim>
                                    <p:anim calcmode="lin" valueType="num">
                                      <p:cBhvr>
                                        <p:cTn id="32" dur="1000" fill="hold"/>
                                        <p:tgtEl>
                                          <p:spTgt spid="39"/>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1000"/>
                                        <p:tgtEl>
                                          <p:spTgt spid="41"/>
                                        </p:tgtEl>
                                      </p:cBhvr>
                                    </p:animEffect>
                                    <p:anim calcmode="lin" valueType="num">
                                      <p:cBhvr>
                                        <p:cTn id="36" dur="1000" fill="hold"/>
                                        <p:tgtEl>
                                          <p:spTgt spid="41"/>
                                        </p:tgtEl>
                                        <p:attrNameLst>
                                          <p:attrName>ppt_x</p:attrName>
                                        </p:attrNameLst>
                                      </p:cBhvr>
                                      <p:tavLst>
                                        <p:tav tm="0">
                                          <p:val>
                                            <p:strVal val="#ppt_x"/>
                                          </p:val>
                                        </p:tav>
                                        <p:tav tm="100000">
                                          <p:val>
                                            <p:strVal val="#ppt_x"/>
                                          </p:val>
                                        </p:tav>
                                      </p:tavLst>
                                    </p:anim>
                                    <p:anim calcmode="lin" valueType="num">
                                      <p:cBhvr>
                                        <p:cTn id="37" dur="1000" fill="hold"/>
                                        <p:tgtEl>
                                          <p:spTgt spid="41"/>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fade">
                                      <p:cBhvr>
                                        <p:cTn id="40" dur="1000"/>
                                        <p:tgtEl>
                                          <p:spTgt spid="45"/>
                                        </p:tgtEl>
                                      </p:cBhvr>
                                    </p:animEffect>
                                    <p:anim calcmode="lin" valueType="num">
                                      <p:cBhvr>
                                        <p:cTn id="41" dur="1000" fill="hold"/>
                                        <p:tgtEl>
                                          <p:spTgt spid="45"/>
                                        </p:tgtEl>
                                        <p:attrNameLst>
                                          <p:attrName>ppt_x</p:attrName>
                                        </p:attrNameLst>
                                      </p:cBhvr>
                                      <p:tavLst>
                                        <p:tav tm="0">
                                          <p:val>
                                            <p:strVal val="#ppt_x"/>
                                          </p:val>
                                        </p:tav>
                                        <p:tav tm="100000">
                                          <p:val>
                                            <p:strVal val="#ppt_x"/>
                                          </p:val>
                                        </p:tav>
                                      </p:tavLst>
                                    </p:anim>
                                    <p:anim calcmode="lin" valueType="num">
                                      <p:cBhvr>
                                        <p:cTn id="42"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9" grpId="0"/>
      <p:bldP spid="41" grpId="0"/>
      <p:bldP spid="4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B57C0F8-B204-4584-AB17-3A4B989238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a:extLst>
              <a:ext uri="{FF2B5EF4-FFF2-40B4-BE49-F238E27FC236}">
                <a16:creationId xmlns:a16="http://schemas.microsoft.com/office/drawing/2014/main" id="{E85550B3-3070-4D72-8FA2-A190686442CB}"/>
              </a:ext>
            </a:extLst>
          </p:cNvPr>
          <p:cNvSpPr txBox="1"/>
          <p:nvPr/>
        </p:nvSpPr>
        <p:spPr>
          <a:xfrm>
            <a:off x="539983" y="440281"/>
            <a:ext cx="1723549" cy="461665"/>
          </a:xfrm>
          <a:prstGeom prst="rect">
            <a:avLst/>
          </a:prstGeom>
          <a:noFill/>
        </p:spPr>
        <p:txBody>
          <a:bodyPr wrap="none" rtlCol="0">
            <a:spAutoFit/>
          </a:bodyPr>
          <a:lstStyle/>
          <a:p>
            <a:pPr defTabSz="121902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生成浏览图</a:t>
            </a:r>
          </a:p>
        </p:txBody>
      </p:sp>
      <p:pic>
        <p:nvPicPr>
          <p:cNvPr id="7" name="图片 6">
            <a:extLst>
              <a:ext uri="{FF2B5EF4-FFF2-40B4-BE49-F238E27FC236}">
                <a16:creationId xmlns:a16="http://schemas.microsoft.com/office/drawing/2014/main" id="{E54F6243-AF4A-494A-9AA3-8F257EE514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975101"/>
            <a:ext cx="12192000" cy="2882900"/>
          </a:xfrm>
          <a:prstGeom prst="rect">
            <a:avLst/>
          </a:prstGeom>
        </p:spPr>
      </p:pic>
      <p:pic>
        <p:nvPicPr>
          <p:cNvPr id="18" name="图片 17">
            <a:extLst>
              <a:ext uri="{FF2B5EF4-FFF2-40B4-BE49-F238E27FC236}">
                <a16:creationId xmlns:a16="http://schemas.microsoft.com/office/drawing/2014/main" id="{FE228A0E-EE44-474A-A02C-DA696F3E783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50480" y="2850219"/>
            <a:ext cx="2638193" cy="4007781"/>
          </a:xfrm>
          <a:prstGeom prst="rect">
            <a:avLst/>
          </a:prstGeom>
        </p:spPr>
      </p:pic>
      <p:pic>
        <p:nvPicPr>
          <p:cNvPr id="20" name="图片 19">
            <a:extLst>
              <a:ext uri="{FF2B5EF4-FFF2-40B4-BE49-F238E27FC236}">
                <a16:creationId xmlns:a16="http://schemas.microsoft.com/office/drawing/2014/main" id="{92F13CA4-B9E4-474D-8A32-17EFE94D7DB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79247" y="2850219"/>
            <a:ext cx="2954496" cy="4007781"/>
          </a:xfrm>
          <a:prstGeom prst="rect">
            <a:avLst/>
          </a:prstGeom>
        </p:spPr>
      </p:pic>
      <p:pic>
        <p:nvPicPr>
          <p:cNvPr id="30" name="图片 29">
            <a:extLst>
              <a:ext uri="{FF2B5EF4-FFF2-40B4-BE49-F238E27FC236}">
                <a16:creationId xmlns:a16="http://schemas.microsoft.com/office/drawing/2014/main" id="{029D26C0-00EC-43B5-9E61-0549B40DFAC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636102" y="2861119"/>
            <a:ext cx="2954496" cy="4007781"/>
          </a:xfrm>
          <a:prstGeom prst="rect">
            <a:avLst/>
          </a:prstGeom>
        </p:spPr>
      </p:pic>
      <p:sp>
        <p:nvSpPr>
          <p:cNvPr id="39" name="TextBox 7">
            <a:extLst>
              <a:ext uri="{FF2B5EF4-FFF2-40B4-BE49-F238E27FC236}">
                <a16:creationId xmlns:a16="http://schemas.microsoft.com/office/drawing/2014/main" id="{D560C46C-2D35-4D3B-AC62-10B674442350}"/>
              </a:ext>
            </a:extLst>
          </p:cNvPr>
          <p:cNvSpPr txBox="1"/>
          <p:nvPr/>
        </p:nvSpPr>
        <p:spPr>
          <a:xfrm>
            <a:off x="3193984" y="4677139"/>
            <a:ext cx="1337466" cy="307777"/>
          </a:xfrm>
          <a:prstGeom prst="rect">
            <a:avLst/>
          </a:prstGeom>
          <a:noFill/>
        </p:spPr>
        <p:txBody>
          <a:bodyPr wrap="square" rtlCol="0">
            <a:spAutoFit/>
          </a:bodyPr>
          <a:lstStyle/>
          <a:p>
            <a:pPr algn="ctr" defTabSz="1219020"/>
            <a:r>
              <a:rPr lang="zh-CN" altLang="en-US" sz="1400" b="1" dirty="0">
                <a:solidFill>
                  <a:prstClr val="white"/>
                </a:solidFill>
                <a:latin typeface="方正黑体简体" panose="02010601030101010101" pitchFamily="2" charset="-122"/>
                <a:ea typeface="方正黑体简体" panose="02010601030101010101" pitchFamily="2" charset="-122"/>
                <a:cs typeface="+mn-ea"/>
                <a:sym typeface="+mn-lt"/>
              </a:rPr>
              <a:t>常见问题</a:t>
            </a:r>
            <a:endParaRPr lang="en-US" altLang="zh-CN" sz="1400" b="1" dirty="0">
              <a:solidFill>
                <a:prstClr val="white"/>
              </a:solidFill>
              <a:latin typeface="方正黑体简体" panose="02010601030101010101" pitchFamily="2" charset="-122"/>
              <a:ea typeface="方正黑体简体" panose="02010601030101010101" pitchFamily="2" charset="-122"/>
              <a:cs typeface="+mn-ea"/>
              <a:sym typeface="+mn-lt"/>
            </a:endParaRPr>
          </a:p>
        </p:txBody>
      </p:sp>
      <p:sp>
        <p:nvSpPr>
          <p:cNvPr id="40" name="文本框 39">
            <a:extLst>
              <a:ext uri="{FF2B5EF4-FFF2-40B4-BE49-F238E27FC236}">
                <a16:creationId xmlns:a16="http://schemas.microsoft.com/office/drawing/2014/main" id="{72B5AEE0-D7CD-4D0A-99A1-942A27D36C2F}"/>
              </a:ext>
            </a:extLst>
          </p:cNvPr>
          <p:cNvSpPr txBox="1"/>
          <p:nvPr/>
        </p:nvSpPr>
        <p:spPr>
          <a:xfrm>
            <a:off x="5349235" y="3463230"/>
            <a:ext cx="1953407" cy="1023742"/>
          </a:xfrm>
          <a:prstGeom prst="rect">
            <a:avLst/>
          </a:prstGeom>
          <a:noFill/>
        </p:spPr>
        <p:txBody>
          <a:bodyPr wrap="square" rtlCol="0">
            <a:spAutoFit/>
          </a:bodyPr>
          <a:lstStyle/>
          <a:p>
            <a:pPr algn="dist" defTabSz="1219020">
              <a:lnSpc>
                <a:spcPct val="150000"/>
              </a:lnSpc>
            </a:pPr>
            <a:r>
              <a:rPr lang="zh-CN" altLang="en-US" sz="1400" dirty="0">
                <a:solidFill>
                  <a:srgbClr val="686769"/>
                </a:solidFill>
                <a:latin typeface="方正黑体简体" panose="02010601030101010101" pitchFamily="2" charset="-122"/>
                <a:ea typeface="方正黑体简体" panose="02010601030101010101" pitchFamily="2" charset="-122"/>
                <a:cs typeface="+mn-ea"/>
                <a:sym typeface="+mn-lt"/>
              </a:rPr>
              <a:t>借助</a:t>
            </a:r>
            <a:r>
              <a:rPr lang="en-US" altLang="zh-CN" sz="1400" dirty="0">
                <a:solidFill>
                  <a:srgbClr val="686769"/>
                </a:solidFill>
                <a:latin typeface="方正黑体简体" panose="02010601030101010101" pitchFamily="2" charset="-122"/>
                <a:ea typeface="方正黑体简体" panose="02010601030101010101" pitchFamily="2" charset="-122"/>
                <a:cs typeface="+mn-ea"/>
                <a:sym typeface="+mn-lt"/>
              </a:rPr>
              <a:t>MEM</a:t>
            </a:r>
            <a:r>
              <a:rPr lang="zh-CN" altLang="en-US" sz="1400" dirty="0">
                <a:solidFill>
                  <a:srgbClr val="686769"/>
                </a:solidFill>
                <a:latin typeface="方正黑体简体" panose="02010601030101010101" pitchFamily="2" charset="-122"/>
                <a:ea typeface="方正黑体简体" panose="02010601030101010101" pitchFamily="2" charset="-122"/>
                <a:cs typeface="+mn-ea"/>
                <a:sym typeface="+mn-lt"/>
              </a:rPr>
              <a:t>内存创建</a:t>
            </a:r>
            <a:endParaRPr lang="en-US" altLang="zh-CN" sz="1400" dirty="0">
              <a:solidFill>
                <a:srgbClr val="686769"/>
              </a:solidFill>
              <a:latin typeface="方正黑体简体" panose="02010601030101010101" pitchFamily="2" charset="-122"/>
              <a:ea typeface="方正黑体简体" panose="02010601030101010101" pitchFamily="2" charset="-122"/>
              <a:cs typeface="+mn-ea"/>
              <a:sym typeface="+mn-lt"/>
            </a:endParaRPr>
          </a:p>
          <a:p>
            <a:pPr algn="dist" defTabSz="1219020">
              <a:lnSpc>
                <a:spcPct val="150000"/>
              </a:lnSpc>
            </a:pPr>
            <a:r>
              <a:rPr lang="zh-CN" altLang="en-US" sz="1400" dirty="0">
                <a:solidFill>
                  <a:srgbClr val="686769"/>
                </a:solidFill>
                <a:latin typeface="方正黑体简体" panose="02010601030101010101" pitchFamily="2" charset="-122"/>
                <a:ea typeface="方正黑体简体" panose="02010601030101010101" pitchFamily="2" charset="-122"/>
                <a:cs typeface="+mn-ea"/>
                <a:sym typeface="+mn-lt"/>
              </a:rPr>
              <a:t>利用</a:t>
            </a:r>
            <a:r>
              <a:rPr lang="en-US" altLang="zh-CN" sz="1400" dirty="0">
                <a:solidFill>
                  <a:srgbClr val="686769"/>
                </a:solidFill>
                <a:latin typeface="方正黑体简体" panose="02010601030101010101" pitchFamily="2" charset="-122"/>
                <a:ea typeface="方正黑体简体" panose="02010601030101010101" pitchFamily="2" charset="-122"/>
                <a:cs typeface="+mn-ea"/>
                <a:sym typeface="+mn-lt"/>
              </a:rPr>
              <a:t>C\C++ </a:t>
            </a:r>
            <a:r>
              <a:rPr lang="zh-CN" altLang="en-US" sz="1400" dirty="0">
                <a:solidFill>
                  <a:srgbClr val="686769"/>
                </a:solidFill>
                <a:latin typeface="方正黑体简体" panose="02010601030101010101" pitchFamily="2" charset="-122"/>
                <a:ea typeface="方正黑体简体" panose="02010601030101010101" pitchFamily="2" charset="-122"/>
                <a:cs typeface="+mn-ea"/>
                <a:sym typeface="+mn-lt"/>
              </a:rPr>
              <a:t>函数创建</a:t>
            </a:r>
          </a:p>
          <a:p>
            <a:pPr algn="dist" defTabSz="1219020">
              <a:lnSpc>
                <a:spcPct val="150000"/>
              </a:lnSpc>
            </a:pPr>
            <a:endParaRPr lang="zh-CN" altLang="en-US" sz="1400" dirty="0">
              <a:solidFill>
                <a:srgbClr val="686769"/>
              </a:solidFill>
              <a:latin typeface="方正黑体简体" panose="02010601030101010101" pitchFamily="2" charset="-122"/>
              <a:ea typeface="方正黑体简体" panose="02010601030101010101" pitchFamily="2" charset="-122"/>
              <a:cs typeface="+mn-ea"/>
              <a:sym typeface="+mn-lt"/>
            </a:endParaRPr>
          </a:p>
        </p:txBody>
      </p:sp>
      <p:sp>
        <p:nvSpPr>
          <p:cNvPr id="31" name="TextBox 7">
            <a:extLst>
              <a:ext uri="{FF2B5EF4-FFF2-40B4-BE49-F238E27FC236}">
                <a16:creationId xmlns:a16="http://schemas.microsoft.com/office/drawing/2014/main" id="{8D3DFAD3-9EA7-44A4-A79B-642536FC8D88}"/>
              </a:ext>
            </a:extLst>
          </p:cNvPr>
          <p:cNvSpPr txBox="1"/>
          <p:nvPr/>
        </p:nvSpPr>
        <p:spPr>
          <a:xfrm>
            <a:off x="8730646" y="4677139"/>
            <a:ext cx="1382107" cy="307777"/>
          </a:xfrm>
          <a:prstGeom prst="rect">
            <a:avLst/>
          </a:prstGeom>
          <a:noFill/>
        </p:spPr>
        <p:txBody>
          <a:bodyPr wrap="square" rtlCol="0">
            <a:spAutoFit/>
          </a:bodyPr>
          <a:lstStyle/>
          <a:p>
            <a:pPr algn="ctr" defTabSz="1219020"/>
            <a:r>
              <a:rPr lang="zh-CN" altLang="en-US" sz="1400" b="1" dirty="0">
                <a:solidFill>
                  <a:prstClr val="white"/>
                </a:solidFill>
                <a:latin typeface="方正黑体简体" panose="02010601030101010101" pitchFamily="2" charset="-122"/>
                <a:ea typeface="方正黑体简体" panose="02010601030101010101" pitchFamily="2" charset="-122"/>
                <a:cs typeface="+mn-ea"/>
                <a:sym typeface="+mn-lt"/>
              </a:rPr>
              <a:t>解决方法</a:t>
            </a:r>
            <a:endParaRPr lang="en-US" altLang="zh-CN" sz="1400" b="1" dirty="0">
              <a:solidFill>
                <a:prstClr val="white"/>
              </a:solidFill>
              <a:latin typeface="方正黑体简体" panose="02010601030101010101" pitchFamily="2" charset="-122"/>
              <a:ea typeface="方正黑体简体" panose="02010601030101010101" pitchFamily="2" charset="-122"/>
              <a:cs typeface="+mn-ea"/>
              <a:sym typeface="+mn-lt"/>
            </a:endParaRPr>
          </a:p>
        </p:txBody>
      </p:sp>
      <p:sp>
        <p:nvSpPr>
          <p:cNvPr id="32" name="文本框 31">
            <a:extLst>
              <a:ext uri="{FF2B5EF4-FFF2-40B4-BE49-F238E27FC236}">
                <a16:creationId xmlns:a16="http://schemas.microsoft.com/office/drawing/2014/main" id="{B9F776A7-E295-4EA8-8D32-9BE7D8D75BDE}"/>
              </a:ext>
            </a:extLst>
          </p:cNvPr>
          <p:cNvSpPr txBox="1"/>
          <p:nvPr/>
        </p:nvSpPr>
        <p:spPr>
          <a:xfrm>
            <a:off x="8153362" y="3329614"/>
            <a:ext cx="1931398" cy="1023742"/>
          </a:xfrm>
          <a:prstGeom prst="rect">
            <a:avLst/>
          </a:prstGeom>
          <a:noFill/>
        </p:spPr>
        <p:txBody>
          <a:bodyPr wrap="square" rtlCol="0">
            <a:spAutoFit/>
          </a:bodyPr>
          <a:lstStyle/>
          <a:p>
            <a:pPr algn="dist" defTabSz="1219020">
              <a:lnSpc>
                <a:spcPct val="150000"/>
              </a:lnSpc>
            </a:pPr>
            <a:r>
              <a:rPr lang="zh-CN" altLang="en-US" sz="1400" dirty="0">
                <a:solidFill>
                  <a:srgbClr val="686769"/>
                </a:solidFill>
                <a:latin typeface="方正黑体简体" panose="02010601030101010101" pitchFamily="2" charset="-122"/>
                <a:ea typeface="方正黑体简体" panose="02010601030101010101" pitchFamily="2" charset="-122"/>
                <a:cs typeface="+mn-ea"/>
                <a:sym typeface="+mn-lt"/>
              </a:rPr>
              <a:t>拉伸图像：借用</a:t>
            </a:r>
            <a:r>
              <a:rPr lang="en-US" altLang="zh-CN" sz="1400" dirty="0" err="1">
                <a:solidFill>
                  <a:srgbClr val="686769"/>
                </a:solidFill>
                <a:latin typeface="方正黑体简体" panose="02010601030101010101" pitchFamily="2" charset="-122"/>
                <a:ea typeface="方正黑体简体" panose="02010601030101010101" pitchFamily="2" charset="-122"/>
                <a:cs typeface="+mn-ea"/>
                <a:sym typeface="+mn-lt"/>
              </a:rPr>
              <a:t>RasterIO</a:t>
            </a:r>
            <a:r>
              <a:rPr lang="zh-CN" altLang="en-US" sz="1400" dirty="0">
                <a:solidFill>
                  <a:srgbClr val="686769"/>
                </a:solidFill>
                <a:latin typeface="方正黑体简体" panose="02010601030101010101" pitchFamily="2" charset="-122"/>
                <a:ea typeface="方正黑体简体" panose="02010601030101010101" pitchFamily="2" charset="-122"/>
                <a:cs typeface="+mn-ea"/>
                <a:sym typeface="+mn-lt"/>
              </a:rPr>
              <a:t>函数或者其他线性、分段拉伸等</a:t>
            </a:r>
          </a:p>
        </p:txBody>
      </p:sp>
      <p:sp>
        <p:nvSpPr>
          <p:cNvPr id="34" name="TextBox 7">
            <a:extLst>
              <a:ext uri="{FF2B5EF4-FFF2-40B4-BE49-F238E27FC236}">
                <a16:creationId xmlns:a16="http://schemas.microsoft.com/office/drawing/2014/main" id="{8CC1CC6C-1539-43BE-AE50-589324770CA5}"/>
              </a:ext>
            </a:extLst>
          </p:cNvPr>
          <p:cNvSpPr txBox="1"/>
          <p:nvPr/>
        </p:nvSpPr>
        <p:spPr>
          <a:xfrm>
            <a:off x="5961439" y="2923795"/>
            <a:ext cx="1270751" cy="307777"/>
          </a:xfrm>
          <a:prstGeom prst="rect">
            <a:avLst/>
          </a:prstGeom>
          <a:noFill/>
        </p:spPr>
        <p:txBody>
          <a:bodyPr wrap="square" rtlCol="0">
            <a:spAutoFit/>
          </a:bodyPr>
          <a:lstStyle/>
          <a:p>
            <a:pPr algn="ctr" defTabSz="1219020"/>
            <a:r>
              <a:rPr lang="zh-CN" altLang="en-US" sz="1400" b="1" dirty="0">
                <a:solidFill>
                  <a:prstClr val="white"/>
                </a:solidFill>
                <a:latin typeface="方正黑体简体" panose="02010601030101010101" pitchFamily="2" charset="-122"/>
                <a:ea typeface="方正黑体简体" panose="02010601030101010101" pitchFamily="2" charset="-122"/>
                <a:cs typeface="+mn-ea"/>
                <a:sym typeface="+mn-lt"/>
              </a:rPr>
              <a:t>解决方案</a:t>
            </a:r>
            <a:endParaRPr lang="en-US" altLang="zh-CN" sz="1400" b="1" dirty="0">
              <a:solidFill>
                <a:prstClr val="white"/>
              </a:solidFill>
              <a:latin typeface="方正黑体简体" panose="02010601030101010101" pitchFamily="2" charset="-122"/>
              <a:ea typeface="方正黑体简体" panose="02010601030101010101" pitchFamily="2" charset="-122"/>
              <a:cs typeface="+mn-ea"/>
              <a:sym typeface="+mn-lt"/>
            </a:endParaRPr>
          </a:p>
        </p:txBody>
      </p:sp>
      <p:pic>
        <p:nvPicPr>
          <p:cNvPr id="26" name="图片 25">
            <a:extLst>
              <a:ext uri="{FF2B5EF4-FFF2-40B4-BE49-F238E27FC236}">
                <a16:creationId xmlns:a16="http://schemas.microsoft.com/office/drawing/2014/main" id="{513C572D-699D-494B-9187-F4AC0AF086D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37772" y="5161343"/>
            <a:ext cx="2239375" cy="708663"/>
          </a:xfrm>
          <a:prstGeom prst="rect">
            <a:avLst/>
          </a:prstGeom>
        </p:spPr>
      </p:pic>
      <p:pic>
        <p:nvPicPr>
          <p:cNvPr id="1026" name="Picture 2">
            <a:extLst>
              <a:ext uri="{FF2B5EF4-FFF2-40B4-BE49-F238E27FC236}">
                <a16:creationId xmlns:a16="http://schemas.microsoft.com/office/drawing/2014/main" id="{EF544152-32C2-4E40-AA87-C04149FBDC6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1140" t="38097" r="22047" b="12453"/>
          <a:stretch/>
        </p:blipFill>
        <p:spPr bwMode="auto">
          <a:xfrm>
            <a:off x="3341544" y="735401"/>
            <a:ext cx="5186017" cy="125293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1" name="文本框 20">
            <a:extLst>
              <a:ext uri="{FF2B5EF4-FFF2-40B4-BE49-F238E27FC236}">
                <a16:creationId xmlns:a16="http://schemas.microsoft.com/office/drawing/2014/main" id="{69227B27-D8CD-4757-B73A-AEA95C8D75D9}"/>
              </a:ext>
            </a:extLst>
          </p:cNvPr>
          <p:cNvSpPr txBox="1"/>
          <p:nvPr/>
        </p:nvSpPr>
        <p:spPr>
          <a:xfrm>
            <a:off x="2639718" y="3510126"/>
            <a:ext cx="1790535" cy="700576"/>
          </a:xfrm>
          <a:prstGeom prst="rect">
            <a:avLst/>
          </a:prstGeom>
          <a:noFill/>
        </p:spPr>
        <p:txBody>
          <a:bodyPr wrap="square" rtlCol="0">
            <a:spAutoFit/>
          </a:bodyPr>
          <a:lstStyle/>
          <a:p>
            <a:pPr algn="dist" defTabSz="1219020">
              <a:lnSpc>
                <a:spcPct val="150000"/>
              </a:lnSpc>
            </a:pPr>
            <a:r>
              <a:rPr lang="en-US" altLang="zh-CN" sz="1400" dirty="0" err="1">
                <a:solidFill>
                  <a:srgbClr val="686769"/>
                </a:solidFill>
                <a:latin typeface="方正黑体简体" panose="02010601030101010101" pitchFamily="2" charset="-122"/>
                <a:ea typeface="方正黑体简体" panose="02010601030101010101" pitchFamily="2" charset="-122"/>
                <a:cs typeface="+mn-ea"/>
                <a:sym typeface="+mn-lt"/>
              </a:rPr>
              <a:t>Jepg</a:t>
            </a:r>
            <a:r>
              <a:rPr lang="zh-CN" altLang="en-US" sz="1400" dirty="0">
                <a:solidFill>
                  <a:srgbClr val="686769"/>
                </a:solidFill>
                <a:latin typeface="方正黑体简体" panose="02010601030101010101" pitchFamily="2" charset="-122"/>
                <a:ea typeface="方正黑体简体" panose="02010601030101010101" pitchFamily="2" charset="-122"/>
                <a:cs typeface="+mn-ea"/>
                <a:sym typeface="+mn-lt"/>
              </a:rPr>
              <a:t>只能存储</a:t>
            </a:r>
            <a:r>
              <a:rPr lang="en-US" altLang="zh-CN" sz="1400" dirty="0">
                <a:solidFill>
                  <a:srgbClr val="686769"/>
                </a:solidFill>
                <a:latin typeface="方正黑体简体" panose="02010601030101010101" pitchFamily="2" charset="-122"/>
                <a:ea typeface="方正黑体简体" panose="02010601030101010101" pitchFamily="2" charset="-122"/>
                <a:cs typeface="+mn-ea"/>
                <a:sym typeface="+mn-lt"/>
              </a:rPr>
              <a:t>8</a:t>
            </a:r>
            <a:r>
              <a:rPr lang="zh-CN" altLang="en-US" sz="1400" dirty="0">
                <a:solidFill>
                  <a:srgbClr val="686769"/>
                </a:solidFill>
                <a:latin typeface="方正黑体简体" panose="02010601030101010101" pitchFamily="2" charset="-122"/>
                <a:ea typeface="方正黑体简体" panose="02010601030101010101" pitchFamily="2" charset="-122"/>
                <a:cs typeface="+mn-ea"/>
                <a:sym typeface="+mn-lt"/>
              </a:rPr>
              <a:t>位图像</a:t>
            </a:r>
          </a:p>
        </p:txBody>
      </p:sp>
    </p:spTree>
    <p:extLst>
      <p:ext uri="{BB962C8B-B14F-4D97-AF65-F5344CB8AC3E}">
        <p14:creationId xmlns:p14="http://schemas.microsoft.com/office/powerpoint/2010/main" val="4266299579"/>
      </p:ext>
    </p:extLst>
  </p:cSld>
  <p:clrMapOvr>
    <a:masterClrMapping/>
  </p:clrMapOvr>
  <mc:AlternateContent xmlns:mc="http://schemas.openxmlformats.org/markup-compatibility/2006" xmlns:p14="http://schemas.microsoft.com/office/powerpoint/2010/main">
    <mc:Choice Requires="p14">
      <p:transition p14:dur="250" advClick="0" advTm="23432">
        <p:push dir="u"/>
      </p:transition>
    </mc:Choice>
    <mc:Fallback xmlns="">
      <p:transition advClick="0" advTm="23432">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par>
                                <p:cTn id="13" presetID="53" presetClass="entr" presetSubtype="16"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p:cTn id="15" dur="500" fill="hold"/>
                                        <p:tgtEl>
                                          <p:spTgt spid="18"/>
                                        </p:tgtEl>
                                        <p:attrNameLst>
                                          <p:attrName>ppt_w</p:attrName>
                                        </p:attrNameLst>
                                      </p:cBhvr>
                                      <p:tavLst>
                                        <p:tav tm="0">
                                          <p:val>
                                            <p:fltVal val="0"/>
                                          </p:val>
                                        </p:tav>
                                        <p:tav tm="100000">
                                          <p:val>
                                            <p:strVal val="#ppt_w"/>
                                          </p:val>
                                        </p:tav>
                                      </p:tavLst>
                                    </p:anim>
                                    <p:anim calcmode="lin" valueType="num">
                                      <p:cBhvr>
                                        <p:cTn id="16" dur="500" fill="hold"/>
                                        <p:tgtEl>
                                          <p:spTgt spid="18"/>
                                        </p:tgtEl>
                                        <p:attrNameLst>
                                          <p:attrName>ppt_h</p:attrName>
                                        </p:attrNameLst>
                                      </p:cBhvr>
                                      <p:tavLst>
                                        <p:tav tm="0">
                                          <p:val>
                                            <p:fltVal val="0"/>
                                          </p:val>
                                        </p:tav>
                                        <p:tav tm="100000">
                                          <p:val>
                                            <p:strVal val="#ppt_h"/>
                                          </p:val>
                                        </p:tav>
                                      </p:tavLst>
                                    </p:anim>
                                    <p:animEffect transition="in" filter="fade">
                                      <p:cBhvr>
                                        <p:cTn id="17" dur="500"/>
                                        <p:tgtEl>
                                          <p:spTgt spid="18"/>
                                        </p:tgtEl>
                                      </p:cBhvr>
                                    </p:animEffect>
                                  </p:childTnLst>
                                </p:cTn>
                              </p:par>
                              <p:par>
                                <p:cTn id="18" presetID="53" presetClass="entr" presetSubtype="16" fill="hold" nodeType="withEffect">
                                  <p:stCondLst>
                                    <p:cond delay="0"/>
                                  </p:stCondLst>
                                  <p:childTnLst>
                                    <p:set>
                                      <p:cBhvr>
                                        <p:cTn id="19" dur="1" fill="hold">
                                          <p:stCondLst>
                                            <p:cond delay="0"/>
                                          </p:stCondLst>
                                        </p:cTn>
                                        <p:tgtEl>
                                          <p:spTgt spid="20"/>
                                        </p:tgtEl>
                                        <p:attrNameLst>
                                          <p:attrName>style.visibility</p:attrName>
                                        </p:attrNameLst>
                                      </p:cBhvr>
                                      <p:to>
                                        <p:strVal val="visible"/>
                                      </p:to>
                                    </p:set>
                                    <p:anim calcmode="lin" valueType="num">
                                      <p:cBhvr>
                                        <p:cTn id="20" dur="500" fill="hold"/>
                                        <p:tgtEl>
                                          <p:spTgt spid="20"/>
                                        </p:tgtEl>
                                        <p:attrNameLst>
                                          <p:attrName>ppt_w</p:attrName>
                                        </p:attrNameLst>
                                      </p:cBhvr>
                                      <p:tavLst>
                                        <p:tav tm="0">
                                          <p:val>
                                            <p:fltVal val="0"/>
                                          </p:val>
                                        </p:tav>
                                        <p:tav tm="100000">
                                          <p:val>
                                            <p:strVal val="#ppt_w"/>
                                          </p:val>
                                        </p:tav>
                                      </p:tavLst>
                                    </p:anim>
                                    <p:anim calcmode="lin" valueType="num">
                                      <p:cBhvr>
                                        <p:cTn id="21" dur="500" fill="hold"/>
                                        <p:tgtEl>
                                          <p:spTgt spid="20"/>
                                        </p:tgtEl>
                                        <p:attrNameLst>
                                          <p:attrName>ppt_h</p:attrName>
                                        </p:attrNameLst>
                                      </p:cBhvr>
                                      <p:tavLst>
                                        <p:tav tm="0">
                                          <p:val>
                                            <p:fltVal val="0"/>
                                          </p:val>
                                        </p:tav>
                                        <p:tav tm="100000">
                                          <p:val>
                                            <p:strVal val="#ppt_h"/>
                                          </p:val>
                                        </p:tav>
                                      </p:tavLst>
                                    </p:anim>
                                    <p:animEffect transition="in" filter="fade">
                                      <p:cBhvr>
                                        <p:cTn id="22" dur="500"/>
                                        <p:tgtEl>
                                          <p:spTgt spid="20"/>
                                        </p:tgtEl>
                                      </p:cBhvr>
                                    </p:animEffect>
                                  </p:childTnLst>
                                </p:cTn>
                              </p:par>
                              <p:par>
                                <p:cTn id="23" presetID="53" presetClass="entr" presetSubtype="16"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p:cTn id="25" dur="500" fill="hold"/>
                                        <p:tgtEl>
                                          <p:spTgt spid="30"/>
                                        </p:tgtEl>
                                        <p:attrNameLst>
                                          <p:attrName>ppt_w</p:attrName>
                                        </p:attrNameLst>
                                      </p:cBhvr>
                                      <p:tavLst>
                                        <p:tav tm="0">
                                          <p:val>
                                            <p:fltVal val="0"/>
                                          </p:val>
                                        </p:tav>
                                        <p:tav tm="100000">
                                          <p:val>
                                            <p:strVal val="#ppt_w"/>
                                          </p:val>
                                        </p:tav>
                                      </p:tavLst>
                                    </p:anim>
                                    <p:anim calcmode="lin" valueType="num">
                                      <p:cBhvr>
                                        <p:cTn id="26" dur="500" fill="hold"/>
                                        <p:tgtEl>
                                          <p:spTgt spid="30"/>
                                        </p:tgtEl>
                                        <p:attrNameLst>
                                          <p:attrName>ppt_h</p:attrName>
                                        </p:attrNameLst>
                                      </p:cBhvr>
                                      <p:tavLst>
                                        <p:tav tm="0">
                                          <p:val>
                                            <p:fltVal val="0"/>
                                          </p:val>
                                        </p:tav>
                                        <p:tav tm="100000">
                                          <p:val>
                                            <p:strVal val="#ppt_h"/>
                                          </p:val>
                                        </p:tav>
                                      </p:tavLst>
                                    </p:anim>
                                    <p:animEffect transition="in" filter="fade">
                                      <p:cBhvr>
                                        <p:cTn id="27" dur="500"/>
                                        <p:tgtEl>
                                          <p:spTgt spid="30"/>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39"/>
                                        </p:tgtEl>
                                        <p:attrNameLst>
                                          <p:attrName>style.visibility</p:attrName>
                                        </p:attrNameLst>
                                      </p:cBhvr>
                                      <p:to>
                                        <p:strVal val="visible"/>
                                      </p:to>
                                    </p:set>
                                    <p:anim calcmode="lin" valueType="num">
                                      <p:cBhvr>
                                        <p:cTn id="30" dur="500" fill="hold"/>
                                        <p:tgtEl>
                                          <p:spTgt spid="39"/>
                                        </p:tgtEl>
                                        <p:attrNameLst>
                                          <p:attrName>ppt_w</p:attrName>
                                        </p:attrNameLst>
                                      </p:cBhvr>
                                      <p:tavLst>
                                        <p:tav tm="0">
                                          <p:val>
                                            <p:fltVal val="0"/>
                                          </p:val>
                                        </p:tav>
                                        <p:tav tm="100000">
                                          <p:val>
                                            <p:strVal val="#ppt_w"/>
                                          </p:val>
                                        </p:tav>
                                      </p:tavLst>
                                    </p:anim>
                                    <p:anim calcmode="lin" valueType="num">
                                      <p:cBhvr>
                                        <p:cTn id="31" dur="500" fill="hold"/>
                                        <p:tgtEl>
                                          <p:spTgt spid="39"/>
                                        </p:tgtEl>
                                        <p:attrNameLst>
                                          <p:attrName>ppt_h</p:attrName>
                                        </p:attrNameLst>
                                      </p:cBhvr>
                                      <p:tavLst>
                                        <p:tav tm="0">
                                          <p:val>
                                            <p:fltVal val="0"/>
                                          </p:val>
                                        </p:tav>
                                        <p:tav tm="100000">
                                          <p:val>
                                            <p:strVal val="#ppt_h"/>
                                          </p:val>
                                        </p:tav>
                                      </p:tavLst>
                                    </p:anim>
                                    <p:animEffect transition="in" filter="fade">
                                      <p:cBhvr>
                                        <p:cTn id="32" dur="500"/>
                                        <p:tgtEl>
                                          <p:spTgt spid="39"/>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anim calcmode="lin" valueType="num">
                                      <p:cBhvr>
                                        <p:cTn id="35" dur="500" fill="hold"/>
                                        <p:tgtEl>
                                          <p:spTgt spid="40"/>
                                        </p:tgtEl>
                                        <p:attrNameLst>
                                          <p:attrName>ppt_w</p:attrName>
                                        </p:attrNameLst>
                                      </p:cBhvr>
                                      <p:tavLst>
                                        <p:tav tm="0">
                                          <p:val>
                                            <p:fltVal val="0"/>
                                          </p:val>
                                        </p:tav>
                                        <p:tav tm="100000">
                                          <p:val>
                                            <p:strVal val="#ppt_w"/>
                                          </p:val>
                                        </p:tav>
                                      </p:tavLst>
                                    </p:anim>
                                    <p:anim calcmode="lin" valueType="num">
                                      <p:cBhvr>
                                        <p:cTn id="36" dur="500" fill="hold"/>
                                        <p:tgtEl>
                                          <p:spTgt spid="40"/>
                                        </p:tgtEl>
                                        <p:attrNameLst>
                                          <p:attrName>ppt_h</p:attrName>
                                        </p:attrNameLst>
                                      </p:cBhvr>
                                      <p:tavLst>
                                        <p:tav tm="0">
                                          <p:val>
                                            <p:fltVal val="0"/>
                                          </p:val>
                                        </p:tav>
                                        <p:tav tm="100000">
                                          <p:val>
                                            <p:strVal val="#ppt_h"/>
                                          </p:val>
                                        </p:tav>
                                      </p:tavLst>
                                    </p:anim>
                                    <p:animEffect transition="in" filter="fade">
                                      <p:cBhvr>
                                        <p:cTn id="37" dur="500"/>
                                        <p:tgtEl>
                                          <p:spTgt spid="40"/>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 calcmode="lin" valueType="num">
                                      <p:cBhvr>
                                        <p:cTn id="40" dur="500" fill="hold"/>
                                        <p:tgtEl>
                                          <p:spTgt spid="31"/>
                                        </p:tgtEl>
                                        <p:attrNameLst>
                                          <p:attrName>ppt_w</p:attrName>
                                        </p:attrNameLst>
                                      </p:cBhvr>
                                      <p:tavLst>
                                        <p:tav tm="0">
                                          <p:val>
                                            <p:fltVal val="0"/>
                                          </p:val>
                                        </p:tav>
                                        <p:tav tm="100000">
                                          <p:val>
                                            <p:strVal val="#ppt_w"/>
                                          </p:val>
                                        </p:tav>
                                      </p:tavLst>
                                    </p:anim>
                                    <p:anim calcmode="lin" valueType="num">
                                      <p:cBhvr>
                                        <p:cTn id="41" dur="500" fill="hold"/>
                                        <p:tgtEl>
                                          <p:spTgt spid="31"/>
                                        </p:tgtEl>
                                        <p:attrNameLst>
                                          <p:attrName>ppt_h</p:attrName>
                                        </p:attrNameLst>
                                      </p:cBhvr>
                                      <p:tavLst>
                                        <p:tav tm="0">
                                          <p:val>
                                            <p:fltVal val="0"/>
                                          </p:val>
                                        </p:tav>
                                        <p:tav tm="100000">
                                          <p:val>
                                            <p:strVal val="#ppt_h"/>
                                          </p:val>
                                        </p:tav>
                                      </p:tavLst>
                                    </p:anim>
                                    <p:animEffect transition="in" filter="fade">
                                      <p:cBhvr>
                                        <p:cTn id="42" dur="500"/>
                                        <p:tgtEl>
                                          <p:spTgt spid="31"/>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anim calcmode="lin" valueType="num">
                                      <p:cBhvr>
                                        <p:cTn id="45" dur="500" fill="hold"/>
                                        <p:tgtEl>
                                          <p:spTgt spid="32"/>
                                        </p:tgtEl>
                                        <p:attrNameLst>
                                          <p:attrName>ppt_w</p:attrName>
                                        </p:attrNameLst>
                                      </p:cBhvr>
                                      <p:tavLst>
                                        <p:tav tm="0">
                                          <p:val>
                                            <p:fltVal val="0"/>
                                          </p:val>
                                        </p:tav>
                                        <p:tav tm="100000">
                                          <p:val>
                                            <p:strVal val="#ppt_w"/>
                                          </p:val>
                                        </p:tav>
                                      </p:tavLst>
                                    </p:anim>
                                    <p:anim calcmode="lin" valueType="num">
                                      <p:cBhvr>
                                        <p:cTn id="46" dur="500" fill="hold"/>
                                        <p:tgtEl>
                                          <p:spTgt spid="32"/>
                                        </p:tgtEl>
                                        <p:attrNameLst>
                                          <p:attrName>ppt_h</p:attrName>
                                        </p:attrNameLst>
                                      </p:cBhvr>
                                      <p:tavLst>
                                        <p:tav tm="0">
                                          <p:val>
                                            <p:fltVal val="0"/>
                                          </p:val>
                                        </p:tav>
                                        <p:tav tm="100000">
                                          <p:val>
                                            <p:strVal val="#ppt_h"/>
                                          </p:val>
                                        </p:tav>
                                      </p:tavLst>
                                    </p:anim>
                                    <p:animEffect transition="in" filter="fade">
                                      <p:cBhvr>
                                        <p:cTn id="47" dur="500"/>
                                        <p:tgtEl>
                                          <p:spTgt spid="32"/>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34"/>
                                        </p:tgtEl>
                                        <p:attrNameLst>
                                          <p:attrName>style.visibility</p:attrName>
                                        </p:attrNameLst>
                                      </p:cBhvr>
                                      <p:to>
                                        <p:strVal val="visible"/>
                                      </p:to>
                                    </p:set>
                                    <p:anim calcmode="lin" valueType="num">
                                      <p:cBhvr>
                                        <p:cTn id="50" dur="500" fill="hold"/>
                                        <p:tgtEl>
                                          <p:spTgt spid="34"/>
                                        </p:tgtEl>
                                        <p:attrNameLst>
                                          <p:attrName>ppt_w</p:attrName>
                                        </p:attrNameLst>
                                      </p:cBhvr>
                                      <p:tavLst>
                                        <p:tav tm="0">
                                          <p:val>
                                            <p:fltVal val="0"/>
                                          </p:val>
                                        </p:tav>
                                        <p:tav tm="100000">
                                          <p:val>
                                            <p:strVal val="#ppt_w"/>
                                          </p:val>
                                        </p:tav>
                                      </p:tavLst>
                                    </p:anim>
                                    <p:anim calcmode="lin" valueType="num">
                                      <p:cBhvr>
                                        <p:cTn id="51" dur="500" fill="hold"/>
                                        <p:tgtEl>
                                          <p:spTgt spid="34"/>
                                        </p:tgtEl>
                                        <p:attrNameLst>
                                          <p:attrName>ppt_h</p:attrName>
                                        </p:attrNameLst>
                                      </p:cBhvr>
                                      <p:tavLst>
                                        <p:tav tm="0">
                                          <p:val>
                                            <p:fltVal val="0"/>
                                          </p:val>
                                        </p:tav>
                                        <p:tav tm="100000">
                                          <p:val>
                                            <p:strVal val="#ppt_h"/>
                                          </p:val>
                                        </p:tav>
                                      </p:tavLst>
                                    </p:anim>
                                    <p:animEffect transition="in" filter="fade">
                                      <p:cBhvr>
                                        <p:cTn id="52" dur="500"/>
                                        <p:tgtEl>
                                          <p:spTgt spid="34"/>
                                        </p:tgtEl>
                                      </p:cBhvr>
                                    </p:animEffect>
                                  </p:childTnLst>
                                </p:cTn>
                              </p:par>
                              <p:par>
                                <p:cTn id="53" presetID="53" presetClass="entr" presetSubtype="16"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p:cTn id="55" dur="500" fill="hold"/>
                                        <p:tgtEl>
                                          <p:spTgt spid="26"/>
                                        </p:tgtEl>
                                        <p:attrNameLst>
                                          <p:attrName>ppt_w</p:attrName>
                                        </p:attrNameLst>
                                      </p:cBhvr>
                                      <p:tavLst>
                                        <p:tav tm="0">
                                          <p:val>
                                            <p:fltVal val="0"/>
                                          </p:val>
                                        </p:tav>
                                        <p:tav tm="100000">
                                          <p:val>
                                            <p:strVal val="#ppt_w"/>
                                          </p:val>
                                        </p:tav>
                                      </p:tavLst>
                                    </p:anim>
                                    <p:anim calcmode="lin" valueType="num">
                                      <p:cBhvr>
                                        <p:cTn id="56" dur="500" fill="hold"/>
                                        <p:tgtEl>
                                          <p:spTgt spid="26"/>
                                        </p:tgtEl>
                                        <p:attrNameLst>
                                          <p:attrName>ppt_h</p:attrName>
                                        </p:attrNameLst>
                                      </p:cBhvr>
                                      <p:tavLst>
                                        <p:tav tm="0">
                                          <p:val>
                                            <p:fltVal val="0"/>
                                          </p:val>
                                        </p:tav>
                                        <p:tav tm="100000">
                                          <p:val>
                                            <p:strVal val="#ppt_h"/>
                                          </p:val>
                                        </p:tav>
                                      </p:tavLst>
                                    </p:anim>
                                    <p:animEffect transition="in" filter="fade">
                                      <p:cBhvr>
                                        <p:cTn id="57" dur="500"/>
                                        <p:tgtEl>
                                          <p:spTgt spid="26"/>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 calcmode="lin" valueType="num">
                                      <p:cBhvr>
                                        <p:cTn id="60" dur="500" fill="hold"/>
                                        <p:tgtEl>
                                          <p:spTgt spid="21"/>
                                        </p:tgtEl>
                                        <p:attrNameLst>
                                          <p:attrName>ppt_w</p:attrName>
                                        </p:attrNameLst>
                                      </p:cBhvr>
                                      <p:tavLst>
                                        <p:tav tm="0">
                                          <p:val>
                                            <p:fltVal val="0"/>
                                          </p:val>
                                        </p:tav>
                                        <p:tav tm="100000">
                                          <p:val>
                                            <p:strVal val="#ppt_w"/>
                                          </p:val>
                                        </p:tav>
                                      </p:tavLst>
                                    </p:anim>
                                    <p:anim calcmode="lin" valueType="num">
                                      <p:cBhvr>
                                        <p:cTn id="61" dur="500" fill="hold"/>
                                        <p:tgtEl>
                                          <p:spTgt spid="21"/>
                                        </p:tgtEl>
                                        <p:attrNameLst>
                                          <p:attrName>ppt_h</p:attrName>
                                        </p:attrNameLst>
                                      </p:cBhvr>
                                      <p:tavLst>
                                        <p:tav tm="0">
                                          <p:val>
                                            <p:fltVal val="0"/>
                                          </p:val>
                                        </p:tav>
                                        <p:tav tm="100000">
                                          <p:val>
                                            <p:strVal val="#ppt_h"/>
                                          </p:val>
                                        </p:tav>
                                      </p:tavLst>
                                    </p:anim>
                                    <p:animEffect transition="in" filter="fade">
                                      <p:cBhvr>
                                        <p:cTn id="6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9" grpId="0"/>
      <p:bldP spid="40" grpId="0"/>
      <p:bldP spid="31" grpId="0"/>
      <p:bldP spid="32" grpId="0"/>
      <p:bldP spid="34" grpId="0"/>
      <p:bldP spid="2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a:extLst>
              <a:ext uri="{FF2B5EF4-FFF2-40B4-BE49-F238E27FC236}">
                <a16:creationId xmlns:a16="http://schemas.microsoft.com/office/drawing/2014/main" id="{E186135D-D989-45BE-AE7E-E2642DFBB19F}"/>
              </a:ext>
            </a:extLst>
          </p:cNvPr>
          <p:cNvSpPr/>
          <p:nvPr/>
        </p:nvSpPr>
        <p:spPr>
          <a:xfrm>
            <a:off x="8386435" y="1547387"/>
            <a:ext cx="2995585" cy="2995585"/>
          </a:xfrm>
          <a:prstGeom prst="ellipse">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p:cNvSpPr txBox="1"/>
          <p:nvPr/>
        </p:nvSpPr>
        <p:spPr>
          <a:xfrm>
            <a:off x="539982" y="440281"/>
            <a:ext cx="4582524" cy="461665"/>
          </a:xfrm>
          <a:prstGeom prst="rect">
            <a:avLst/>
          </a:prstGeom>
          <a:noFill/>
        </p:spPr>
        <p:txBody>
          <a:bodyPr wrap="square" rtlCol="0">
            <a:spAutoFit/>
          </a:bodyPr>
          <a:lstStyle/>
          <a:p>
            <a:pPr defTabSz="121920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判断图像格式</a:t>
            </a:r>
          </a:p>
        </p:txBody>
      </p:sp>
      <p:sp>
        <p:nvSpPr>
          <p:cNvPr id="13" name="文本框 12">
            <a:extLst>
              <a:ext uri="{FF2B5EF4-FFF2-40B4-BE49-F238E27FC236}">
                <a16:creationId xmlns:a16="http://schemas.microsoft.com/office/drawing/2014/main" id="{1A0A8865-8A5C-4BAF-BFC0-329CF42C2D30}"/>
              </a:ext>
            </a:extLst>
          </p:cNvPr>
          <p:cNvSpPr txBox="1"/>
          <p:nvPr/>
        </p:nvSpPr>
        <p:spPr>
          <a:xfrm>
            <a:off x="1391233" y="1427586"/>
            <a:ext cx="8247290" cy="3932230"/>
          </a:xfrm>
          <a:prstGeom prst="rect">
            <a:avLst/>
          </a:prstGeom>
          <a:noFill/>
        </p:spPr>
        <p:txBody>
          <a:bodyPr wrap="square" rtlCol="0">
            <a:spAutoFit/>
          </a:bodyPr>
          <a:lstStyle/>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char*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findImageTypeGDAL</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char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pDstImgFileName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char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dstExtension</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strlwr</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strrchr</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pDstImgFileName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+ 1);</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char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Gtype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 NULL;</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if (0 ==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strcmp</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dstExtension</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,"bmp"))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Gtype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 "BMP";</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else if (0 ==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strcmp</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dstExtension</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,"jpg"))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Gtype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 "JPEG";</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else if (0 ==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strcmp</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dstExtension</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png</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Gtype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 "PNG";</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else if (0 ==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strcmp</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dstExtension</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tif</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Gtype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GTiff</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else if (0 ==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strcmp</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dstExtension</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,"gif"))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Gtype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 "GIF";</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else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Gtype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 NULL;</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return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Gtype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endPar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endParaRPr>
          </a:p>
        </p:txBody>
      </p:sp>
      <p:sp>
        <p:nvSpPr>
          <p:cNvPr id="16" name="TextBox 7">
            <a:extLst>
              <a:ext uri="{FF2B5EF4-FFF2-40B4-BE49-F238E27FC236}">
                <a16:creationId xmlns:a16="http://schemas.microsoft.com/office/drawing/2014/main" id="{2A6DFDDE-E01C-43C4-B6D7-4603760E68F9}"/>
              </a:ext>
            </a:extLst>
          </p:cNvPr>
          <p:cNvSpPr txBox="1"/>
          <p:nvPr/>
        </p:nvSpPr>
        <p:spPr>
          <a:xfrm>
            <a:off x="1312773" y="5402507"/>
            <a:ext cx="6369144" cy="499624"/>
          </a:xfrm>
          <a:prstGeom prst="rect">
            <a:avLst/>
          </a:prstGeom>
          <a:noFill/>
        </p:spPr>
        <p:txBody>
          <a:bodyPr wrap="square" rtlCol="0">
            <a:spAutoFit/>
          </a:bodyPr>
          <a:lstStyle/>
          <a:p>
            <a:pPr marL="342900" indent="-342900" defTabSz="1219200">
              <a:lnSpc>
                <a:spcPct val="150000"/>
              </a:lnSpc>
              <a:buFont typeface="Wingdings" panose="05000000000000000000" pitchFamily="2" charset="2"/>
              <a:buChar char="l"/>
            </a:pPr>
            <a:r>
              <a:rPr lang="zh-CN" altLang="en-US" sz="2000" dirty="0">
                <a:solidFill>
                  <a:srgbClr val="4F4D50"/>
                </a:solidFill>
                <a:latin typeface="方正黑体简体" panose="02010601030101010101" pitchFamily="2" charset="-122"/>
                <a:ea typeface="方正黑体简体" panose="02010601030101010101" pitchFamily="2" charset="-122"/>
                <a:cs typeface="+mn-ea"/>
                <a:sym typeface="+mn-lt"/>
              </a:rPr>
              <a:t>根据文件后缀名判断图像格式</a:t>
            </a:r>
          </a:p>
        </p:txBody>
      </p:sp>
      <p:pic>
        <p:nvPicPr>
          <p:cNvPr id="14" name="图片 13">
            <a:extLst>
              <a:ext uri="{FF2B5EF4-FFF2-40B4-BE49-F238E27FC236}">
                <a16:creationId xmlns:a16="http://schemas.microsoft.com/office/drawing/2014/main" id="{B6614090-4A84-4155-82EA-08688EF5DA2E}"/>
              </a:ext>
            </a:extLst>
          </p:cNvPr>
          <p:cNvPicPr>
            <a:picLocks noChangeAspect="1"/>
          </p:cNvPicPr>
          <p:nvPr/>
        </p:nvPicPr>
        <p:blipFill>
          <a:blip r:embed="rId4"/>
          <a:stretch>
            <a:fillRect/>
          </a:stretch>
        </p:blipFill>
        <p:spPr>
          <a:xfrm>
            <a:off x="8427158" y="1588917"/>
            <a:ext cx="2914141" cy="2914141"/>
          </a:xfrm>
          <a:prstGeom prst="rect">
            <a:avLst/>
          </a:prstGeom>
        </p:spPr>
      </p:pic>
      <p:grpSp>
        <p:nvGrpSpPr>
          <p:cNvPr id="17" name="组合 16">
            <a:extLst>
              <a:ext uri="{FF2B5EF4-FFF2-40B4-BE49-F238E27FC236}">
                <a16:creationId xmlns:a16="http://schemas.microsoft.com/office/drawing/2014/main" id="{56D2E640-F873-4CF5-81FD-4C0273BD6812}"/>
              </a:ext>
            </a:extLst>
          </p:cNvPr>
          <p:cNvGrpSpPr/>
          <p:nvPr/>
        </p:nvGrpSpPr>
        <p:grpSpPr>
          <a:xfrm>
            <a:off x="8183031" y="3661228"/>
            <a:ext cx="2119086" cy="2119086"/>
            <a:chOff x="5036457" y="2369456"/>
            <a:chExt cx="2119086" cy="2119086"/>
          </a:xfrm>
        </p:grpSpPr>
        <p:sp>
          <p:nvSpPr>
            <p:cNvPr id="18" name="椭圆 17">
              <a:extLst>
                <a:ext uri="{FF2B5EF4-FFF2-40B4-BE49-F238E27FC236}">
                  <a16:creationId xmlns:a16="http://schemas.microsoft.com/office/drawing/2014/main" id="{EFE50E36-C2ED-42BB-BBEF-7DDDD3618017}"/>
                </a:ext>
              </a:extLst>
            </p:cNvPr>
            <p:cNvSpPr/>
            <p:nvPr/>
          </p:nvSpPr>
          <p:spPr>
            <a:xfrm>
              <a:off x="5036457" y="2369456"/>
              <a:ext cx="2119086" cy="2119086"/>
            </a:xfrm>
            <a:prstGeom prst="ellipse">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9" name="图片 18">
              <a:extLst>
                <a:ext uri="{FF2B5EF4-FFF2-40B4-BE49-F238E27FC236}">
                  <a16:creationId xmlns:a16="http://schemas.microsoft.com/office/drawing/2014/main" id="{42AD7A84-4D34-4958-B434-AA56CEF73B79}"/>
                </a:ext>
              </a:extLst>
            </p:cNvPr>
            <p:cNvPicPr>
              <a:picLocks noChangeAspect="1"/>
            </p:cNvPicPr>
            <p:nvPr/>
          </p:nvPicPr>
          <p:blipFill>
            <a:blip r:embed="rId5"/>
            <a:stretch>
              <a:fillRect/>
            </a:stretch>
          </p:blipFill>
          <p:spPr>
            <a:xfrm>
              <a:off x="5108362" y="2441362"/>
              <a:ext cx="1975275" cy="1975275"/>
            </a:xfrm>
            <a:prstGeom prst="rect">
              <a:avLst/>
            </a:prstGeom>
          </p:spPr>
        </p:pic>
      </p:grpSp>
    </p:spTree>
    <p:extLst>
      <p:ext uri="{BB962C8B-B14F-4D97-AF65-F5344CB8AC3E}">
        <p14:creationId xmlns:p14="http://schemas.microsoft.com/office/powerpoint/2010/main" val="314787739"/>
      </p:ext>
    </p:extLst>
  </p:cSld>
  <p:clrMapOvr>
    <a:masterClrMapping/>
  </p:clrMapOvr>
  <mc:AlternateContent xmlns:mc="http://schemas.openxmlformats.org/markup-compatibility/2006" xmlns:p14="http://schemas.microsoft.com/office/powerpoint/2010/main">
    <mc:Choice Requires="p14">
      <p:transition p14:dur="250" advClick="0" advTm="8471">
        <p:push dir="u"/>
      </p:transition>
    </mc:Choice>
    <mc:Fallback xmlns="">
      <p:transition advClick="0" advTm="847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1000"/>
                                        <p:tgtEl>
                                          <p:spTgt spid="16"/>
                                        </p:tgtEl>
                                      </p:cBhvr>
                                    </p:animEffect>
                                    <p:anim calcmode="lin" valueType="num">
                                      <p:cBhvr>
                                        <p:cTn id="21" dur="1000" fill="hold"/>
                                        <p:tgtEl>
                                          <p:spTgt spid="16"/>
                                        </p:tgtEl>
                                        <p:attrNameLst>
                                          <p:attrName>ppt_x</p:attrName>
                                        </p:attrNameLst>
                                      </p:cBhvr>
                                      <p:tavLst>
                                        <p:tav tm="0">
                                          <p:val>
                                            <p:strVal val="#ppt_x"/>
                                          </p:val>
                                        </p:tav>
                                        <p:tav tm="100000">
                                          <p:val>
                                            <p:strVal val="#ppt_x"/>
                                          </p:val>
                                        </p:tav>
                                      </p:tavLst>
                                    </p:anim>
                                    <p:anim calcmode="lin" valueType="num">
                                      <p:cBhvr>
                                        <p:cTn id="22"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500" fill="hold"/>
                                        <p:tgtEl>
                                          <p:spTgt spid="14"/>
                                        </p:tgtEl>
                                        <p:attrNameLst>
                                          <p:attrName>ppt_w</p:attrName>
                                        </p:attrNameLst>
                                      </p:cBhvr>
                                      <p:tavLst>
                                        <p:tav tm="0">
                                          <p:val>
                                            <p:fltVal val="0"/>
                                          </p:val>
                                        </p:tav>
                                        <p:tav tm="100000">
                                          <p:val>
                                            <p:strVal val="#ppt_w"/>
                                          </p:val>
                                        </p:tav>
                                      </p:tavLst>
                                    </p:anim>
                                    <p:anim calcmode="lin" valueType="num">
                                      <p:cBhvr>
                                        <p:cTn id="28" dur="500" fill="hold"/>
                                        <p:tgtEl>
                                          <p:spTgt spid="14"/>
                                        </p:tgtEl>
                                        <p:attrNameLst>
                                          <p:attrName>ppt_h</p:attrName>
                                        </p:attrNameLst>
                                      </p:cBhvr>
                                      <p:tavLst>
                                        <p:tav tm="0">
                                          <p:val>
                                            <p:fltVal val="0"/>
                                          </p:val>
                                        </p:tav>
                                        <p:tav tm="100000">
                                          <p:val>
                                            <p:strVal val="#ppt_h"/>
                                          </p:val>
                                        </p:tav>
                                      </p:tavLst>
                                    </p:anim>
                                    <p:animEffect transition="in" filter="fade">
                                      <p:cBhvr>
                                        <p:cTn id="29" dur="500"/>
                                        <p:tgtEl>
                                          <p:spTgt spid="14"/>
                                        </p:tgtEl>
                                      </p:cBhvr>
                                    </p:animEffect>
                                  </p:childTnLst>
                                </p:cTn>
                              </p:par>
                              <p:par>
                                <p:cTn id="30" presetID="53" presetClass="entr" presetSubtype="16"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p:cTn id="32" dur="500" fill="hold"/>
                                        <p:tgtEl>
                                          <p:spTgt spid="17"/>
                                        </p:tgtEl>
                                        <p:attrNameLst>
                                          <p:attrName>ppt_w</p:attrName>
                                        </p:attrNameLst>
                                      </p:cBhvr>
                                      <p:tavLst>
                                        <p:tav tm="0">
                                          <p:val>
                                            <p:fltVal val="0"/>
                                          </p:val>
                                        </p:tav>
                                        <p:tav tm="100000">
                                          <p:val>
                                            <p:strVal val="#ppt_w"/>
                                          </p:val>
                                        </p:tav>
                                      </p:tavLst>
                                    </p:anim>
                                    <p:anim calcmode="lin" valueType="num">
                                      <p:cBhvr>
                                        <p:cTn id="33" dur="500" fill="hold"/>
                                        <p:tgtEl>
                                          <p:spTgt spid="17"/>
                                        </p:tgtEl>
                                        <p:attrNameLst>
                                          <p:attrName>ppt_h</p:attrName>
                                        </p:attrNameLst>
                                      </p:cBhvr>
                                      <p:tavLst>
                                        <p:tav tm="0">
                                          <p:val>
                                            <p:fltVal val="0"/>
                                          </p:val>
                                        </p:tav>
                                        <p:tav tm="100000">
                                          <p:val>
                                            <p:strVal val="#ppt_h"/>
                                          </p:val>
                                        </p:tav>
                                      </p:tavLst>
                                    </p:anim>
                                    <p:animEffect transition="in" filter="fade">
                                      <p:cBhvr>
                                        <p:cTn id="3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p:cNvSpPr txBox="1"/>
          <p:nvPr/>
        </p:nvSpPr>
        <p:spPr>
          <a:xfrm>
            <a:off x="539982" y="440281"/>
            <a:ext cx="4582524" cy="461665"/>
          </a:xfrm>
          <a:prstGeom prst="rect">
            <a:avLst/>
          </a:prstGeom>
          <a:noFill/>
        </p:spPr>
        <p:txBody>
          <a:bodyPr wrap="square" rtlCol="0">
            <a:spAutoFit/>
          </a:bodyPr>
          <a:lstStyle/>
          <a:p>
            <a:pPr defTabSz="121920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实例步骤</a:t>
            </a:r>
          </a:p>
        </p:txBody>
      </p:sp>
      <p:sp>
        <p:nvSpPr>
          <p:cNvPr id="11" name="圆角矩形 11">
            <a:extLst>
              <a:ext uri="{FF2B5EF4-FFF2-40B4-BE49-F238E27FC236}">
                <a16:creationId xmlns:a16="http://schemas.microsoft.com/office/drawing/2014/main" id="{E3BE7205-0A65-429C-AB55-CCD9F1273ADF}"/>
              </a:ext>
            </a:extLst>
          </p:cNvPr>
          <p:cNvSpPr/>
          <p:nvPr/>
        </p:nvSpPr>
        <p:spPr>
          <a:xfrm>
            <a:off x="4229100" y="1543050"/>
            <a:ext cx="1752600" cy="1752600"/>
          </a:xfrm>
          <a:prstGeom prst="round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3">
            <a:extLst>
              <a:ext uri="{FF2B5EF4-FFF2-40B4-BE49-F238E27FC236}">
                <a16:creationId xmlns:a16="http://schemas.microsoft.com/office/drawing/2014/main" id="{4CC2EA9C-32C6-4572-9A21-67B8177E5B20}"/>
              </a:ext>
            </a:extLst>
          </p:cNvPr>
          <p:cNvSpPr/>
          <p:nvPr/>
        </p:nvSpPr>
        <p:spPr>
          <a:xfrm>
            <a:off x="6286500" y="2887218"/>
            <a:ext cx="1752600" cy="1752600"/>
          </a:xfrm>
          <a:prstGeom prst="round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5">
            <a:extLst>
              <a:ext uri="{FF2B5EF4-FFF2-40B4-BE49-F238E27FC236}">
                <a16:creationId xmlns:a16="http://schemas.microsoft.com/office/drawing/2014/main" id="{EF2E892B-29EB-4A0D-933D-0731322B6735}"/>
              </a:ext>
            </a:extLst>
          </p:cNvPr>
          <p:cNvSpPr/>
          <p:nvPr/>
        </p:nvSpPr>
        <p:spPr>
          <a:xfrm>
            <a:off x="4229100" y="3581400"/>
            <a:ext cx="1752600" cy="1752600"/>
          </a:xfrm>
          <a:prstGeom prst="round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E97DD1EC-DE42-4B91-A32E-D1119E5C0FD2}"/>
              </a:ext>
            </a:extLst>
          </p:cNvPr>
          <p:cNvPicPr>
            <a:picLocks noChangeAspect="1"/>
          </p:cNvPicPr>
          <p:nvPr/>
        </p:nvPicPr>
        <p:blipFill>
          <a:blip r:embed="rId4"/>
          <a:stretch>
            <a:fillRect/>
          </a:stretch>
        </p:blipFill>
        <p:spPr>
          <a:xfrm>
            <a:off x="4343202" y="1657284"/>
            <a:ext cx="1524132" cy="1524132"/>
          </a:xfrm>
          <a:prstGeom prst="rect">
            <a:avLst/>
          </a:prstGeom>
        </p:spPr>
      </p:pic>
      <p:pic>
        <p:nvPicPr>
          <p:cNvPr id="22" name="图片 21">
            <a:extLst>
              <a:ext uri="{FF2B5EF4-FFF2-40B4-BE49-F238E27FC236}">
                <a16:creationId xmlns:a16="http://schemas.microsoft.com/office/drawing/2014/main" id="{AF56040C-1140-4B2C-9E95-F0C1D5712E3D}"/>
              </a:ext>
            </a:extLst>
          </p:cNvPr>
          <p:cNvPicPr>
            <a:picLocks noChangeAspect="1"/>
          </p:cNvPicPr>
          <p:nvPr/>
        </p:nvPicPr>
        <p:blipFill>
          <a:blip r:embed="rId5"/>
          <a:stretch>
            <a:fillRect/>
          </a:stretch>
        </p:blipFill>
        <p:spPr>
          <a:xfrm>
            <a:off x="6400668" y="2992308"/>
            <a:ext cx="1524132" cy="1524132"/>
          </a:xfrm>
          <a:prstGeom prst="rect">
            <a:avLst/>
          </a:prstGeom>
        </p:spPr>
      </p:pic>
      <p:pic>
        <p:nvPicPr>
          <p:cNvPr id="23" name="图片 22">
            <a:extLst>
              <a:ext uri="{FF2B5EF4-FFF2-40B4-BE49-F238E27FC236}">
                <a16:creationId xmlns:a16="http://schemas.microsoft.com/office/drawing/2014/main" id="{C1F7B206-BEF5-44E1-A08A-ECF5AF924F99}"/>
              </a:ext>
            </a:extLst>
          </p:cNvPr>
          <p:cNvPicPr>
            <a:picLocks noChangeAspect="1"/>
          </p:cNvPicPr>
          <p:nvPr/>
        </p:nvPicPr>
        <p:blipFill>
          <a:blip r:embed="rId6"/>
          <a:stretch>
            <a:fillRect/>
          </a:stretch>
        </p:blipFill>
        <p:spPr>
          <a:xfrm>
            <a:off x="4343202" y="3695568"/>
            <a:ext cx="1524132" cy="1524132"/>
          </a:xfrm>
          <a:prstGeom prst="rect">
            <a:avLst/>
          </a:prstGeom>
        </p:spPr>
      </p:pic>
      <p:sp>
        <p:nvSpPr>
          <p:cNvPr id="24" name="圆角矩形 21">
            <a:extLst>
              <a:ext uri="{FF2B5EF4-FFF2-40B4-BE49-F238E27FC236}">
                <a16:creationId xmlns:a16="http://schemas.microsoft.com/office/drawing/2014/main" id="{FD782610-3184-4A60-B8FC-E44355AB0705}"/>
              </a:ext>
            </a:extLst>
          </p:cNvPr>
          <p:cNvSpPr/>
          <p:nvPr/>
        </p:nvSpPr>
        <p:spPr>
          <a:xfrm>
            <a:off x="4343201" y="1657284"/>
            <a:ext cx="1524133" cy="1524132"/>
          </a:xfrm>
          <a:prstGeom prst="roundRect">
            <a:avLst/>
          </a:prstGeom>
          <a:solidFill>
            <a:srgbClr val="373535">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22">
            <a:extLst>
              <a:ext uri="{FF2B5EF4-FFF2-40B4-BE49-F238E27FC236}">
                <a16:creationId xmlns:a16="http://schemas.microsoft.com/office/drawing/2014/main" id="{318FCBBA-623D-42B1-BC19-5B4F009A1189}"/>
              </a:ext>
            </a:extLst>
          </p:cNvPr>
          <p:cNvSpPr/>
          <p:nvPr/>
        </p:nvSpPr>
        <p:spPr>
          <a:xfrm>
            <a:off x="6410258" y="3001452"/>
            <a:ext cx="1514541" cy="1524132"/>
          </a:xfrm>
          <a:prstGeom prst="roundRect">
            <a:avLst/>
          </a:prstGeom>
          <a:solidFill>
            <a:srgbClr val="373535">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圆角矩形 23">
            <a:extLst>
              <a:ext uri="{FF2B5EF4-FFF2-40B4-BE49-F238E27FC236}">
                <a16:creationId xmlns:a16="http://schemas.microsoft.com/office/drawing/2014/main" id="{AE3576E1-61F6-4BC5-901D-453876AF8868}"/>
              </a:ext>
            </a:extLst>
          </p:cNvPr>
          <p:cNvSpPr/>
          <p:nvPr/>
        </p:nvSpPr>
        <p:spPr>
          <a:xfrm>
            <a:off x="4343201" y="3642756"/>
            <a:ext cx="1524133" cy="1524132"/>
          </a:xfrm>
          <a:prstGeom prst="roundRect">
            <a:avLst/>
          </a:prstGeom>
          <a:solidFill>
            <a:srgbClr val="373535">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2A99C969-B041-4D08-A449-AD7E609BB9C6}"/>
              </a:ext>
            </a:extLst>
          </p:cNvPr>
          <p:cNvSpPr txBox="1"/>
          <p:nvPr/>
        </p:nvSpPr>
        <p:spPr>
          <a:xfrm>
            <a:off x="4874273" y="2096183"/>
            <a:ext cx="461986" cy="646331"/>
          </a:xfrm>
          <a:prstGeom prst="rect">
            <a:avLst/>
          </a:prstGeom>
          <a:noFill/>
        </p:spPr>
        <p:txBody>
          <a:bodyPr wrap="non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S</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CD9BE8CE-6E40-48D1-9225-BF6088C04FDA}"/>
              </a:ext>
            </a:extLst>
          </p:cNvPr>
          <p:cNvSpPr txBox="1"/>
          <p:nvPr/>
        </p:nvSpPr>
        <p:spPr>
          <a:xfrm>
            <a:off x="6821935" y="3440352"/>
            <a:ext cx="681597" cy="646331"/>
          </a:xfrm>
          <a:prstGeom prst="rect">
            <a:avLst/>
          </a:prstGeom>
          <a:noFill/>
        </p:spPr>
        <p:txBody>
          <a:bodyPr wrap="non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W</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12D9BA21-E1D1-4C5E-AA21-E0ED6986D4AE}"/>
              </a:ext>
            </a:extLst>
          </p:cNvPr>
          <p:cNvSpPr txBox="1"/>
          <p:nvPr/>
        </p:nvSpPr>
        <p:spPr>
          <a:xfrm>
            <a:off x="4823779" y="4168229"/>
            <a:ext cx="562975" cy="646331"/>
          </a:xfrm>
          <a:prstGeom prst="rect">
            <a:avLst/>
          </a:prstGeom>
          <a:noFill/>
        </p:spPr>
        <p:txBody>
          <a:bodyPr wrap="non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O</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22F62E21-2434-4AF5-8878-70C6FF2DA5D9}"/>
              </a:ext>
            </a:extLst>
          </p:cNvPr>
          <p:cNvSpPr txBox="1"/>
          <p:nvPr/>
        </p:nvSpPr>
        <p:spPr>
          <a:xfrm>
            <a:off x="1089919" y="1784455"/>
            <a:ext cx="1803667" cy="400110"/>
          </a:xfrm>
          <a:prstGeom prst="rect">
            <a:avLst/>
          </a:prstGeom>
          <a:noFill/>
        </p:spPr>
        <p:txBody>
          <a:bodyPr wrap="square" rtlCol="0">
            <a:spAutoFit/>
          </a:bodyPr>
          <a:lstStyle/>
          <a:p>
            <a:r>
              <a:rPr lang="zh-CN" altLang="en-US" sz="2000" b="1" dirty="0">
                <a:solidFill>
                  <a:srgbClr val="222830"/>
                </a:solidFill>
                <a:latin typeface="微软雅黑" panose="020B0503020204020204" pitchFamily="34" charset="-122"/>
                <a:ea typeface="微软雅黑" panose="020B0503020204020204" pitchFamily="34" charset="-122"/>
              </a:rPr>
              <a:t>步骤</a:t>
            </a:r>
            <a:r>
              <a:rPr lang="en-US" altLang="zh-CN" sz="2000" b="1" dirty="0">
                <a:solidFill>
                  <a:srgbClr val="222830"/>
                </a:solidFill>
                <a:latin typeface="微软雅黑" panose="020B0503020204020204" pitchFamily="34" charset="-122"/>
                <a:ea typeface="微软雅黑" panose="020B0503020204020204" pitchFamily="34" charset="-122"/>
              </a:rPr>
              <a:t>1</a:t>
            </a:r>
            <a:endParaRPr lang="zh-CN" altLang="en-US" sz="2000" b="1" dirty="0">
              <a:solidFill>
                <a:srgbClr val="222830"/>
              </a:solidFill>
              <a:latin typeface="微软雅黑" panose="020B0503020204020204" pitchFamily="34" charset="-122"/>
              <a:ea typeface="微软雅黑" panose="020B0503020204020204" pitchFamily="34" charset="-122"/>
            </a:endParaRPr>
          </a:p>
        </p:txBody>
      </p:sp>
      <p:sp>
        <p:nvSpPr>
          <p:cNvPr id="31" name="矩形 30">
            <a:extLst>
              <a:ext uri="{FF2B5EF4-FFF2-40B4-BE49-F238E27FC236}">
                <a16:creationId xmlns:a16="http://schemas.microsoft.com/office/drawing/2014/main" id="{2D936EB2-E0F8-4DCF-906B-7CB53A888854}"/>
              </a:ext>
            </a:extLst>
          </p:cNvPr>
          <p:cNvSpPr/>
          <p:nvPr/>
        </p:nvSpPr>
        <p:spPr>
          <a:xfrm>
            <a:off x="1052994" y="2142349"/>
            <a:ext cx="3007597" cy="701346"/>
          </a:xfrm>
          <a:prstGeom prst="rect">
            <a:avLst/>
          </a:prstGeom>
        </p:spPr>
        <p:txBody>
          <a:bodyPr wrap="square">
            <a:spAutoFit/>
          </a:bodyPr>
          <a:lstStyle/>
          <a:p>
            <a:pPr>
              <a:lnSpc>
                <a:spcPct val="130000"/>
              </a:lnSpc>
            </a:pPr>
            <a:r>
              <a:rPr lang="zh-CN" altLang="en-US" sz="1600" dirty="0">
                <a:solidFill>
                  <a:schemeClr val="tx1">
                    <a:lumMod val="85000"/>
                    <a:lumOff val="15000"/>
                  </a:schemeClr>
                </a:solidFill>
                <a:latin typeface="微软雅黑" pitchFamily="34" charset="-122"/>
                <a:ea typeface="微软雅黑" pitchFamily="34" charset="-122"/>
              </a:rPr>
              <a:t>读取原始图像的数据，返回图像的宽、高、通道数量</a:t>
            </a:r>
          </a:p>
        </p:txBody>
      </p:sp>
      <p:sp>
        <p:nvSpPr>
          <p:cNvPr id="32" name="文本框 31">
            <a:extLst>
              <a:ext uri="{FF2B5EF4-FFF2-40B4-BE49-F238E27FC236}">
                <a16:creationId xmlns:a16="http://schemas.microsoft.com/office/drawing/2014/main" id="{1D301D44-29E1-4D07-A24F-24B771F1D9AC}"/>
              </a:ext>
            </a:extLst>
          </p:cNvPr>
          <p:cNvSpPr txBox="1"/>
          <p:nvPr/>
        </p:nvSpPr>
        <p:spPr>
          <a:xfrm>
            <a:off x="1089920" y="3756691"/>
            <a:ext cx="1803667" cy="400110"/>
          </a:xfrm>
          <a:prstGeom prst="rect">
            <a:avLst/>
          </a:prstGeom>
          <a:noFill/>
        </p:spPr>
        <p:txBody>
          <a:bodyPr wrap="square" rtlCol="0">
            <a:spAutoFit/>
          </a:bodyPr>
          <a:lstStyle/>
          <a:p>
            <a:r>
              <a:rPr lang="zh-CN" altLang="en-US" sz="2000" b="1" dirty="0">
                <a:solidFill>
                  <a:srgbClr val="222830"/>
                </a:solidFill>
                <a:latin typeface="微软雅黑" panose="020B0503020204020204" pitchFamily="34" charset="-122"/>
                <a:ea typeface="微软雅黑" panose="020B0503020204020204" pitchFamily="34" charset="-122"/>
              </a:rPr>
              <a:t>步骤</a:t>
            </a:r>
            <a:r>
              <a:rPr lang="en-US" altLang="zh-CN" sz="2000" b="1" dirty="0">
                <a:solidFill>
                  <a:srgbClr val="222830"/>
                </a:solidFill>
                <a:latin typeface="微软雅黑" panose="020B0503020204020204" pitchFamily="34" charset="-122"/>
                <a:ea typeface="微软雅黑" panose="020B0503020204020204" pitchFamily="34" charset="-122"/>
              </a:rPr>
              <a:t>2</a:t>
            </a:r>
            <a:endParaRPr lang="zh-CN" altLang="en-US" sz="2000" b="1" dirty="0">
              <a:solidFill>
                <a:srgbClr val="222830"/>
              </a:solidFill>
              <a:latin typeface="微软雅黑" panose="020B0503020204020204" pitchFamily="34" charset="-122"/>
              <a:ea typeface="微软雅黑" panose="020B0503020204020204" pitchFamily="34" charset="-122"/>
            </a:endParaRPr>
          </a:p>
        </p:txBody>
      </p:sp>
      <p:sp>
        <p:nvSpPr>
          <p:cNvPr id="33" name="矩形 32">
            <a:extLst>
              <a:ext uri="{FF2B5EF4-FFF2-40B4-BE49-F238E27FC236}">
                <a16:creationId xmlns:a16="http://schemas.microsoft.com/office/drawing/2014/main" id="{C1988CE4-D04D-45C5-B700-4ED381382B3F}"/>
              </a:ext>
            </a:extLst>
          </p:cNvPr>
          <p:cNvSpPr/>
          <p:nvPr/>
        </p:nvSpPr>
        <p:spPr>
          <a:xfrm>
            <a:off x="1115649" y="4168229"/>
            <a:ext cx="3007597" cy="1021433"/>
          </a:xfrm>
          <a:prstGeom prst="rect">
            <a:avLst/>
          </a:prstGeom>
        </p:spPr>
        <p:txBody>
          <a:bodyPr wrap="square">
            <a:spAutoFit/>
          </a:bodyPr>
          <a:lstStyle/>
          <a:p>
            <a:pPr>
              <a:lnSpc>
                <a:spcPct val="130000"/>
              </a:lnSpc>
            </a:pPr>
            <a:r>
              <a:rPr lang="zh-CN" altLang="en-US" sz="1600" dirty="0">
                <a:latin typeface="微软雅黑" pitchFamily="34" charset="-122"/>
                <a:ea typeface="微软雅黑" pitchFamily="34" charset="-122"/>
              </a:rPr>
              <a:t>创建</a:t>
            </a:r>
            <a:r>
              <a:rPr lang="en-US" altLang="zh-CN" sz="1600" dirty="0">
                <a:latin typeface="微软雅黑" pitchFamily="34" charset="-122"/>
                <a:ea typeface="微软雅黑" pitchFamily="34" charset="-122"/>
              </a:rPr>
              <a:t>MEM</a:t>
            </a:r>
            <a:r>
              <a:rPr lang="zh-CN" altLang="en-US" sz="1600" dirty="0">
                <a:latin typeface="微软雅黑" pitchFamily="34" charset="-122"/>
                <a:ea typeface="微软雅黑" pitchFamily="34" charset="-122"/>
              </a:rPr>
              <a:t>内存驱动器，将原始图像的数据写入到内存驱动器中。</a:t>
            </a:r>
          </a:p>
        </p:txBody>
      </p:sp>
      <p:sp>
        <p:nvSpPr>
          <p:cNvPr id="34" name="文本框 33">
            <a:extLst>
              <a:ext uri="{FF2B5EF4-FFF2-40B4-BE49-F238E27FC236}">
                <a16:creationId xmlns:a16="http://schemas.microsoft.com/office/drawing/2014/main" id="{86484244-386D-4227-A0E7-C156A2F7A147}"/>
              </a:ext>
            </a:extLst>
          </p:cNvPr>
          <p:cNvSpPr txBox="1"/>
          <p:nvPr/>
        </p:nvSpPr>
        <p:spPr>
          <a:xfrm>
            <a:off x="8407001" y="2797063"/>
            <a:ext cx="1803667" cy="400110"/>
          </a:xfrm>
          <a:prstGeom prst="rect">
            <a:avLst/>
          </a:prstGeom>
          <a:noFill/>
        </p:spPr>
        <p:txBody>
          <a:bodyPr wrap="square" rtlCol="0">
            <a:spAutoFit/>
          </a:bodyPr>
          <a:lstStyle/>
          <a:p>
            <a:r>
              <a:rPr lang="zh-CN" altLang="en-US" sz="2000" b="1" dirty="0">
                <a:solidFill>
                  <a:srgbClr val="222830"/>
                </a:solidFill>
                <a:latin typeface="微软雅黑" panose="020B0503020204020204" pitchFamily="34" charset="-122"/>
                <a:ea typeface="微软雅黑" panose="020B0503020204020204" pitchFamily="34" charset="-122"/>
              </a:rPr>
              <a:t>步骤</a:t>
            </a:r>
            <a:r>
              <a:rPr lang="en-US" altLang="zh-CN" sz="2000" b="1" dirty="0">
                <a:solidFill>
                  <a:srgbClr val="222830"/>
                </a:solidFill>
                <a:latin typeface="微软雅黑" panose="020B0503020204020204" pitchFamily="34" charset="-122"/>
                <a:ea typeface="微软雅黑" panose="020B0503020204020204" pitchFamily="34" charset="-122"/>
              </a:rPr>
              <a:t>3</a:t>
            </a:r>
            <a:r>
              <a:rPr lang="zh-CN" altLang="en-US" sz="2000" b="1" dirty="0">
                <a:solidFill>
                  <a:srgbClr val="222830"/>
                </a:solidFill>
                <a:latin typeface="微软雅黑" panose="020B0503020204020204" pitchFamily="34" charset="-122"/>
                <a:ea typeface="微软雅黑" panose="020B0503020204020204" pitchFamily="34" charset="-122"/>
              </a:rPr>
              <a:t> </a:t>
            </a:r>
          </a:p>
        </p:txBody>
      </p:sp>
      <p:sp>
        <p:nvSpPr>
          <p:cNvPr id="35" name="矩形 34">
            <a:extLst>
              <a:ext uri="{FF2B5EF4-FFF2-40B4-BE49-F238E27FC236}">
                <a16:creationId xmlns:a16="http://schemas.microsoft.com/office/drawing/2014/main" id="{E16E830A-8443-4D7F-8185-32D71254BDFC}"/>
              </a:ext>
            </a:extLst>
          </p:cNvPr>
          <p:cNvSpPr/>
          <p:nvPr/>
        </p:nvSpPr>
        <p:spPr>
          <a:xfrm>
            <a:off x="8153268" y="3169867"/>
            <a:ext cx="3007597" cy="1981696"/>
          </a:xfrm>
          <a:prstGeom prst="rect">
            <a:avLst/>
          </a:prstGeom>
        </p:spPr>
        <p:txBody>
          <a:bodyPr wrap="square">
            <a:spAutoFit/>
          </a:bodyPr>
          <a:lstStyle/>
          <a:p>
            <a:pPr marL="285750" indent="-285750">
              <a:lnSpc>
                <a:spcPct val="130000"/>
              </a:lnSpc>
              <a:buFont typeface="Wingdings" panose="05000000000000000000" pitchFamily="2" charset="2"/>
              <a:buChar char="l"/>
            </a:pPr>
            <a:r>
              <a:rPr lang="zh-CN" altLang="en-US" sz="1600" dirty="0">
                <a:solidFill>
                  <a:schemeClr val="tx1">
                    <a:lumMod val="85000"/>
                    <a:lumOff val="15000"/>
                  </a:schemeClr>
                </a:solidFill>
                <a:latin typeface="微软雅黑" pitchFamily="34" charset="-122"/>
                <a:ea typeface="微软雅黑" pitchFamily="34" charset="-122"/>
              </a:rPr>
              <a:t>读取和写入的时候，都是按通道从</a:t>
            </a:r>
            <a:r>
              <a:rPr lang="en-US" altLang="zh-CN" sz="1600" dirty="0">
                <a:solidFill>
                  <a:schemeClr val="tx1">
                    <a:lumMod val="85000"/>
                    <a:lumOff val="15000"/>
                  </a:schemeClr>
                </a:solidFill>
                <a:latin typeface="微软雅黑" pitchFamily="34" charset="-122"/>
                <a:ea typeface="微软雅黑" pitchFamily="34" charset="-122"/>
              </a:rPr>
              <a:t>0 0</a:t>
            </a:r>
            <a:r>
              <a:rPr lang="zh-CN" altLang="en-US" sz="1600" dirty="0">
                <a:solidFill>
                  <a:schemeClr val="tx1">
                    <a:lumMod val="85000"/>
                    <a:lumOff val="15000"/>
                  </a:schemeClr>
                </a:solidFill>
                <a:latin typeface="微软雅黑" pitchFamily="34" charset="-122"/>
                <a:ea typeface="微软雅黑" pitchFamily="34" charset="-122"/>
              </a:rPr>
              <a:t>位置开始一次性读取图像宽和高数量的像素。</a:t>
            </a:r>
            <a:endParaRPr lang="en-US" altLang="zh-CN" sz="1600" dirty="0">
              <a:solidFill>
                <a:schemeClr val="tx1">
                  <a:lumMod val="85000"/>
                  <a:lumOff val="15000"/>
                </a:schemeClr>
              </a:solidFill>
              <a:latin typeface="微软雅黑" pitchFamily="34" charset="-122"/>
              <a:ea typeface="微软雅黑" pitchFamily="34" charset="-122"/>
            </a:endParaRPr>
          </a:p>
          <a:p>
            <a:pPr marL="285750" indent="-285750">
              <a:lnSpc>
                <a:spcPct val="130000"/>
              </a:lnSpc>
              <a:buFont typeface="Wingdings" panose="05000000000000000000" pitchFamily="2" charset="2"/>
              <a:buChar char="l"/>
            </a:pPr>
            <a:r>
              <a:rPr lang="zh-CN" altLang="en-US" sz="1600" dirty="0">
                <a:solidFill>
                  <a:schemeClr val="tx1">
                    <a:lumMod val="85000"/>
                    <a:lumOff val="15000"/>
                  </a:schemeClr>
                </a:solidFill>
                <a:latin typeface="微软雅黑" pitchFamily="34" charset="-122"/>
                <a:ea typeface="微软雅黑" pitchFamily="34" charset="-122"/>
              </a:rPr>
              <a:t>按照源图像的通道数量作为间隔拷贝原始数据到内存驱动器中。</a:t>
            </a:r>
          </a:p>
        </p:txBody>
      </p:sp>
      <p:sp>
        <p:nvSpPr>
          <p:cNvPr id="36" name="文本框 35">
            <a:extLst>
              <a:ext uri="{FF2B5EF4-FFF2-40B4-BE49-F238E27FC236}">
                <a16:creationId xmlns:a16="http://schemas.microsoft.com/office/drawing/2014/main" id="{F9584E3F-2F10-48D0-9DAB-B7A16099297F}"/>
              </a:ext>
            </a:extLst>
          </p:cNvPr>
          <p:cNvSpPr txBox="1"/>
          <p:nvPr/>
        </p:nvSpPr>
        <p:spPr>
          <a:xfrm>
            <a:off x="1089919" y="5552814"/>
            <a:ext cx="10865497" cy="1200329"/>
          </a:xfrm>
          <a:prstGeom prst="rect">
            <a:avLst/>
          </a:prstGeom>
          <a:noFill/>
        </p:spPr>
        <p:txBody>
          <a:bodyPr wrap="square">
            <a:spAutoFit/>
          </a:bodyPr>
          <a:lstStyle/>
          <a:p>
            <a:r>
              <a:rPr lang="zh-CN" altLang="en-US" dirty="0"/>
              <a:t>参考代码：</a:t>
            </a:r>
            <a:r>
              <a:rPr lang="en-US" altLang="zh-CN" dirty="0"/>
              <a:t>https://blog.csdn.net/weixin_44231643/article/details/85629525?utm_medium=distribute.pc_relevant_t0.none-task-blog-BlogCommendFromMachineLearnPai2-1.edu_weight&amp;depth_1-utm_source=distribute.pc_relevant_t0.none-task-blog-BlogCommendFromMachineLearnPai2-1.edu_weight</a:t>
            </a:r>
            <a:endParaRPr lang="zh-CN" altLang="en-US" dirty="0"/>
          </a:p>
        </p:txBody>
      </p:sp>
    </p:spTree>
    <p:extLst>
      <p:ext uri="{BB962C8B-B14F-4D97-AF65-F5344CB8AC3E}">
        <p14:creationId xmlns:p14="http://schemas.microsoft.com/office/powerpoint/2010/main" val="1822039414"/>
      </p:ext>
    </p:extLst>
  </p:cSld>
  <p:clrMapOvr>
    <a:masterClrMapping/>
  </p:clrMapOvr>
  <mc:AlternateContent xmlns:mc="http://schemas.openxmlformats.org/markup-compatibility/2006" xmlns:p14="http://schemas.microsoft.com/office/powerpoint/2010/main">
    <mc:Choice Requires="p14">
      <p:transition p14:dur="250" advClick="0" advTm="8471">
        <p:push dir="u"/>
      </p:transition>
    </mc:Choice>
    <mc:Fallback xmlns="">
      <p:transition advClick="0" advTm="847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p:cTn id="27" dur="500" fill="hold"/>
                                        <p:tgtEl>
                                          <p:spTgt spid="20"/>
                                        </p:tgtEl>
                                        <p:attrNameLst>
                                          <p:attrName>ppt_w</p:attrName>
                                        </p:attrNameLst>
                                      </p:cBhvr>
                                      <p:tavLst>
                                        <p:tav tm="0">
                                          <p:val>
                                            <p:fltVal val="0"/>
                                          </p:val>
                                        </p:tav>
                                        <p:tav tm="100000">
                                          <p:val>
                                            <p:strVal val="#ppt_w"/>
                                          </p:val>
                                        </p:tav>
                                      </p:tavLst>
                                    </p:anim>
                                    <p:anim calcmode="lin" valueType="num">
                                      <p:cBhvr>
                                        <p:cTn id="28" dur="500" fill="hold"/>
                                        <p:tgtEl>
                                          <p:spTgt spid="20"/>
                                        </p:tgtEl>
                                        <p:attrNameLst>
                                          <p:attrName>ppt_h</p:attrName>
                                        </p:attrNameLst>
                                      </p:cBhvr>
                                      <p:tavLst>
                                        <p:tav tm="0">
                                          <p:val>
                                            <p:fltVal val="0"/>
                                          </p:val>
                                        </p:tav>
                                        <p:tav tm="100000">
                                          <p:val>
                                            <p:strVal val="#ppt_h"/>
                                          </p:val>
                                        </p:tav>
                                      </p:tavLst>
                                    </p:anim>
                                    <p:animEffect transition="in" filter="fade">
                                      <p:cBhvr>
                                        <p:cTn id="29" dur="500"/>
                                        <p:tgtEl>
                                          <p:spTgt spid="20"/>
                                        </p:tgtEl>
                                      </p:cBhvr>
                                    </p:animEffect>
                                  </p:childTnLst>
                                </p:cTn>
                              </p:par>
                              <p:par>
                                <p:cTn id="30" presetID="53" presetClass="entr" presetSubtype="16" fill="hold" nodeType="with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p:cTn id="32" dur="500" fill="hold"/>
                                        <p:tgtEl>
                                          <p:spTgt spid="21"/>
                                        </p:tgtEl>
                                        <p:attrNameLst>
                                          <p:attrName>ppt_w</p:attrName>
                                        </p:attrNameLst>
                                      </p:cBhvr>
                                      <p:tavLst>
                                        <p:tav tm="0">
                                          <p:val>
                                            <p:fltVal val="0"/>
                                          </p:val>
                                        </p:tav>
                                        <p:tav tm="100000">
                                          <p:val>
                                            <p:strVal val="#ppt_w"/>
                                          </p:val>
                                        </p:tav>
                                      </p:tavLst>
                                    </p:anim>
                                    <p:anim calcmode="lin" valueType="num">
                                      <p:cBhvr>
                                        <p:cTn id="33" dur="500" fill="hold"/>
                                        <p:tgtEl>
                                          <p:spTgt spid="21"/>
                                        </p:tgtEl>
                                        <p:attrNameLst>
                                          <p:attrName>ppt_h</p:attrName>
                                        </p:attrNameLst>
                                      </p:cBhvr>
                                      <p:tavLst>
                                        <p:tav tm="0">
                                          <p:val>
                                            <p:fltVal val="0"/>
                                          </p:val>
                                        </p:tav>
                                        <p:tav tm="100000">
                                          <p:val>
                                            <p:strVal val="#ppt_h"/>
                                          </p:val>
                                        </p:tav>
                                      </p:tavLst>
                                    </p:anim>
                                    <p:animEffect transition="in" filter="fade">
                                      <p:cBhvr>
                                        <p:cTn id="34" dur="500"/>
                                        <p:tgtEl>
                                          <p:spTgt spid="21"/>
                                        </p:tgtEl>
                                      </p:cBhvr>
                                    </p:animEffect>
                                  </p:childTnLst>
                                </p:cTn>
                              </p:par>
                              <p:par>
                                <p:cTn id="35" presetID="53" presetClass="entr" presetSubtype="16"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p:cTn id="37" dur="500" fill="hold"/>
                                        <p:tgtEl>
                                          <p:spTgt spid="22"/>
                                        </p:tgtEl>
                                        <p:attrNameLst>
                                          <p:attrName>ppt_w</p:attrName>
                                        </p:attrNameLst>
                                      </p:cBhvr>
                                      <p:tavLst>
                                        <p:tav tm="0">
                                          <p:val>
                                            <p:fltVal val="0"/>
                                          </p:val>
                                        </p:tav>
                                        <p:tav tm="100000">
                                          <p:val>
                                            <p:strVal val="#ppt_w"/>
                                          </p:val>
                                        </p:tav>
                                      </p:tavLst>
                                    </p:anim>
                                    <p:anim calcmode="lin" valueType="num">
                                      <p:cBhvr>
                                        <p:cTn id="38" dur="500" fill="hold"/>
                                        <p:tgtEl>
                                          <p:spTgt spid="22"/>
                                        </p:tgtEl>
                                        <p:attrNameLst>
                                          <p:attrName>ppt_h</p:attrName>
                                        </p:attrNameLst>
                                      </p:cBhvr>
                                      <p:tavLst>
                                        <p:tav tm="0">
                                          <p:val>
                                            <p:fltVal val="0"/>
                                          </p:val>
                                        </p:tav>
                                        <p:tav tm="100000">
                                          <p:val>
                                            <p:strVal val="#ppt_h"/>
                                          </p:val>
                                        </p:tav>
                                      </p:tavLst>
                                    </p:anim>
                                    <p:animEffect transition="in" filter="fade">
                                      <p:cBhvr>
                                        <p:cTn id="39" dur="500"/>
                                        <p:tgtEl>
                                          <p:spTgt spid="22"/>
                                        </p:tgtEl>
                                      </p:cBhvr>
                                    </p:animEffect>
                                  </p:childTnLst>
                                </p:cTn>
                              </p:par>
                              <p:par>
                                <p:cTn id="40" presetID="53" presetClass="entr" presetSubtype="16"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p:cTn id="42" dur="500" fill="hold"/>
                                        <p:tgtEl>
                                          <p:spTgt spid="23"/>
                                        </p:tgtEl>
                                        <p:attrNameLst>
                                          <p:attrName>ppt_w</p:attrName>
                                        </p:attrNameLst>
                                      </p:cBhvr>
                                      <p:tavLst>
                                        <p:tav tm="0">
                                          <p:val>
                                            <p:fltVal val="0"/>
                                          </p:val>
                                        </p:tav>
                                        <p:tav tm="100000">
                                          <p:val>
                                            <p:strVal val="#ppt_w"/>
                                          </p:val>
                                        </p:tav>
                                      </p:tavLst>
                                    </p:anim>
                                    <p:anim calcmode="lin" valueType="num">
                                      <p:cBhvr>
                                        <p:cTn id="43" dur="500" fill="hold"/>
                                        <p:tgtEl>
                                          <p:spTgt spid="23"/>
                                        </p:tgtEl>
                                        <p:attrNameLst>
                                          <p:attrName>ppt_h</p:attrName>
                                        </p:attrNameLst>
                                      </p:cBhvr>
                                      <p:tavLst>
                                        <p:tav tm="0">
                                          <p:val>
                                            <p:fltVal val="0"/>
                                          </p:val>
                                        </p:tav>
                                        <p:tav tm="100000">
                                          <p:val>
                                            <p:strVal val="#ppt_h"/>
                                          </p:val>
                                        </p:tav>
                                      </p:tavLst>
                                    </p:anim>
                                    <p:animEffect transition="in" filter="fade">
                                      <p:cBhvr>
                                        <p:cTn id="44" dur="500"/>
                                        <p:tgtEl>
                                          <p:spTgt spid="2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 calcmode="lin" valueType="num">
                                      <p:cBhvr>
                                        <p:cTn id="47" dur="500" fill="hold"/>
                                        <p:tgtEl>
                                          <p:spTgt spid="24"/>
                                        </p:tgtEl>
                                        <p:attrNameLst>
                                          <p:attrName>ppt_w</p:attrName>
                                        </p:attrNameLst>
                                      </p:cBhvr>
                                      <p:tavLst>
                                        <p:tav tm="0">
                                          <p:val>
                                            <p:fltVal val="0"/>
                                          </p:val>
                                        </p:tav>
                                        <p:tav tm="100000">
                                          <p:val>
                                            <p:strVal val="#ppt_w"/>
                                          </p:val>
                                        </p:tav>
                                      </p:tavLst>
                                    </p:anim>
                                    <p:anim calcmode="lin" valueType="num">
                                      <p:cBhvr>
                                        <p:cTn id="48" dur="500" fill="hold"/>
                                        <p:tgtEl>
                                          <p:spTgt spid="24"/>
                                        </p:tgtEl>
                                        <p:attrNameLst>
                                          <p:attrName>ppt_h</p:attrName>
                                        </p:attrNameLst>
                                      </p:cBhvr>
                                      <p:tavLst>
                                        <p:tav tm="0">
                                          <p:val>
                                            <p:fltVal val="0"/>
                                          </p:val>
                                        </p:tav>
                                        <p:tav tm="100000">
                                          <p:val>
                                            <p:strVal val="#ppt_h"/>
                                          </p:val>
                                        </p:tav>
                                      </p:tavLst>
                                    </p:anim>
                                    <p:animEffect transition="in" filter="fade">
                                      <p:cBhvr>
                                        <p:cTn id="49" dur="500"/>
                                        <p:tgtEl>
                                          <p:spTgt spid="24"/>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 calcmode="lin" valueType="num">
                                      <p:cBhvr>
                                        <p:cTn id="52" dur="500" fill="hold"/>
                                        <p:tgtEl>
                                          <p:spTgt spid="25"/>
                                        </p:tgtEl>
                                        <p:attrNameLst>
                                          <p:attrName>ppt_w</p:attrName>
                                        </p:attrNameLst>
                                      </p:cBhvr>
                                      <p:tavLst>
                                        <p:tav tm="0">
                                          <p:val>
                                            <p:fltVal val="0"/>
                                          </p:val>
                                        </p:tav>
                                        <p:tav tm="100000">
                                          <p:val>
                                            <p:strVal val="#ppt_w"/>
                                          </p:val>
                                        </p:tav>
                                      </p:tavLst>
                                    </p:anim>
                                    <p:anim calcmode="lin" valueType="num">
                                      <p:cBhvr>
                                        <p:cTn id="53" dur="500" fill="hold"/>
                                        <p:tgtEl>
                                          <p:spTgt spid="25"/>
                                        </p:tgtEl>
                                        <p:attrNameLst>
                                          <p:attrName>ppt_h</p:attrName>
                                        </p:attrNameLst>
                                      </p:cBhvr>
                                      <p:tavLst>
                                        <p:tav tm="0">
                                          <p:val>
                                            <p:fltVal val="0"/>
                                          </p:val>
                                        </p:tav>
                                        <p:tav tm="100000">
                                          <p:val>
                                            <p:strVal val="#ppt_h"/>
                                          </p:val>
                                        </p:tav>
                                      </p:tavLst>
                                    </p:anim>
                                    <p:animEffect transition="in" filter="fade">
                                      <p:cBhvr>
                                        <p:cTn id="54" dur="500"/>
                                        <p:tgtEl>
                                          <p:spTgt spid="25"/>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 calcmode="lin" valueType="num">
                                      <p:cBhvr>
                                        <p:cTn id="57" dur="500" fill="hold"/>
                                        <p:tgtEl>
                                          <p:spTgt spid="26"/>
                                        </p:tgtEl>
                                        <p:attrNameLst>
                                          <p:attrName>ppt_w</p:attrName>
                                        </p:attrNameLst>
                                      </p:cBhvr>
                                      <p:tavLst>
                                        <p:tav tm="0">
                                          <p:val>
                                            <p:fltVal val="0"/>
                                          </p:val>
                                        </p:tav>
                                        <p:tav tm="100000">
                                          <p:val>
                                            <p:strVal val="#ppt_w"/>
                                          </p:val>
                                        </p:tav>
                                      </p:tavLst>
                                    </p:anim>
                                    <p:anim calcmode="lin" valueType="num">
                                      <p:cBhvr>
                                        <p:cTn id="58" dur="500" fill="hold"/>
                                        <p:tgtEl>
                                          <p:spTgt spid="26"/>
                                        </p:tgtEl>
                                        <p:attrNameLst>
                                          <p:attrName>ppt_h</p:attrName>
                                        </p:attrNameLst>
                                      </p:cBhvr>
                                      <p:tavLst>
                                        <p:tav tm="0">
                                          <p:val>
                                            <p:fltVal val="0"/>
                                          </p:val>
                                        </p:tav>
                                        <p:tav tm="100000">
                                          <p:val>
                                            <p:strVal val="#ppt_h"/>
                                          </p:val>
                                        </p:tav>
                                      </p:tavLst>
                                    </p:anim>
                                    <p:animEffect transition="in" filter="fade">
                                      <p:cBhvr>
                                        <p:cTn id="59" dur="500"/>
                                        <p:tgtEl>
                                          <p:spTgt spid="26"/>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 calcmode="lin" valueType="num">
                                      <p:cBhvr>
                                        <p:cTn id="62" dur="500" fill="hold"/>
                                        <p:tgtEl>
                                          <p:spTgt spid="27"/>
                                        </p:tgtEl>
                                        <p:attrNameLst>
                                          <p:attrName>ppt_w</p:attrName>
                                        </p:attrNameLst>
                                      </p:cBhvr>
                                      <p:tavLst>
                                        <p:tav tm="0">
                                          <p:val>
                                            <p:fltVal val="0"/>
                                          </p:val>
                                        </p:tav>
                                        <p:tav tm="100000">
                                          <p:val>
                                            <p:strVal val="#ppt_w"/>
                                          </p:val>
                                        </p:tav>
                                      </p:tavLst>
                                    </p:anim>
                                    <p:anim calcmode="lin" valueType="num">
                                      <p:cBhvr>
                                        <p:cTn id="63" dur="500" fill="hold"/>
                                        <p:tgtEl>
                                          <p:spTgt spid="27"/>
                                        </p:tgtEl>
                                        <p:attrNameLst>
                                          <p:attrName>ppt_h</p:attrName>
                                        </p:attrNameLst>
                                      </p:cBhvr>
                                      <p:tavLst>
                                        <p:tav tm="0">
                                          <p:val>
                                            <p:fltVal val="0"/>
                                          </p:val>
                                        </p:tav>
                                        <p:tav tm="100000">
                                          <p:val>
                                            <p:strVal val="#ppt_h"/>
                                          </p:val>
                                        </p:tav>
                                      </p:tavLst>
                                    </p:anim>
                                    <p:animEffect transition="in" filter="fade">
                                      <p:cBhvr>
                                        <p:cTn id="64" dur="500"/>
                                        <p:tgtEl>
                                          <p:spTgt spid="27"/>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 calcmode="lin" valueType="num">
                                      <p:cBhvr>
                                        <p:cTn id="67" dur="500" fill="hold"/>
                                        <p:tgtEl>
                                          <p:spTgt spid="28"/>
                                        </p:tgtEl>
                                        <p:attrNameLst>
                                          <p:attrName>ppt_w</p:attrName>
                                        </p:attrNameLst>
                                      </p:cBhvr>
                                      <p:tavLst>
                                        <p:tav tm="0">
                                          <p:val>
                                            <p:fltVal val="0"/>
                                          </p:val>
                                        </p:tav>
                                        <p:tav tm="100000">
                                          <p:val>
                                            <p:strVal val="#ppt_w"/>
                                          </p:val>
                                        </p:tav>
                                      </p:tavLst>
                                    </p:anim>
                                    <p:anim calcmode="lin" valueType="num">
                                      <p:cBhvr>
                                        <p:cTn id="68" dur="500" fill="hold"/>
                                        <p:tgtEl>
                                          <p:spTgt spid="28"/>
                                        </p:tgtEl>
                                        <p:attrNameLst>
                                          <p:attrName>ppt_h</p:attrName>
                                        </p:attrNameLst>
                                      </p:cBhvr>
                                      <p:tavLst>
                                        <p:tav tm="0">
                                          <p:val>
                                            <p:fltVal val="0"/>
                                          </p:val>
                                        </p:tav>
                                        <p:tav tm="100000">
                                          <p:val>
                                            <p:strVal val="#ppt_h"/>
                                          </p:val>
                                        </p:tav>
                                      </p:tavLst>
                                    </p:anim>
                                    <p:animEffect transition="in" filter="fade">
                                      <p:cBhvr>
                                        <p:cTn id="69" dur="500"/>
                                        <p:tgtEl>
                                          <p:spTgt spid="28"/>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29"/>
                                        </p:tgtEl>
                                        <p:attrNameLst>
                                          <p:attrName>style.visibility</p:attrName>
                                        </p:attrNameLst>
                                      </p:cBhvr>
                                      <p:to>
                                        <p:strVal val="visible"/>
                                      </p:to>
                                    </p:set>
                                    <p:anim calcmode="lin" valueType="num">
                                      <p:cBhvr>
                                        <p:cTn id="72" dur="500" fill="hold"/>
                                        <p:tgtEl>
                                          <p:spTgt spid="29"/>
                                        </p:tgtEl>
                                        <p:attrNameLst>
                                          <p:attrName>ppt_w</p:attrName>
                                        </p:attrNameLst>
                                      </p:cBhvr>
                                      <p:tavLst>
                                        <p:tav tm="0">
                                          <p:val>
                                            <p:fltVal val="0"/>
                                          </p:val>
                                        </p:tav>
                                        <p:tav tm="100000">
                                          <p:val>
                                            <p:strVal val="#ppt_w"/>
                                          </p:val>
                                        </p:tav>
                                      </p:tavLst>
                                    </p:anim>
                                    <p:anim calcmode="lin" valueType="num">
                                      <p:cBhvr>
                                        <p:cTn id="73" dur="500" fill="hold"/>
                                        <p:tgtEl>
                                          <p:spTgt spid="29"/>
                                        </p:tgtEl>
                                        <p:attrNameLst>
                                          <p:attrName>ppt_h</p:attrName>
                                        </p:attrNameLst>
                                      </p:cBhvr>
                                      <p:tavLst>
                                        <p:tav tm="0">
                                          <p:val>
                                            <p:fltVal val="0"/>
                                          </p:val>
                                        </p:tav>
                                        <p:tav tm="100000">
                                          <p:val>
                                            <p:strVal val="#ppt_h"/>
                                          </p:val>
                                        </p:tav>
                                      </p:tavLst>
                                    </p:anim>
                                    <p:animEffect transition="in" filter="fade">
                                      <p:cBhvr>
                                        <p:cTn id="74" dur="500"/>
                                        <p:tgtEl>
                                          <p:spTgt spid="29"/>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30"/>
                                        </p:tgtEl>
                                        <p:attrNameLst>
                                          <p:attrName>style.visibility</p:attrName>
                                        </p:attrNameLst>
                                      </p:cBhvr>
                                      <p:to>
                                        <p:strVal val="visible"/>
                                      </p:to>
                                    </p:set>
                                    <p:anim calcmode="lin" valueType="num">
                                      <p:cBhvr>
                                        <p:cTn id="77" dur="500" fill="hold"/>
                                        <p:tgtEl>
                                          <p:spTgt spid="30"/>
                                        </p:tgtEl>
                                        <p:attrNameLst>
                                          <p:attrName>ppt_w</p:attrName>
                                        </p:attrNameLst>
                                      </p:cBhvr>
                                      <p:tavLst>
                                        <p:tav tm="0">
                                          <p:val>
                                            <p:fltVal val="0"/>
                                          </p:val>
                                        </p:tav>
                                        <p:tav tm="100000">
                                          <p:val>
                                            <p:strVal val="#ppt_w"/>
                                          </p:val>
                                        </p:tav>
                                      </p:tavLst>
                                    </p:anim>
                                    <p:anim calcmode="lin" valueType="num">
                                      <p:cBhvr>
                                        <p:cTn id="78" dur="500" fill="hold"/>
                                        <p:tgtEl>
                                          <p:spTgt spid="30"/>
                                        </p:tgtEl>
                                        <p:attrNameLst>
                                          <p:attrName>ppt_h</p:attrName>
                                        </p:attrNameLst>
                                      </p:cBhvr>
                                      <p:tavLst>
                                        <p:tav tm="0">
                                          <p:val>
                                            <p:fltVal val="0"/>
                                          </p:val>
                                        </p:tav>
                                        <p:tav tm="100000">
                                          <p:val>
                                            <p:strVal val="#ppt_h"/>
                                          </p:val>
                                        </p:tav>
                                      </p:tavLst>
                                    </p:anim>
                                    <p:animEffect transition="in" filter="fade">
                                      <p:cBhvr>
                                        <p:cTn id="79" dur="500"/>
                                        <p:tgtEl>
                                          <p:spTgt spid="30"/>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 calcmode="lin" valueType="num">
                                      <p:cBhvr>
                                        <p:cTn id="82" dur="500" fill="hold"/>
                                        <p:tgtEl>
                                          <p:spTgt spid="31"/>
                                        </p:tgtEl>
                                        <p:attrNameLst>
                                          <p:attrName>ppt_w</p:attrName>
                                        </p:attrNameLst>
                                      </p:cBhvr>
                                      <p:tavLst>
                                        <p:tav tm="0">
                                          <p:val>
                                            <p:fltVal val="0"/>
                                          </p:val>
                                        </p:tav>
                                        <p:tav tm="100000">
                                          <p:val>
                                            <p:strVal val="#ppt_w"/>
                                          </p:val>
                                        </p:tav>
                                      </p:tavLst>
                                    </p:anim>
                                    <p:anim calcmode="lin" valueType="num">
                                      <p:cBhvr>
                                        <p:cTn id="83" dur="500" fill="hold"/>
                                        <p:tgtEl>
                                          <p:spTgt spid="31"/>
                                        </p:tgtEl>
                                        <p:attrNameLst>
                                          <p:attrName>ppt_h</p:attrName>
                                        </p:attrNameLst>
                                      </p:cBhvr>
                                      <p:tavLst>
                                        <p:tav tm="0">
                                          <p:val>
                                            <p:fltVal val="0"/>
                                          </p:val>
                                        </p:tav>
                                        <p:tav tm="100000">
                                          <p:val>
                                            <p:strVal val="#ppt_h"/>
                                          </p:val>
                                        </p:tav>
                                      </p:tavLst>
                                    </p:anim>
                                    <p:animEffect transition="in" filter="fade">
                                      <p:cBhvr>
                                        <p:cTn id="84" dur="500"/>
                                        <p:tgtEl>
                                          <p:spTgt spid="31"/>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32"/>
                                        </p:tgtEl>
                                        <p:attrNameLst>
                                          <p:attrName>style.visibility</p:attrName>
                                        </p:attrNameLst>
                                      </p:cBhvr>
                                      <p:to>
                                        <p:strVal val="visible"/>
                                      </p:to>
                                    </p:set>
                                    <p:anim calcmode="lin" valueType="num">
                                      <p:cBhvr>
                                        <p:cTn id="87" dur="500" fill="hold"/>
                                        <p:tgtEl>
                                          <p:spTgt spid="32"/>
                                        </p:tgtEl>
                                        <p:attrNameLst>
                                          <p:attrName>ppt_w</p:attrName>
                                        </p:attrNameLst>
                                      </p:cBhvr>
                                      <p:tavLst>
                                        <p:tav tm="0">
                                          <p:val>
                                            <p:fltVal val="0"/>
                                          </p:val>
                                        </p:tav>
                                        <p:tav tm="100000">
                                          <p:val>
                                            <p:strVal val="#ppt_w"/>
                                          </p:val>
                                        </p:tav>
                                      </p:tavLst>
                                    </p:anim>
                                    <p:anim calcmode="lin" valueType="num">
                                      <p:cBhvr>
                                        <p:cTn id="88" dur="500" fill="hold"/>
                                        <p:tgtEl>
                                          <p:spTgt spid="32"/>
                                        </p:tgtEl>
                                        <p:attrNameLst>
                                          <p:attrName>ppt_h</p:attrName>
                                        </p:attrNameLst>
                                      </p:cBhvr>
                                      <p:tavLst>
                                        <p:tav tm="0">
                                          <p:val>
                                            <p:fltVal val="0"/>
                                          </p:val>
                                        </p:tav>
                                        <p:tav tm="100000">
                                          <p:val>
                                            <p:strVal val="#ppt_h"/>
                                          </p:val>
                                        </p:tav>
                                      </p:tavLst>
                                    </p:anim>
                                    <p:animEffect transition="in" filter="fade">
                                      <p:cBhvr>
                                        <p:cTn id="89" dur="500"/>
                                        <p:tgtEl>
                                          <p:spTgt spid="32"/>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33"/>
                                        </p:tgtEl>
                                        <p:attrNameLst>
                                          <p:attrName>style.visibility</p:attrName>
                                        </p:attrNameLst>
                                      </p:cBhvr>
                                      <p:to>
                                        <p:strVal val="visible"/>
                                      </p:to>
                                    </p:set>
                                    <p:anim calcmode="lin" valueType="num">
                                      <p:cBhvr>
                                        <p:cTn id="92" dur="500" fill="hold"/>
                                        <p:tgtEl>
                                          <p:spTgt spid="33"/>
                                        </p:tgtEl>
                                        <p:attrNameLst>
                                          <p:attrName>ppt_w</p:attrName>
                                        </p:attrNameLst>
                                      </p:cBhvr>
                                      <p:tavLst>
                                        <p:tav tm="0">
                                          <p:val>
                                            <p:fltVal val="0"/>
                                          </p:val>
                                        </p:tav>
                                        <p:tav tm="100000">
                                          <p:val>
                                            <p:strVal val="#ppt_w"/>
                                          </p:val>
                                        </p:tav>
                                      </p:tavLst>
                                    </p:anim>
                                    <p:anim calcmode="lin" valueType="num">
                                      <p:cBhvr>
                                        <p:cTn id="93" dur="500" fill="hold"/>
                                        <p:tgtEl>
                                          <p:spTgt spid="33"/>
                                        </p:tgtEl>
                                        <p:attrNameLst>
                                          <p:attrName>ppt_h</p:attrName>
                                        </p:attrNameLst>
                                      </p:cBhvr>
                                      <p:tavLst>
                                        <p:tav tm="0">
                                          <p:val>
                                            <p:fltVal val="0"/>
                                          </p:val>
                                        </p:tav>
                                        <p:tav tm="100000">
                                          <p:val>
                                            <p:strVal val="#ppt_h"/>
                                          </p:val>
                                        </p:tav>
                                      </p:tavLst>
                                    </p:anim>
                                    <p:animEffect transition="in" filter="fade">
                                      <p:cBhvr>
                                        <p:cTn id="94" dur="500"/>
                                        <p:tgtEl>
                                          <p:spTgt spid="33"/>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 calcmode="lin" valueType="num">
                                      <p:cBhvr>
                                        <p:cTn id="97" dur="500" fill="hold"/>
                                        <p:tgtEl>
                                          <p:spTgt spid="34"/>
                                        </p:tgtEl>
                                        <p:attrNameLst>
                                          <p:attrName>ppt_w</p:attrName>
                                        </p:attrNameLst>
                                      </p:cBhvr>
                                      <p:tavLst>
                                        <p:tav tm="0">
                                          <p:val>
                                            <p:fltVal val="0"/>
                                          </p:val>
                                        </p:tav>
                                        <p:tav tm="100000">
                                          <p:val>
                                            <p:strVal val="#ppt_w"/>
                                          </p:val>
                                        </p:tav>
                                      </p:tavLst>
                                    </p:anim>
                                    <p:anim calcmode="lin" valueType="num">
                                      <p:cBhvr>
                                        <p:cTn id="98" dur="500" fill="hold"/>
                                        <p:tgtEl>
                                          <p:spTgt spid="34"/>
                                        </p:tgtEl>
                                        <p:attrNameLst>
                                          <p:attrName>ppt_h</p:attrName>
                                        </p:attrNameLst>
                                      </p:cBhvr>
                                      <p:tavLst>
                                        <p:tav tm="0">
                                          <p:val>
                                            <p:fltVal val="0"/>
                                          </p:val>
                                        </p:tav>
                                        <p:tav tm="100000">
                                          <p:val>
                                            <p:strVal val="#ppt_h"/>
                                          </p:val>
                                        </p:tav>
                                      </p:tavLst>
                                    </p:anim>
                                    <p:animEffect transition="in" filter="fade">
                                      <p:cBhvr>
                                        <p:cTn id="99" dur="500"/>
                                        <p:tgtEl>
                                          <p:spTgt spid="34"/>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 calcmode="lin" valueType="num">
                                      <p:cBhvr>
                                        <p:cTn id="102" dur="500" fill="hold"/>
                                        <p:tgtEl>
                                          <p:spTgt spid="35"/>
                                        </p:tgtEl>
                                        <p:attrNameLst>
                                          <p:attrName>ppt_w</p:attrName>
                                        </p:attrNameLst>
                                      </p:cBhvr>
                                      <p:tavLst>
                                        <p:tav tm="0">
                                          <p:val>
                                            <p:fltVal val="0"/>
                                          </p:val>
                                        </p:tav>
                                        <p:tav tm="100000">
                                          <p:val>
                                            <p:strVal val="#ppt_w"/>
                                          </p:val>
                                        </p:tav>
                                      </p:tavLst>
                                    </p:anim>
                                    <p:anim calcmode="lin" valueType="num">
                                      <p:cBhvr>
                                        <p:cTn id="103" dur="500" fill="hold"/>
                                        <p:tgtEl>
                                          <p:spTgt spid="35"/>
                                        </p:tgtEl>
                                        <p:attrNameLst>
                                          <p:attrName>ppt_h</p:attrName>
                                        </p:attrNameLst>
                                      </p:cBhvr>
                                      <p:tavLst>
                                        <p:tav tm="0">
                                          <p:val>
                                            <p:fltVal val="0"/>
                                          </p:val>
                                        </p:tav>
                                        <p:tav tm="100000">
                                          <p:val>
                                            <p:strVal val="#ppt_h"/>
                                          </p:val>
                                        </p:tav>
                                      </p:tavLst>
                                    </p:anim>
                                    <p:animEffect transition="in" filter="fade">
                                      <p:cBhvr>
                                        <p:cTn id="10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animBg="1"/>
      <p:bldP spid="12" grpId="0" animBg="1"/>
      <p:bldP spid="20" grpId="0" animBg="1"/>
      <p:bldP spid="24" grpId="0" animBg="1"/>
      <p:bldP spid="25" grpId="0" animBg="1"/>
      <p:bldP spid="26" grpId="0" animBg="1"/>
      <p:bldP spid="27" grpId="0"/>
      <p:bldP spid="28" grpId="0"/>
      <p:bldP spid="29" grpId="0"/>
      <p:bldP spid="30" grpId="0"/>
      <p:bldP spid="31" grpId="0"/>
      <p:bldP spid="32" grpId="0"/>
      <p:bldP spid="33" grpId="0"/>
      <p:bldP spid="34" grpId="0"/>
      <p:bldP spid="3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30949" y="0"/>
            <a:ext cx="5861051" cy="6858000"/>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11968" y="635721"/>
            <a:ext cx="4980032" cy="5915832"/>
          </a:xfrm>
          <a:prstGeom prst="rect">
            <a:avLst/>
          </a:prstGeom>
        </p:spPr>
      </p:pic>
      <p:sp>
        <p:nvSpPr>
          <p:cNvPr id="10" name="TextBox 6"/>
          <p:cNvSpPr txBox="1"/>
          <p:nvPr/>
        </p:nvSpPr>
        <p:spPr>
          <a:xfrm>
            <a:off x="1424177" y="1892830"/>
            <a:ext cx="4183774" cy="1323439"/>
          </a:xfrm>
          <a:prstGeom prst="rect">
            <a:avLst/>
          </a:prstGeom>
          <a:noFill/>
        </p:spPr>
        <p:txBody>
          <a:bodyPr wrap="none" rtlCol="0">
            <a:spAutoFit/>
          </a:bodyPr>
          <a:lstStyle/>
          <a:p>
            <a:pPr defTabSz="1219200"/>
            <a:r>
              <a:rPr lang="en-US" altLang="zh-CN" sz="8000" dirty="0">
                <a:solidFill>
                  <a:srgbClr val="E1E0D8"/>
                </a:solidFill>
                <a:latin typeface="方正黑体简体" panose="02010601030101010101" pitchFamily="2" charset="-122"/>
                <a:ea typeface="方正黑体简体" panose="02010601030101010101" pitchFamily="2" charset="-122"/>
                <a:cs typeface="+mn-ea"/>
                <a:sym typeface="+mn-lt"/>
              </a:rPr>
              <a:t>PART 04</a:t>
            </a:r>
            <a:endParaRPr lang="zh-CN" altLang="en-US" sz="8000"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11" name="TextBox 7"/>
          <p:cNvSpPr txBox="1"/>
          <p:nvPr/>
        </p:nvSpPr>
        <p:spPr>
          <a:xfrm>
            <a:off x="2351584" y="2660915"/>
            <a:ext cx="2646878" cy="830997"/>
          </a:xfrm>
          <a:prstGeom prst="rect">
            <a:avLst/>
          </a:prstGeom>
          <a:noFill/>
        </p:spPr>
        <p:txBody>
          <a:bodyPr wrap="none" rtlCol="0">
            <a:spAutoFit/>
          </a:bodyPr>
          <a:lstStyle/>
          <a:p>
            <a:pPr defTabSz="1219200"/>
            <a:r>
              <a:rPr lang="zh-CN" altLang="en-US" sz="4800" dirty="0">
                <a:solidFill>
                  <a:srgbClr val="4F4D50"/>
                </a:solidFill>
                <a:latin typeface="方正黑体简体" panose="02010601030101010101" pitchFamily="2" charset="-122"/>
                <a:ea typeface="方正黑体简体" panose="02010601030101010101" pitchFamily="2" charset="-122"/>
                <a:cs typeface="+mn-ea"/>
                <a:sym typeface="+mn-lt"/>
              </a:rPr>
              <a:t>分块读写</a:t>
            </a:r>
          </a:p>
        </p:txBody>
      </p:sp>
      <p:sp>
        <p:nvSpPr>
          <p:cNvPr id="13" name="TextBox 6"/>
          <p:cNvSpPr txBox="1"/>
          <p:nvPr/>
        </p:nvSpPr>
        <p:spPr>
          <a:xfrm>
            <a:off x="9701984" y="2168473"/>
            <a:ext cx="2076209" cy="2646878"/>
          </a:xfrm>
          <a:prstGeom prst="rect">
            <a:avLst/>
          </a:prstGeom>
          <a:noFill/>
        </p:spPr>
        <p:txBody>
          <a:bodyPr wrap="none" rtlCol="0">
            <a:spAutoFit/>
          </a:bodyPr>
          <a:lstStyle/>
          <a:p>
            <a:pPr defTabSz="1219200"/>
            <a:r>
              <a:rPr lang="en-US" altLang="zh-CN" sz="16600" spc="600" dirty="0">
                <a:gradFill>
                  <a:gsLst>
                    <a:gs pos="0">
                      <a:srgbClr val="F7DCAC"/>
                    </a:gs>
                    <a:gs pos="100000">
                      <a:srgbClr val="88745B"/>
                    </a:gs>
                  </a:gsLst>
                  <a:lin ang="1800000" scaled="0"/>
                </a:gradFill>
                <a:effectLst>
                  <a:outerShdw blurRad="190500" dist="63500" dir="2700000" algn="tl">
                    <a:srgbClr val="000000">
                      <a:alpha val="30000"/>
                    </a:srgbClr>
                  </a:outerShdw>
                </a:effectLst>
                <a:latin typeface="Agency FB" panose="020B0503020202020204" pitchFamily="34" charset="0"/>
                <a:ea typeface="方正黑体简体" panose="02010601030101010101" pitchFamily="2" charset="-122"/>
                <a:cs typeface="+mn-ea"/>
                <a:sym typeface="+mn-lt"/>
              </a:rPr>
              <a:t>04</a:t>
            </a:r>
            <a:endParaRPr lang="zh-CN" altLang="en-US" sz="16600" spc="600" dirty="0">
              <a:gradFill>
                <a:gsLst>
                  <a:gs pos="0">
                    <a:srgbClr val="F7DCAC"/>
                  </a:gs>
                  <a:gs pos="100000">
                    <a:srgbClr val="88745B"/>
                  </a:gs>
                </a:gsLst>
                <a:lin ang="1800000" scaled="0"/>
              </a:gradFill>
              <a:effectLst>
                <a:outerShdw blurRad="190500" dist="63500" dir="2700000" algn="tl">
                  <a:srgbClr val="000000">
                    <a:alpha val="30000"/>
                  </a:srgbClr>
                </a:outerShdw>
              </a:effectLst>
              <a:latin typeface="Agency FB" panose="020B0503020202020204" pitchFamily="34" charset="0"/>
              <a:ea typeface="方正黑体简体" panose="02010601030101010101" pitchFamily="2"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250" advClick="0" advTm="2268">
        <p14:flip dir="r"/>
      </p:transition>
    </mc:Choice>
    <mc:Fallback xmlns="">
      <p:transition advClick="0" advTm="226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3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30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椭圆 20">
            <a:extLst>
              <a:ext uri="{FF2B5EF4-FFF2-40B4-BE49-F238E27FC236}">
                <a16:creationId xmlns:a16="http://schemas.microsoft.com/office/drawing/2014/main" id="{5C27A350-D581-4222-980F-09298F15DA6D}"/>
              </a:ext>
            </a:extLst>
          </p:cNvPr>
          <p:cNvSpPr/>
          <p:nvPr/>
        </p:nvSpPr>
        <p:spPr>
          <a:xfrm>
            <a:off x="8386435" y="1547387"/>
            <a:ext cx="2995585" cy="2995585"/>
          </a:xfrm>
          <a:prstGeom prst="ellipse">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p:cNvSpPr txBox="1"/>
          <p:nvPr/>
        </p:nvSpPr>
        <p:spPr>
          <a:xfrm>
            <a:off x="539982" y="440281"/>
            <a:ext cx="7549659" cy="461665"/>
          </a:xfrm>
          <a:prstGeom prst="rect">
            <a:avLst/>
          </a:prstGeom>
          <a:noFill/>
        </p:spPr>
        <p:txBody>
          <a:bodyPr wrap="square" rtlCol="0">
            <a:spAutoFit/>
          </a:bodyPr>
          <a:lstStyle/>
          <a:p>
            <a:pPr defTabSz="121920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引言</a:t>
            </a:r>
            <a:r>
              <a:rPr lang="en-US" altLang="zh-CN" sz="2400" dirty="0">
                <a:solidFill>
                  <a:srgbClr val="4F4D50"/>
                </a:solidFill>
                <a:latin typeface="方正黑体简体" panose="02010601030101010101" pitchFamily="2" charset="-122"/>
                <a:ea typeface="方正黑体简体" panose="02010601030101010101" pitchFamily="2" charset="-122"/>
                <a:cs typeface="+mn-ea"/>
                <a:sym typeface="+mn-lt"/>
              </a:rPr>
              <a:t>1</a:t>
            </a:r>
            <a:endPar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grpSp>
        <p:nvGrpSpPr>
          <p:cNvPr id="11" name="组合 10">
            <a:extLst>
              <a:ext uri="{FF2B5EF4-FFF2-40B4-BE49-F238E27FC236}">
                <a16:creationId xmlns:a16="http://schemas.microsoft.com/office/drawing/2014/main" id="{1AE7E492-FBC7-428C-BDF4-B1BAFDA01D51}"/>
              </a:ext>
            </a:extLst>
          </p:cNvPr>
          <p:cNvGrpSpPr/>
          <p:nvPr/>
        </p:nvGrpSpPr>
        <p:grpSpPr>
          <a:xfrm>
            <a:off x="1736916" y="1705842"/>
            <a:ext cx="505943" cy="507129"/>
            <a:chOff x="3627907" y="2000250"/>
            <a:chExt cx="1105193" cy="751087"/>
          </a:xfrm>
        </p:grpSpPr>
        <p:sp>
          <p:nvSpPr>
            <p:cNvPr id="12" name="燕尾形 19">
              <a:extLst>
                <a:ext uri="{FF2B5EF4-FFF2-40B4-BE49-F238E27FC236}">
                  <a16:creationId xmlns:a16="http://schemas.microsoft.com/office/drawing/2014/main" id="{E00CA46D-9546-4644-8D55-4AA157206874}"/>
                </a:ext>
              </a:extLst>
            </p:cNvPr>
            <p:cNvSpPr/>
            <p:nvPr/>
          </p:nvSpPr>
          <p:spPr>
            <a:xfrm>
              <a:off x="3627907" y="2000250"/>
              <a:ext cx="601193" cy="742950"/>
            </a:xfrm>
            <a:prstGeom prst="chevron">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20">
              <a:extLst>
                <a:ext uri="{FF2B5EF4-FFF2-40B4-BE49-F238E27FC236}">
                  <a16:creationId xmlns:a16="http://schemas.microsoft.com/office/drawing/2014/main" id="{C83FE0E2-41DA-4081-BB44-9FDC384829A0}"/>
                </a:ext>
              </a:extLst>
            </p:cNvPr>
            <p:cNvSpPr/>
            <p:nvPr/>
          </p:nvSpPr>
          <p:spPr>
            <a:xfrm>
              <a:off x="4131908" y="2008387"/>
              <a:ext cx="601192" cy="742950"/>
            </a:xfrm>
            <a:prstGeom prst="chevron">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5" name="文本框 14">
            <a:extLst>
              <a:ext uri="{FF2B5EF4-FFF2-40B4-BE49-F238E27FC236}">
                <a16:creationId xmlns:a16="http://schemas.microsoft.com/office/drawing/2014/main" id="{58579031-DD78-4FAE-A086-308C5E066E0E}"/>
              </a:ext>
            </a:extLst>
          </p:cNvPr>
          <p:cNvSpPr txBox="1"/>
          <p:nvPr/>
        </p:nvSpPr>
        <p:spPr>
          <a:xfrm>
            <a:off x="2283581" y="1633492"/>
            <a:ext cx="4629591" cy="646331"/>
          </a:xfrm>
          <a:prstGeom prst="rect">
            <a:avLst/>
          </a:prstGeom>
          <a:noFill/>
        </p:spPr>
        <p:txBody>
          <a:bodyPr wrap="square" rtlCol="0">
            <a:spAutoFit/>
          </a:bodyPr>
          <a:lstStyle/>
          <a:p>
            <a:r>
              <a:rPr lang="zh-CN" altLang="en-US" sz="3600" dirty="0">
                <a:solidFill>
                  <a:sysClr val="windowText" lastClr="000000"/>
                </a:solidFill>
                <a:latin typeface="微软雅黑" panose="020B0503020204020204" pitchFamily="34" charset="-122"/>
                <a:ea typeface="微软雅黑" panose="020B0503020204020204" pitchFamily="34" charset="-122"/>
              </a:rPr>
              <a:t>为什么需要分块读写？</a:t>
            </a:r>
          </a:p>
        </p:txBody>
      </p:sp>
      <p:sp>
        <p:nvSpPr>
          <p:cNvPr id="16" name="矩形 15">
            <a:extLst>
              <a:ext uri="{FF2B5EF4-FFF2-40B4-BE49-F238E27FC236}">
                <a16:creationId xmlns:a16="http://schemas.microsoft.com/office/drawing/2014/main" id="{CD170630-01E1-426A-B7FE-9A31DC6939CC}"/>
              </a:ext>
            </a:extLst>
          </p:cNvPr>
          <p:cNvSpPr/>
          <p:nvPr/>
        </p:nvSpPr>
        <p:spPr>
          <a:xfrm>
            <a:off x="1669825" y="2618439"/>
            <a:ext cx="5309473" cy="1884618"/>
          </a:xfrm>
          <a:prstGeom prst="rect">
            <a:avLst/>
          </a:prstGeom>
        </p:spPr>
        <p:txBody>
          <a:bodyPr wrap="square">
            <a:spAutoFit/>
          </a:bodyPr>
          <a:lstStyle/>
          <a:p>
            <a:pPr>
              <a:lnSpc>
                <a:spcPct val="150000"/>
              </a:lnSpc>
            </a:pPr>
            <a:r>
              <a:rPr lang="zh-CN" altLang="en-US" sz="2000" dirty="0">
                <a:solidFill>
                  <a:schemeClr val="tx1">
                    <a:lumMod val="85000"/>
                    <a:lumOff val="15000"/>
                  </a:schemeClr>
                </a:solidFill>
                <a:latin typeface="微软雅黑" pitchFamily="34" charset="-122"/>
                <a:ea typeface="微软雅黑" pitchFamily="34" charset="-122"/>
              </a:rPr>
              <a:t>遥感影像小则几百兆，大则</a:t>
            </a:r>
            <a:r>
              <a:rPr lang="en-US" altLang="zh-CN" sz="2000" dirty="0">
                <a:solidFill>
                  <a:schemeClr val="tx1">
                    <a:lumMod val="85000"/>
                    <a:lumOff val="15000"/>
                  </a:schemeClr>
                </a:solidFill>
                <a:latin typeface="微软雅黑" pitchFamily="34" charset="-122"/>
                <a:ea typeface="微软雅黑" pitchFamily="34" charset="-122"/>
              </a:rPr>
              <a:t>5</a:t>
            </a:r>
            <a:r>
              <a:rPr lang="zh-CN" altLang="en-US" sz="2000" dirty="0">
                <a:solidFill>
                  <a:schemeClr val="tx1">
                    <a:lumMod val="85000"/>
                    <a:lumOff val="15000"/>
                  </a:schemeClr>
                </a:solidFill>
                <a:latin typeface="微软雅黑" pitchFamily="34" charset="-122"/>
                <a:ea typeface="微软雅黑" pitchFamily="34" charset="-122"/>
              </a:rPr>
              <a:t>、</a:t>
            </a:r>
            <a:r>
              <a:rPr lang="en-US" altLang="zh-CN" sz="2000" dirty="0">
                <a:solidFill>
                  <a:schemeClr val="tx1">
                    <a:lumMod val="85000"/>
                    <a:lumOff val="15000"/>
                  </a:schemeClr>
                </a:solidFill>
                <a:latin typeface="微软雅黑" pitchFamily="34" charset="-122"/>
                <a:ea typeface="微软雅黑" pitchFamily="34" charset="-122"/>
              </a:rPr>
              <a:t>6GB</a:t>
            </a:r>
            <a:r>
              <a:rPr lang="zh-CN" altLang="en-US" sz="2000" dirty="0">
                <a:solidFill>
                  <a:schemeClr val="tx1">
                    <a:lumMod val="85000"/>
                    <a:lumOff val="15000"/>
                  </a:schemeClr>
                </a:solidFill>
                <a:latin typeface="微软雅黑" pitchFamily="34" charset="-122"/>
                <a:ea typeface="微软雅黑" pitchFamily="34" charset="-122"/>
              </a:rPr>
              <a:t>，所以在使用</a:t>
            </a:r>
            <a:r>
              <a:rPr lang="en-US" altLang="zh-CN" sz="2000" dirty="0">
                <a:solidFill>
                  <a:schemeClr val="tx1">
                    <a:lumMod val="85000"/>
                    <a:lumOff val="15000"/>
                  </a:schemeClr>
                </a:solidFill>
                <a:latin typeface="微软雅黑" pitchFamily="34" charset="-122"/>
                <a:ea typeface="微软雅黑" pitchFamily="34" charset="-122"/>
              </a:rPr>
              <a:t>GDAL</a:t>
            </a:r>
            <a:r>
              <a:rPr lang="zh-CN" altLang="en-US" sz="2000" dirty="0">
                <a:solidFill>
                  <a:schemeClr val="tx1">
                    <a:lumMod val="85000"/>
                    <a:lumOff val="15000"/>
                  </a:schemeClr>
                </a:solidFill>
                <a:latin typeface="微软雅黑" pitchFamily="34" charset="-122"/>
                <a:ea typeface="微软雅黑" pitchFamily="34" charset="-122"/>
              </a:rPr>
              <a:t>进行图像读取时面临读写速度较慢的问题，常用的方式是借用</a:t>
            </a:r>
            <a:r>
              <a:rPr lang="en-US" altLang="zh-CN" sz="2000" dirty="0">
                <a:solidFill>
                  <a:schemeClr val="tx1">
                    <a:lumMod val="85000"/>
                    <a:lumOff val="15000"/>
                  </a:schemeClr>
                </a:solidFill>
                <a:latin typeface="微软雅黑" pitchFamily="34" charset="-122"/>
                <a:ea typeface="微软雅黑" pitchFamily="34" charset="-122"/>
              </a:rPr>
              <a:t>GDAL</a:t>
            </a:r>
            <a:r>
              <a:rPr lang="zh-CN" altLang="en-US" sz="2000" dirty="0">
                <a:solidFill>
                  <a:schemeClr val="tx1">
                    <a:lumMod val="85000"/>
                    <a:lumOff val="15000"/>
                  </a:schemeClr>
                </a:solidFill>
                <a:latin typeface="微软雅黑" pitchFamily="34" charset="-122"/>
                <a:ea typeface="微软雅黑" pitchFamily="34" charset="-122"/>
              </a:rPr>
              <a:t>中</a:t>
            </a:r>
            <a:r>
              <a:rPr lang="en-US" altLang="zh-CN" sz="2000" dirty="0" err="1">
                <a:solidFill>
                  <a:srgbClr val="FF0000"/>
                </a:solidFill>
                <a:latin typeface="微软雅黑" pitchFamily="34" charset="-122"/>
                <a:ea typeface="微软雅黑" pitchFamily="34" charset="-122"/>
              </a:rPr>
              <a:t>RasterIO</a:t>
            </a:r>
            <a:r>
              <a:rPr lang="zh-CN" altLang="en-US" sz="2000" dirty="0">
                <a:solidFill>
                  <a:schemeClr val="tx1">
                    <a:lumMod val="85000"/>
                    <a:lumOff val="15000"/>
                  </a:schemeClr>
                </a:solidFill>
                <a:latin typeface="微软雅黑" pitchFamily="34" charset="-122"/>
                <a:ea typeface="微软雅黑" pitchFamily="34" charset="-122"/>
              </a:rPr>
              <a:t>函数的机制。</a:t>
            </a:r>
            <a:endParaRPr lang="en-US" altLang="zh-CN" sz="2000" dirty="0">
              <a:solidFill>
                <a:schemeClr val="tx1">
                  <a:lumMod val="85000"/>
                  <a:lumOff val="15000"/>
                </a:schemeClr>
              </a:solidFill>
              <a:latin typeface="微软雅黑" pitchFamily="34" charset="-122"/>
              <a:ea typeface="微软雅黑" pitchFamily="34" charset="-122"/>
            </a:endParaRPr>
          </a:p>
        </p:txBody>
      </p:sp>
      <p:pic>
        <p:nvPicPr>
          <p:cNvPr id="17" name="图片 16">
            <a:extLst>
              <a:ext uri="{FF2B5EF4-FFF2-40B4-BE49-F238E27FC236}">
                <a16:creationId xmlns:a16="http://schemas.microsoft.com/office/drawing/2014/main" id="{ECCAAAA6-F135-4A65-BF79-7B0EE9763D69}"/>
              </a:ext>
            </a:extLst>
          </p:cNvPr>
          <p:cNvPicPr>
            <a:picLocks noChangeAspect="1"/>
          </p:cNvPicPr>
          <p:nvPr/>
        </p:nvPicPr>
        <p:blipFill>
          <a:blip r:embed="rId4"/>
          <a:stretch>
            <a:fillRect/>
          </a:stretch>
        </p:blipFill>
        <p:spPr>
          <a:xfrm>
            <a:off x="8427158" y="1588917"/>
            <a:ext cx="2914141" cy="2914141"/>
          </a:xfrm>
          <a:prstGeom prst="rect">
            <a:avLst/>
          </a:prstGeom>
        </p:spPr>
      </p:pic>
      <p:grpSp>
        <p:nvGrpSpPr>
          <p:cNvPr id="18" name="组合 17">
            <a:extLst>
              <a:ext uri="{FF2B5EF4-FFF2-40B4-BE49-F238E27FC236}">
                <a16:creationId xmlns:a16="http://schemas.microsoft.com/office/drawing/2014/main" id="{4AA92487-DA29-4B75-9A57-C8DFFE831E93}"/>
              </a:ext>
            </a:extLst>
          </p:cNvPr>
          <p:cNvGrpSpPr/>
          <p:nvPr/>
        </p:nvGrpSpPr>
        <p:grpSpPr>
          <a:xfrm>
            <a:off x="8183031" y="3661228"/>
            <a:ext cx="2119086" cy="2119086"/>
            <a:chOff x="5036457" y="2369456"/>
            <a:chExt cx="2119086" cy="2119086"/>
          </a:xfrm>
        </p:grpSpPr>
        <p:sp>
          <p:nvSpPr>
            <p:cNvPr id="19" name="椭圆 18">
              <a:extLst>
                <a:ext uri="{FF2B5EF4-FFF2-40B4-BE49-F238E27FC236}">
                  <a16:creationId xmlns:a16="http://schemas.microsoft.com/office/drawing/2014/main" id="{0A811CE5-4B54-4DD0-9045-9DE312104D9B}"/>
                </a:ext>
              </a:extLst>
            </p:cNvPr>
            <p:cNvSpPr/>
            <p:nvPr/>
          </p:nvSpPr>
          <p:spPr>
            <a:xfrm>
              <a:off x="5036457" y="2369456"/>
              <a:ext cx="2119086" cy="2119086"/>
            </a:xfrm>
            <a:prstGeom prst="ellipse">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 name="图片 19">
              <a:extLst>
                <a:ext uri="{FF2B5EF4-FFF2-40B4-BE49-F238E27FC236}">
                  <a16:creationId xmlns:a16="http://schemas.microsoft.com/office/drawing/2014/main" id="{745A467E-55E1-4B3F-B063-61B395E3202B}"/>
                </a:ext>
              </a:extLst>
            </p:cNvPr>
            <p:cNvPicPr>
              <a:picLocks noChangeAspect="1"/>
            </p:cNvPicPr>
            <p:nvPr/>
          </p:nvPicPr>
          <p:blipFill>
            <a:blip r:embed="rId5"/>
            <a:stretch>
              <a:fillRect/>
            </a:stretch>
          </p:blipFill>
          <p:spPr>
            <a:xfrm>
              <a:off x="5108362" y="2441362"/>
              <a:ext cx="1975275" cy="1975275"/>
            </a:xfrm>
            <a:prstGeom prst="rect">
              <a:avLst/>
            </a:prstGeom>
          </p:spPr>
        </p:pic>
      </p:grpSp>
    </p:spTree>
    <p:extLst>
      <p:ext uri="{BB962C8B-B14F-4D97-AF65-F5344CB8AC3E}">
        <p14:creationId xmlns:p14="http://schemas.microsoft.com/office/powerpoint/2010/main" val="3234811161"/>
      </p:ext>
    </p:extLst>
  </p:cSld>
  <p:clrMapOvr>
    <a:masterClrMapping/>
  </p:clrMapOvr>
  <mc:AlternateContent xmlns:mc="http://schemas.openxmlformats.org/markup-compatibility/2006" xmlns:p14="http://schemas.microsoft.com/office/powerpoint/2010/main">
    <mc:Choice Requires="p14">
      <p:transition p14:dur="250" advClick="0" advTm="8471">
        <p:push dir="u"/>
      </p:transition>
    </mc:Choice>
    <mc:Fallback xmlns="">
      <p:transition advClick="0" advTm="847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0-#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0-#ppt_w/2"/>
                                          </p:val>
                                        </p:tav>
                                        <p:tav tm="100000">
                                          <p:val>
                                            <p:strVal val="#ppt_x"/>
                                          </p:val>
                                        </p:tav>
                                      </p:tavLst>
                                    </p:anim>
                                    <p:anim calcmode="lin" valueType="num">
                                      <p:cBhvr additive="base">
                                        <p:cTn id="22" dur="500" fill="hold"/>
                                        <p:tgtEl>
                                          <p:spTgt spid="15"/>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500" fill="hold"/>
                                        <p:tgtEl>
                                          <p:spTgt spid="17"/>
                                        </p:tgtEl>
                                        <p:attrNameLst>
                                          <p:attrName>ppt_w</p:attrName>
                                        </p:attrNameLst>
                                      </p:cBhvr>
                                      <p:tavLst>
                                        <p:tav tm="0">
                                          <p:val>
                                            <p:fltVal val="0"/>
                                          </p:val>
                                        </p:tav>
                                        <p:tav tm="100000">
                                          <p:val>
                                            <p:strVal val="#ppt_w"/>
                                          </p:val>
                                        </p:tav>
                                      </p:tavLst>
                                    </p:anim>
                                    <p:anim calcmode="lin" valueType="num">
                                      <p:cBhvr>
                                        <p:cTn id="32" dur="500" fill="hold"/>
                                        <p:tgtEl>
                                          <p:spTgt spid="17"/>
                                        </p:tgtEl>
                                        <p:attrNameLst>
                                          <p:attrName>ppt_h</p:attrName>
                                        </p:attrNameLst>
                                      </p:cBhvr>
                                      <p:tavLst>
                                        <p:tav tm="0">
                                          <p:val>
                                            <p:fltVal val="0"/>
                                          </p:val>
                                        </p:tav>
                                        <p:tav tm="100000">
                                          <p:val>
                                            <p:strVal val="#ppt_h"/>
                                          </p:val>
                                        </p:tav>
                                      </p:tavLst>
                                    </p:anim>
                                    <p:animEffect transition="in" filter="fade">
                                      <p:cBhvr>
                                        <p:cTn id="33" dur="500"/>
                                        <p:tgtEl>
                                          <p:spTgt spid="17"/>
                                        </p:tgtEl>
                                      </p:cBhvr>
                                    </p:animEffect>
                                  </p:childTnLst>
                                </p:cTn>
                              </p:par>
                              <p:par>
                                <p:cTn id="34" presetID="53" presetClass="entr" presetSubtype="16"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p:cTn id="36" dur="500" fill="hold"/>
                                        <p:tgtEl>
                                          <p:spTgt spid="18"/>
                                        </p:tgtEl>
                                        <p:attrNameLst>
                                          <p:attrName>ppt_w</p:attrName>
                                        </p:attrNameLst>
                                      </p:cBhvr>
                                      <p:tavLst>
                                        <p:tav tm="0">
                                          <p:val>
                                            <p:fltVal val="0"/>
                                          </p:val>
                                        </p:tav>
                                        <p:tav tm="100000">
                                          <p:val>
                                            <p:strVal val="#ppt_w"/>
                                          </p:val>
                                        </p:tav>
                                      </p:tavLst>
                                    </p:anim>
                                    <p:anim calcmode="lin" valueType="num">
                                      <p:cBhvr>
                                        <p:cTn id="37" dur="500" fill="hold"/>
                                        <p:tgtEl>
                                          <p:spTgt spid="18"/>
                                        </p:tgtEl>
                                        <p:attrNameLst>
                                          <p:attrName>ppt_h</p:attrName>
                                        </p:attrNameLst>
                                      </p:cBhvr>
                                      <p:tavLst>
                                        <p:tav tm="0">
                                          <p:val>
                                            <p:fltVal val="0"/>
                                          </p:val>
                                        </p:tav>
                                        <p:tav tm="100000">
                                          <p:val>
                                            <p:strVal val="#ppt_h"/>
                                          </p:val>
                                        </p:tav>
                                      </p:tavLst>
                                    </p:anim>
                                    <p:animEffect transition="in" filter="fade">
                                      <p:cBhvr>
                                        <p:cTn id="3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椭圆 20">
            <a:extLst>
              <a:ext uri="{FF2B5EF4-FFF2-40B4-BE49-F238E27FC236}">
                <a16:creationId xmlns:a16="http://schemas.microsoft.com/office/drawing/2014/main" id="{5C27A350-D581-4222-980F-09298F15DA6D}"/>
              </a:ext>
            </a:extLst>
          </p:cNvPr>
          <p:cNvSpPr/>
          <p:nvPr/>
        </p:nvSpPr>
        <p:spPr>
          <a:xfrm>
            <a:off x="8386435" y="1547387"/>
            <a:ext cx="2995585" cy="2995585"/>
          </a:xfrm>
          <a:prstGeom prst="ellipse">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p:cNvSpPr txBox="1"/>
          <p:nvPr/>
        </p:nvSpPr>
        <p:spPr>
          <a:xfrm>
            <a:off x="539982" y="440281"/>
            <a:ext cx="7549659" cy="461665"/>
          </a:xfrm>
          <a:prstGeom prst="rect">
            <a:avLst/>
          </a:prstGeom>
          <a:noFill/>
        </p:spPr>
        <p:txBody>
          <a:bodyPr wrap="square" rtlCol="0">
            <a:spAutoFit/>
          </a:bodyPr>
          <a:lstStyle/>
          <a:p>
            <a:pPr defTabSz="121920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引言</a:t>
            </a:r>
            <a:r>
              <a:rPr lang="en-US" altLang="zh-CN" sz="2400" dirty="0">
                <a:solidFill>
                  <a:srgbClr val="4F4D50"/>
                </a:solidFill>
                <a:latin typeface="方正黑体简体" panose="02010601030101010101" pitchFamily="2" charset="-122"/>
                <a:ea typeface="方正黑体简体" panose="02010601030101010101" pitchFamily="2" charset="-122"/>
                <a:cs typeface="+mn-ea"/>
                <a:sym typeface="+mn-lt"/>
              </a:rPr>
              <a:t>2</a:t>
            </a:r>
            <a:endPar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grpSp>
        <p:nvGrpSpPr>
          <p:cNvPr id="11" name="组合 10">
            <a:extLst>
              <a:ext uri="{FF2B5EF4-FFF2-40B4-BE49-F238E27FC236}">
                <a16:creationId xmlns:a16="http://schemas.microsoft.com/office/drawing/2014/main" id="{1AE7E492-FBC7-428C-BDF4-B1BAFDA01D51}"/>
              </a:ext>
            </a:extLst>
          </p:cNvPr>
          <p:cNvGrpSpPr/>
          <p:nvPr/>
        </p:nvGrpSpPr>
        <p:grpSpPr>
          <a:xfrm>
            <a:off x="635903" y="1705842"/>
            <a:ext cx="505943" cy="507129"/>
            <a:chOff x="3627907" y="2000250"/>
            <a:chExt cx="1105193" cy="751087"/>
          </a:xfrm>
        </p:grpSpPr>
        <p:sp>
          <p:nvSpPr>
            <p:cNvPr id="12" name="燕尾形 19">
              <a:extLst>
                <a:ext uri="{FF2B5EF4-FFF2-40B4-BE49-F238E27FC236}">
                  <a16:creationId xmlns:a16="http://schemas.microsoft.com/office/drawing/2014/main" id="{E00CA46D-9546-4644-8D55-4AA157206874}"/>
                </a:ext>
              </a:extLst>
            </p:cNvPr>
            <p:cNvSpPr/>
            <p:nvPr/>
          </p:nvSpPr>
          <p:spPr>
            <a:xfrm>
              <a:off x="3627907" y="2000250"/>
              <a:ext cx="601193" cy="742950"/>
            </a:xfrm>
            <a:prstGeom prst="chevron">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20">
              <a:extLst>
                <a:ext uri="{FF2B5EF4-FFF2-40B4-BE49-F238E27FC236}">
                  <a16:creationId xmlns:a16="http://schemas.microsoft.com/office/drawing/2014/main" id="{C83FE0E2-41DA-4081-BB44-9FDC384829A0}"/>
                </a:ext>
              </a:extLst>
            </p:cNvPr>
            <p:cNvSpPr/>
            <p:nvPr/>
          </p:nvSpPr>
          <p:spPr>
            <a:xfrm>
              <a:off x="4131908" y="2008387"/>
              <a:ext cx="601192" cy="742950"/>
            </a:xfrm>
            <a:prstGeom prst="chevron">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5" name="文本框 14">
            <a:extLst>
              <a:ext uri="{FF2B5EF4-FFF2-40B4-BE49-F238E27FC236}">
                <a16:creationId xmlns:a16="http://schemas.microsoft.com/office/drawing/2014/main" id="{58579031-DD78-4FAE-A086-308C5E066E0E}"/>
              </a:ext>
            </a:extLst>
          </p:cNvPr>
          <p:cNvSpPr txBox="1"/>
          <p:nvPr/>
        </p:nvSpPr>
        <p:spPr>
          <a:xfrm>
            <a:off x="1182568" y="1633492"/>
            <a:ext cx="5628778" cy="646331"/>
          </a:xfrm>
          <a:prstGeom prst="rect">
            <a:avLst/>
          </a:prstGeom>
          <a:noFill/>
        </p:spPr>
        <p:txBody>
          <a:bodyPr wrap="square" rtlCol="0">
            <a:spAutoFit/>
          </a:bodyPr>
          <a:lstStyle/>
          <a:p>
            <a:r>
              <a:rPr lang="zh-CN" altLang="en-US" sz="3600" dirty="0">
                <a:solidFill>
                  <a:sysClr val="windowText" lastClr="000000"/>
                </a:solidFill>
                <a:latin typeface="微软雅黑" panose="020B0503020204020204" pitchFamily="34" charset="-122"/>
                <a:ea typeface="微软雅黑" panose="020B0503020204020204" pitchFamily="34" charset="-122"/>
              </a:rPr>
              <a:t>为什么使用</a:t>
            </a:r>
            <a:r>
              <a:rPr lang="en-US" altLang="zh-CN" sz="3600" dirty="0" err="1">
                <a:solidFill>
                  <a:sysClr val="windowText" lastClr="000000"/>
                </a:solidFill>
                <a:latin typeface="微软雅黑" panose="020B0503020204020204" pitchFamily="34" charset="-122"/>
                <a:ea typeface="微软雅黑" panose="020B0503020204020204" pitchFamily="34" charset="-122"/>
              </a:rPr>
              <a:t>RasterIO</a:t>
            </a:r>
            <a:r>
              <a:rPr lang="zh-CN" altLang="en-US" sz="3600" dirty="0">
                <a:solidFill>
                  <a:sysClr val="windowText" lastClr="000000"/>
                </a:solidFill>
                <a:latin typeface="微软雅黑" panose="020B0503020204020204" pitchFamily="34" charset="-122"/>
                <a:ea typeface="微软雅黑" panose="020B0503020204020204" pitchFamily="34" charset="-122"/>
              </a:rPr>
              <a:t>函数？</a:t>
            </a:r>
          </a:p>
        </p:txBody>
      </p:sp>
      <p:sp>
        <p:nvSpPr>
          <p:cNvPr id="16" name="矩形 15">
            <a:extLst>
              <a:ext uri="{FF2B5EF4-FFF2-40B4-BE49-F238E27FC236}">
                <a16:creationId xmlns:a16="http://schemas.microsoft.com/office/drawing/2014/main" id="{CD170630-01E1-426A-B7FE-9A31DC6939CC}"/>
              </a:ext>
            </a:extLst>
          </p:cNvPr>
          <p:cNvSpPr/>
          <p:nvPr/>
        </p:nvSpPr>
        <p:spPr>
          <a:xfrm>
            <a:off x="866628" y="2446500"/>
            <a:ext cx="6916295" cy="4192943"/>
          </a:xfrm>
          <a:prstGeom prst="rect">
            <a:avLst/>
          </a:prstGeom>
        </p:spPr>
        <p:txBody>
          <a:bodyPr wrap="square">
            <a:spAutoFit/>
          </a:bodyPr>
          <a:lstStyle/>
          <a:p>
            <a:pPr marL="342900" indent="-342900">
              <a:lnSpc>
                <a:spcPct val="150000"/>
              </a:lnSpc>
              <a:buFont typeface="Wingdings" panose="05000000000000000000" pitchFamily="2" charset="2"/>
              <a:buChar char="l"/>
            </a:pPr>
            <a:r>
              <a:rPr lang="en-US" altLang="zh-CN" sz="2000" dirty="0" err="1">
                <a:solidFill>
                  <a:schemeClr val="tx1">
                    <a:lumMod val="85000"/>
                    <a:lumOff val="15000"/>
                  </a:schemeClr>
                </a:solidFill>
                <a:latin typeface="微软雅黑" pitchFamily="34" charset="-122"/>
                <a:ea typeface="微软雅黑" pitchFamily="34" charset="-122"/>
              </a:rPr>
              <a:t>RasterIO</a:t>
            </a:r>
            <a:r>
              <a:rPr lang="zh-CN" altLang="en-US" sz="2000" dirty="0">
                <a:solidFill>
                  <a:schemeClr val="tx1">
                    <a:lumMod val="85000"/>
                    <a:lumOff val="15000"/>
                  </a:schemeClr>
                </a:solidFill>
                <a:latin typeface="微软雅黑" pitchFamily="34" charset="-122"/>
                <a:ea typeface="微软雅黑" pitchFamily="34" charset="-122"/>
              </a:rPr>
              <a:t>（）函数能够对图像任意</a:t>
            </a:r>
            <a:r>
              <a:rPr lang="zh-CN" altLang="en-US" sz="2000" dirty="0">
                <a:solidFill>
                  <a:srgbClr val="FF0000"/>
                </a:solidFill>
                <a:latin typeface="微软雅黑" pitchFamily="34" charset="-122"/>
                <a:ea typeface="微软雅黑" pitchFamily="34" charset="-122"/>
              </a:rPr>
              <a:t>指定区域任意波段</a:t>
            </a:r>
            <a:r>
              <a:rPr lang="zh-CN" altLang="en-US" sz="2000" dirty="0">
                <a:solidFill>
                  <a:schemeClr val="tx1">
                    <a:lumMod val="85000"/>
                    <a:lumOff val="15000"/>
                  </a:schemeClr>
                </a:solidFill>
                <a:latin typeface="微软雅黑" pitchFamily="34" charset="-122"/>
                <a:ea typeface="微软雅黑" pitchFamily="34" charset="-122"/>
              </a:rPr>
              <a:t>的数据按指定数据类型，</a:t>
            </a:r>
            <a:r>
              <a:rPr lang="zh-CN" altLang="en-US" sz="2000" dirty="0">
                <a:solidFill>
                  <a:srgbClr val="FF0000"/>
                </a:solidFill>
                <a:latin typeface="微软雅黑" pitchFamily="34" charset="-122"/>
                <a:ea typeface="微软雅黑" pitchFamily="34" charset="-122"/>
              </a:rPr>
              <a:t>指定排列方式读入内存和写入文件</a:t>
            </a:r>
            <a:r>
              <a:rPr lang="zh-CN" altLang="en-US" sz="2000" dirty="0">
                <a:solidFill>
                  <a:schemeClr val="tx1">
                    <a:lumMod val="85000"/>
                    <a:lumOff val="15000"/>
                  </a:schemeClr>
                </a:solidFill>
                <a:latin typeface="微软雅黑" pitchFamily="34" charset="-122"/>
                <a:ea typeface="微软雅黑" pitchFamily="34" charset="-122"/>
              </a:rPr>
              <a:t>中，因此可以实现对大影像的分块读，运算，写操作。</a:t>
            </a:r>
            <a:endParaRPr lang="en-US" altLang="zh-CN" sz="2000" dirty="0">
              <a:solidFill>
                <a:schemeClr val="tx1">
                  <a:lumMod val="85000"/>
                  <a:lumOff val="15000"/>
                </a:schemeClr>
              </a:solidFill>
              <a:latin typeface="微软雅黑" pitchFamily="34" charset="-122"/>
              <a:ea typeface="微软雅黑" pitchFamily="34" charset="-122"/>
            </a:endParaRPr>
          </a:p>
          <a:p>
            <a:pPr marL="342900" indent="-342900">
              <a:lnSpc>
                <a:spcPct val="150000"/>
              </a:lnSpc>
              <a:buFont typeface="Wingdings" panose="05000000000000000000" pitchFamily="2" charset="2"/>
              <a:buChar char="l"/>
            </a:pPr>
            <a:r>
              <a:rPr lang="zh-CN" altLang="en-US" sz="2000" dirty="0">
                <a:solidFill>
                  <a:schemeClr val="tx1">
                    <a:lumMod val="85000"/>
                    <a:lumOff val="15000"/>
                  </a:schemeClr>
                </a:solidFill>
                <a:latin typeface="微软雅黑" pitchFamily="34" charset="-122"/>
                <a:ea typeface="微软雅黑" pitchFamily="34" charset="-122"/>
              </a:rPr>
              <a:t>对于大图像处理，按照传统方法，首先要将图像所有数据读入内存中，进行相应操作后，再一次性将处理好的数据写入文件中，这样</a:t>
            </a:r>
            <a:r>
              <a:rPr lang="zh-CN" altLang="en-US" sz="2000" dirty="0">
                <a:solidFill>
                  <a:srgbClr val="FF0000"/>
                </a:solidFill>
                <a:latin typeface="微软雅黑" pitchFamily="34" charset="-122"/>
                <a:ea typeface="微软雅黑" pitchFamily="34" charset="-122"/>
              </a:rPr>
              <a:t>需要耗费很大内存</a:t>
            </a:r>
            <a:r>
              <a:rPr lang="zh-CN" altLang="en-US" sz="2000" dirty="0">
                <a:solidFill>
                  <a:schemeClr val="tx1">
                    <a:lumMod val="85000"/>
                    <a:lumOff val="15000"/>
                  </a:schemeClr>
                </a:solidFill>
                <a:latin typeface="微软雅黑" pitchFamily="34" charset="-122"/>
                <a:ea typeface="微软雅黑" pitchFamily="34" charset="-122"/>
              </a:rPr>
              <a:t>，容易</a:t>
            </a:r>
            <a:r>
              <a:rPr lang="zh-CN" altLang="en-US" sz="2000" dirty="0">
                <a:solidFill>
                  <a:srgbClr val="FF0000"/>
                </a:solidFill>
                <a:latin typeface="微软雅黑" pitchFamily="34" charset="-122"/>
                <a:ea typeface="微软雅黑" pitchFamily="34" charset="-122"/>
              </a:rPr>
              <a:t>内存溢出</a:t>
            </a:r>
            <a:r>
              <a:rPr lang="zh-CN" altLang="en-US" sz="2000" dirty="0">
                <a:solidFill>
                  <a:schemeClr val="tx1">
                    <a:lumMod val="85000"/>
                    <a:lumOff val="15000"/>
                  </a:schemeClr>
                </a:solidFill>
                <a:latin typeface="微软雅黑" pitchFamily="34" charset="-122"/>
                <a:ea typeface="微软雅黑" pitchFamily="34" charset="-122"/>
              </a:rPr>
              <a:t>，而且存续可执行行差。</a:t>
            </a:r>
            <a:endParaRPr lang="en-US" altLang="zh-CN" sz="2000" dirty="0">
              <a:solidFill>
                <a:schemeClr val="tx1">
                  <a:lumMod val="85000"/>
                  <a:lumOff val="15000"/>
                </a:schemeClr>
              </a:solidFill>
              <a:latin typeface="微软雅黑" pitchFamily="34" charset="-122"/>
              <a:ea typeface="微软雅黑" pitchFamily="34" charset="-122"/>
            </a:endParaRPr>
          </a:p>
          <a:p>
            <a:pPr marL="342900" indent="-342900">
              <a:lnSpc>
                <a:spcPct val="150000"/>
              </a:lnSpc>
              <a:buFont typeface="Wingdings" panose="05000000000000000000" pitchFamily="2" charset="2"/>
              <a:buChar char="l"/>
            </a:pPr>
            <a:r>
              <a:rPr lang="zh-CN" altLang="en-US" sz="2000" dirty="0">
                <a:solidFill>
                  <a:schemeClr val="tx1">
                    <a:lumMod val="85000"/>
                    <a:lumOff val="15000"/>
                  </a:schemeClr>
                </a:solidFill>
                <a:latin typeface="微软雅黑" pitchFamily="34" charset="-122"/>
                <a:ea typeface="微软雅黑" pitchFamily="34" charset="-122"/>
              </a:rPr>
              <a:t>采用</a:t>
            </a:r>
            <a:r>
              <a:rPr lang="zh-CN" altLang="en-US" sz="2000" dirty="0">
                <a:solidFill>
                  <a:srgbClr val="FF0000"/>
                </a:solidFill>
                <a:latin typeface="微软雅黑" pitchFamily="34" charset="-122"/>
                <a:ea typeface="微软雅黑" pitchFamily="34" charset="-122"/>
              </a:rPr>
              <a:t>分块处理技术</a:t>
            </a:r>
            <a:r>
              <a:rPr lang="zh-CN" altLang="en-US" sz="2000" dirty="0">
                <a:solidFill>
                  <a:schemeClr val="tx1">
                    <a:lumMod val="85000"/>
                    <a:lumOff val="15000"/>
                  </a:schemeClr>
                </a:solidFill>
                <a:latin typeface="微软雅黑" pitchFamily="34" charset="-122"/>
                <a:ea typeface="微软雅黑" pitchFamily="34" charset="-122"/>
              </a:rPr>
              <a:t>，一幅</a:t>
            </a:r>
            <a:r>
              <a:rPr lang="en-US" altLang="zh-CN" sz="2000" dirty="0">
                <a:solidFill>
                  <a:schemeClr val="tx1">
                    <a:lumMod val="85000"/>
                    <a:lumOff val="15000"/>
                  </a:schemeClr>
                </a:solidFill>
                <a:latin typeface="微软雅黑" pitchFamily="34" charset="-122"/>
                <a:ea typeface="微软雅黑" pitchFamily="34" charset="-122"/>
              </a:rPr>
              <a:t>1G</a:t>
            </a:r>
            <a:r>
              <a:rPr lang="zh-CN" altLang="en-US" sz="2000" dirty="0">
                <a:solidFill>
                  <a:schemeClr val="tx1">
                    <a:lumMod val="85000"/>
                    <a:lumOff val="15000"/>
                  </a:schemeClr>
                </a:solidFill>
                <a:latin typeface="微软雅黑" pitchFamily="34" charset="-122"/>
                <a:ea typeface="微软雅黑" pitchFamily="34" charset="-122"/>
              </a:rPr>
              <a:t>的影像，在整个数据处理过程中，可以只占用几十兆的内存，而且运算量不会增加。</a:t>
            </a:r>
            <a:endParaRPr lang="en-US" altLang="zh-CN" sz="2000" dirty="0">
              <a:solidFill>
                <a:schemeClr val="tx1">
                  <a:lumMod val="85000"/>
                  <a:lumOff val="15000"/>
                </a:schemeClr>
              </a:solidFill>
              <a:latin typeface="微软雅黑" pitchFamily="34" charset="-122"/>
              <a:ea typeface="微软雅黑" pitchFamily="34" charset="-122"/>
            </a:endParaRPr>
          </a:p>
        </p:txBody>
      </p:sp>
      <p:pic>
        <p:nvPicPr>
          <p:cNvPr id="17" name="图片 16">
            <a:extLst>
              <a:ext uri="{FF2B5EF4-FFF2-40B4-BE49-F238E27FC236}">
                <a16:creationId xmlns:a16="http://schemas.microsoft.com/office/drawing/2014/main" id="{ECCAAAA6-F135-4A65-BF79-7B0EE9763D69}"/>
              </a:ext>
            </a:extLst>
          </p:cNvPr>
          <p:cNvPicPr>
            <a:picLocks noChangeAspect="1"/>
          </p:cNvPicPr>
          <p:nvPr/>
        </p:nvPicPr>
        <p:blipFill>
          <a:blip r:embed="rId4"/>
          <a:stretch>
            <a:fillRect/>
          </a:stretch>
        </p:blipFill>
        <p:spPr>
          <a:xfrm>
            <a:off x="8427158" y="1588917"/>
            <a:ext cx="2914141" cy="2914141"/>
          </a:xfrm>
          <a:prstGeom prst="rect">
            <a:avLst/>
          </a:prstGeom>
        </p:spPr>
      </p:pic>
      <p:grpSp>
        <p:nvGrpSpPr>
          <p:cNvPr id="18" name="组合 17">
            <a:extLst>
              <a:ext uri="{FF2B5EF4-FFF2-40B4-BE49-F238E27FC236}">
                <a16:creationId xmlns:a16="http://schemas.microsoft.com/office/drawing/2014/main" id="{4AA92487-DA29-4B75-9A57-C8DFFE831E93}"/>
              </a:ext>
            </a:extLst>
          </p:cNvPr>
          <p:cNvGrpSpPr/>
          <p:nvPr/>
        </p:nvGrpSpPr>
        <p:grpSpPr>
          <a:xfrm>
            <a:off x="8183031" y="3661228"/>
            <a:ext cx="2119086" cy="2119086"/>
            <a:chOff x="5036457" y="2369456"/>
            <a:chExt cx="2119086" cy="2119086"/>
          </a:xfrm>
        </p:grpSpPr>
        <p:sp>
          <p:nvSpPr>
            <p:cNvPr id="19" name="椭圆 18">
              <a:extLst>
                <a:ext uri="{FF2B5EF4-FFF2-40B4-BE49-F238E27FC236}">
                  <a16:creationId xmlns:a16="http://schemas.microsoft.com/office/drawing/2014/main" id="{0A811CE5-4B54-4DD0-9045-9DE312104D9B}"/>
                </a:ext>
              </a:extLst>
            </p:cNvPr>
            <p:cNvSpPr/>
            <p:nvPr/>
          </p:nvSpPr>
          <p:spPr>
            <a:xfrm>
              <a:off x="5036457" y="2369456"/>
              <a:ext cx="2119086" cy="2119086"/>
            </a:xfrm>
            <a:prstGeom prst="ellipse">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 name="图片 19">
              <a:extLst>
                <a:ext uri="{FF2B5EF4-FFF2-40B4-BE49-F238E27FC236}">
                  <a16:creationId xmlns:a16="http://schemas.microsoft.com/office/drawing/2014/main" id="{745A467E-55E1-4B3F-B063-61B395E3202B}"/>
                </a:ext>
              </a:extLst>
            </p:cNvPr>
            <p:cNvPicPr>
              <a:picLocks noChangeAspect="1"/>
            </p:cNvPicPr>
            <p:nvPr/>
          </p:nvPicPr>
          <p:blipFill>
            <a:blip r:embed="rId5"/>
            <a:stretch>
              <a:fillRect/>
            </a:stretch>
          </p:blipFill>
          <p:spPr>
            <a:xfrm>
              <a:off x="5108362" y="2441362"/>
              <a:ext cx="1975275" cy="1975275"/>
            </a:xfrm>
            <a:prstGeom prst="rect">
              <a:avLst/>
            </a:prstGeom>
          </p:spPr>
        </p:pic>
      </p:grpSp>
    </p:spTree>
    <p:extLst>
      <p:ext uri="{BB962C8B-B14F-4D97-AF65-F5344CB8AC3E}">
        <p14:creationId xmlns:p14="http://schemas.microsoft.com/office/powerpoint/2010/main" val="4026915763"/>
      </p:ext>
    </p:extLst>
  </p:cSld>
  <p:clrMapOvr>
    <a:masterClrMapping/>
  </p:clrMapOvr>
  <mc:AlternateContent xmlns:mc="http://schemas.openxmlformats.org/markup-compatibility/2006" xmlns:p14="http://schemas.microsoft.com/office/powerpoint/2010/main">
    <mc:Choice Requires="p14">
      <p:transition p14:dur="250" advClick="0" advTm="8471">
        <p:push dir="u"/>
      </p:transition>
    </mc:Choice>
    <mc:Fallback xmlns="">
      <p:transition advClick="0" advTm="847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0-#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0-#ppt_w/2"/>
                                          </p:val>
                                        </p:tav>
                                        <p:tav tm="100000">
                                          <p:val>
                                            <p:strVal val="#ppt_x"/>
                                          </p:val>
                                        </p:tav>
                                      </p:tavLst>
                                    </p:anim>
                                    <p:anim calcmode="lin" valueType="num">
                                      <p:cBhvr additive="base">
                                        <p:cTn id="22" dur="500" fill="hold"/>
                                        <p:tgtEl>
                                          <p:spTgt spid="15"/>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500" fill="hold"/>
                                        <p:tgtEl>
                                          <p:spTgt spid="17"/>
                                        </p:tgtEl>
                                        <p:attrNameLst>
                                          <p:attrName>ppt_w</p:attrName>
                                        </p:attrNameLst>
                                      </p:cBhvr>
                                      <p:tavLst>
                                        <p:tav tm="0">
                                          <p:val>
                                            <p:fltVal val="0"/>
                                          </p:val>
                                        </p:tav>
                                        <p:tav tm="100000">
                                          <p:val>
                                            <p:strVal val="#ppt_w"/>
                                          </p:val>
                                        </p:tav>
                                      </p:tavLst>
                                    </p:anim>
                                    <p:anim calcmode="lin" valueType="num">
                                      <p:cBhvr>
                                        <p:cTn id="32" dur="500" fill="hold"/>
                                        <p:tgtEl>
                                          <p:spTgt spid="17"/>
                                        </p:tgtEl>
                                        <p:attrNameLst>
                                          <p:attrName>ppt_h</p:attrName>
                                        </p:attrNameLst>
                                      </p:cBhvr>
                                      <p:tavLst>
                                        <p:tav tm="0">
                                          <p:val>
                                            <p:fltVal val="0"/>
                                          </p:val>
                                        </p:tav>
                                        <p:tav tm="100000">
                                          <p:val>
                                            <p:strVal val="#ppt_h"/>
                                          </p:val>
                                        </p:tav>
                                      </p:tavLst>
                                    </p:anim>
                                    <p:animEffect transition="in" filter="fade">
                                      <p:cBhvr>
                                        <p:cTn id="33" dur="500"/>
                                        <p:tgtEl>
                                          <p:spTgt spid="17"/>
                                        </p:tgtEl>
                                      </p:cBhvr>
                                    </p:animEffect>
                                  </p:childTnLst>
                                </p:cTn>
                              </p:par>
                              <p:par>
                                <p:cTn id="34" presetID="53" presetClass="entr" presetSubtype="16"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p:cTn id="36" dur="500" fill="hold"/>
                                        <p:tgtEl>
                                          <p:spTgt spid="18"/>
                                        </p:tgtEl>
                                        <p:attrNameLst>
                                          <p:attrName>ppt_w</p:attrName>
                                        </p:attrNameLst>
                                      </p:cBhvr>
                                      <p:tavLst>
                                        <p:tav tm="0">
                                          <p:val>
                                            <p:fltVal val="0"/>
                                          </p:val>
                                        </p:tav>
                                        <p:tav tm="100000">
                                          <p:val>
                                            <p:strVal val="#ppt_w"/>
                                          </p:val>
                                        </p:tav>
                                      </p:tavLst>
                                    </p:anim>
                                    <p:anim calcmode="lin" valueType="num">
                                      <p:cBhvr>
                                        <p:cTn id="37" dur="500" fill="hold"/>
                                        <p:tgtEl>
                                          <p:spTgt spid="18"/>
                                        </p:tgtEl>
                                        <p:attrNameLst>
                                          <p:attrName>ppt_h</p:attrName>
                                        </p:attrNameLst>
                                      </p:cBhvr>
                                      <p:tavLst>
                                        <p:tav tm="0">
                                          <p:val>
                                            <p:fltVal val="0"/>
                                          </p:val>
                                        </p:tav>
                                        <p:tav tm="100000">
                                          <p:val>
                                            <p:strVal val="#ppt_h"/>
                                          </p:val>
                                        </p:tav>
                                      </p:tavLst>
                                    </p:anim>
                                    <p:animEffect transition="in" filter="fade">
                                      <p:cBhvr>
                                        <p:cTn id="3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p:cNvSpPr txBox="1"/>
          <p:nvPr/>
        </p:nvSpPr>
        <p:spPr>
          <a:xfrm>
            <a:off x="539981" y="440281"/>
            <a:ext cx="7227443" cy="461665"/>
          </a:xfrm>
          <a:prstGeom prst="rect">
            <a:avLst/>
          </a:prstGeom>
          <a:noFill/>
        </p:spPr>
        <p:txBody>
          <a:bodyPr wrap="square" rtlCol="0">
            <a:spAutoFit/>
          </a:bodyPr>
          <a:lstStyle/>
          <a:p>
            <a:pPr defTabSz="121920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两类</a:t>
            </a:r>
            <a:r>
              <a:rPr lang="en-US" altLang="zh-CN" sz="2400" dirty="0" err="1">
                <a:solidFill>
                  <a:srgbClr val="4F4D50"/>
                </a:solidFill>
                <a:latin typeface="方正黑体简体" panose="02010601030101010101" pitchFamily="2" charset="-122"/>
                <a:ea typeface="方正黑体简体" panose="02010601030101010101" pitchFamily="2" charset="-122"/>
                <a:cs typeface="+mn-ea"/>
                <a:sym typeface="+mn-lt"/>
              </a:rPr>
              <a:t>RasterIO</a:t>
            </a:r>
            <a:r>
              <a:rPr lang="en-US" altLang="zh-CN" sz="2400" dirty="0">
                <a:solidFill>
                  <a:srgbClr val="4F4D50"/>
                </a:solidFill>
                <a:latin typeface="方正黑体简体" panose="02010601030101010101" pitchFamily="2" charset="-122"/>
                <a:ea typeface="方正黑体简体" panose="02010601030101010101" pitchFamily="2" charset="-122"/>
                <a:cs typeface="+mn-ea"/>
                <a:sym typeface="+mn-lt"/>
              </a:rPr>
              <a:t>()</a:t>
            </a: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函数（以</a:t>
            </a:r>
            <a:r>
              <a:rPr lang="en-US" altLang="zh-CN" sz="2400" dirty="0" err="1">
                <a:solidFill>
                  <a:srgbClr val="4F4D50"/>
                </a:solidFill>
                <a:latin typeface="方正黑体简体" panose="02010601030101010101" pitchFamily="2" charset="-122"/>
                <a:ea typeface="方正黑体简体" panose="02010601030101010101" pitchFamily="2" charset="-122"/>
                <a:cs typeface="+mn-ea"/>
                <a:sym typeface="+mn-lt"/>
              </a:rPr>
              <a:t>GDALDataset</a:t>
            </a: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中的为例）</a:t>
            </a:r>
          </a:p>
        </p:txBody>
      </p:sp>
      <p:sp>
        <p:nvSpPr>
          <p:cNvPr id="11" name="文本框 10">
            <a:extLst>
              <a:ext uri="{FF2B5EF4-FFF2-40B4-BE49-F238E27FC236}">
                <a16:creationId xmlns:a16="http://schemas.microsoft.com/office/drawing/2014/main" id="{304245A0-4469-4E86-AF31-BBB0F1695C49}"/>
              </a:ext>
            </a:extLst>
          </p:cNvPr>
          <p:cNvSpPr txBox="1"/>
          <p:nvPr/>
        </p:nvSpPr>
        <p:spPr>
          <a:xfrm>
            <a:off x="492653" y="997956"/>
            <a:ext cx="6040644" cy="4901726"/>
          </a:xfrm>
          <a:prstGeom prst="rect">
            <a:avLst/>
          </a:prstGeom>
          <a:noFill/>
        </p:spPr>
        <p:txBody>
          <a:bodyPr wrap="square" rtlCol="0">
            <a:spAutoFit/>
          </a:bodyPr>
          <a:lstStyle/>
          <a:p>
            <a:pPr defTabSz="1219200">
              <a:lnSpc>
                <a:spcPct val="150000"/>
              </a:lnSpc>
            </a:pP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CPLErr</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GDALDataset</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RasterIO</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GDALRWFlag</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eRWFlag</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int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nXOff</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int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nYOff</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int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nXSize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int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nYSize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void *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pData</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int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nBufXSize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int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nBufYSize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GDALDataType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eBufType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int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nBandCount</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int *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panBandMap</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int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nPixelSpace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int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nLineSpace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int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nBandSpace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a:t>
            </a:r>
          </a:p>
          <a:p>
            <a:pPr defTabSz="1219200">
              <a:lnSpc>
                <a:spcPct val="150000"/>
              </a:lnSpc>
            </a:pP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endPar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endParaRPr>
          </a:p>
        </p:txBody>
      </p:sp>
      <p:sp>
        <p:nvSpPr>
          <p:cNvPr id="22" name="文本框 21">
            <a:extLst>
              <a:ext uri="{FF2B5EF4-FFF2-40B4-BE49-F238E27FC236}">
                <a16:creationId xmlns:a16="http://schemas.microsoft.com/office/drawing/2014/main" id="{FFD723B0-B844-41CC-A376-A44BF87F2F3F}"/>
              </a:ext>
            </a:extLst>
          </p:cNvPr>
          <p:cNvSpPr txBox="1"/>
          <p:nvPr/>
        </p:nvSpPr>
        <p:spPr>
          <a:xfrm>
            <a:off x="6068007" y="1007287"/>
            <a:ext cx="6220408" cy="5224892"/>
          </a:xfrm>
          <a:prstGeom prst="rect">
            <a:avLst/>
          </a:prstGeom>
          <a:noFill/>
        </p:spPr>
        <p:txBody>
          <a:bodyPr wrap="square" rtlCol="0">
            <a:spAutoFit/>
          </a:bodyPr>
          <a:lstStyle/>
          <a:p>
            <a:pPr defTabSz="1219200">
              <a:lnSpc>
                <a:spcPct val="150000"/>
              </a:lnSpc>
            </a:pP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参数</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1</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：读写标记。如果为</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GF_Read</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，则是将影像内容写入内存，如果为</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GF_Write</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，则是将内存中内容写入文件。</a:t>
            </a:r>
            <a:endPar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endParaRPr>
          </a:p>
          <a:p>
            <a:pPr defTabSz="1219200">
              <a:lnSpc>
                <a:spcPct val="150000"/>
              </a:lnSpc>
            </a:pP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参数</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2</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3</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：读写开始位置。相对于图像左上角顶点</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从零开始</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的行列偏移量。</a:t>
            </a:r>
            <a:endPar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endParaRPr>
          </a:p>
          <a:p>
            <a:pPr defTabSz="1219200">
              <a:lnSpc>
                <a:spcPct val="150000"/>
              </a:lnSpc>
            </a:pP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参数</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4</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5</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：要读写的块在</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x</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方向的象素个数和</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y</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方向的象素列数。</a:t>
            </a:r>
            <a:endPar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endParaRPr>
          </a:p>
          <a:p>
            <a:pPr defTabSz="1219200">
              <a:lnSpc>
                <a:spcPct val="150000"/>
              </a:lnSpc>
            </a:pP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参数</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6</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：指向目标缓冲区的指针，由用户分配。</a:t>
            </a:r>
            <a:endPar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endParaRPr>
          </a:p>
          <a:p>
            <a:pPr defTabSz="1219200">
              <a:lnSpc>
                <a:spcPct val="150000"/>
              </a:lnSpc>
            </a:pP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参数</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7</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8</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：目标块在</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x</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方向上和</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y</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方向上的大小。</a:t>
            </a:r>
            <a:endPar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endParaRPr>
          </a:p>
          <a:p>
            <a:pPr defTabSz="1219200">
              <a:lnSpc>
                <a:spcPct val="150000"/>
              </a:lnSpc>
            </a:pP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参数</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9</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：目标缓冲区的数据类型，原类型会自动转换为目标类型。</a:t>
            </a:r>
            <a:endPar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endParaRPr>
          </a:p>
          <a:p>
            <a:pPr defTabSz="1219200">
              <a:lnSpc>
                <a:spcPct val="150000"/>
              </a:lnSpc>
            </a:pP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参数</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10</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：要处理的波段数。</a:t>
            </a:r>
            <a:endPar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endParaRPr>
          </a:p>
          <a:p>
            <a:pPr defTabSz="1219200">
              <a:lnSpc>
                <a:spcPct val="150000"/>
              </a:lnSpc>
            </a:pP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参数</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11</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：记录要操作的波段的索引</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波段索引从</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1</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开始</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的数组，若为空则数组中存放的是前</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nBandCount</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个波段的索引。</a:t>
            </a:r>
            <a:endPar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endParaRPr>
          </a:p>
          <a:p>
            <a:pPr defTabSz="1219200">
              <a:lnSpc>
                <a:spcPct val="150000"/>
              </a:lnSpc>
            </a:pP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参数</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12</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X</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方向上两个相邻象素之间的字节偏移，默认为</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0</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，则列间的实际字节偏移由目标数据类型</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eBufType</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确定。</a:t>
            </a:r>
            <a:endPar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endParaRPr>
          </a:p>
          <a:p>
            <a:pPr defTabSz="1219200">
              <a:lnSpc>
                <a:spcPct val="150000"/>
              </a:lnSpc>
            </a:pP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参数</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13</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y</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方向上相邻两行之间的字节偏移</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默认为</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0</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，则行间的实际字节偏移为</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eBufType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nBufXSize</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a:t>
            </a:r>
            <a:endPar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endParaRPr>
          </a:p>
          <a:p>
            <a:pPr defTabSz="1219200">
              <a:lnSpc>
                <a:spcPct val="150000"/>
              </a:lnSpc>
            </a:pP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参数</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14</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：相邻两波段之间的字节偏移，默认为</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0,</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则意味着波段是顺序结构的，其间字节偏移为</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nLineSpace</a:t>
            </a:r>
            <a:r>
              <a:rPr lang="en-US" altLang="zh-CN" sz="1400" b="1" dirty="0">
                <a:solidFill>
                  <a:srgbClr val="686769"/>
                </a:solidFill>
                <a:latin typeface="方正黑体简体" panose="02010601030101010101" pitchFamily="2" charset="-122"/>
                <a:ea typeface="方正黑体简体" panose="02010601030101010101" pitchFamily="2" charset="-122"/>
                <a:cs typeface="+mn-ea"/>
                <a:sym typeface="+mn-lt"/>
              </a:rPr>
              <a:t> * </a:t>
            </a:r>
            <a:r>
              <a:rPr lang="en-US" altLang="zh-CN" sz="1400" b="1" dirty="0" err="1">
                <a:solidFill>
                  <a:srgbClr val="686769"/>
                </a:solidFill>
                <a:latin typeface="方正黑体简体" panose="02010601030101010101" pitchFamily="2" charset="-122"/>
                <a:ea typeface="方正黑体简体" panose="02010601030101010101" pitchFamily="2" charset="-122"/>
                <a:cs typeface="+mn-ea"/>
                <a:sym typeface="+mn-lt"/>
              </a:rPr>
              <a:t>nBufYSize</a:t>
            </a:r>
            <a:r>
              <a:rPr lang="zh-CN" altLang="en-US" sz="1400" b="1" dirty="0">
                <a:solidFill>
                  <a:srgbClr val="686769"/>
                </a:solidFill>
                <a:latin typeface="方正黑体简体" panose="02010601030101010101" pitchFamily="2" charset="-122"/>
                <a:ea typeface="方正黑体简体" panose="02010601030101010101" pitchFamily="2" charset="-122"/>
                <a:cs typeface="+mn-ea"/>
                <a:sym typeface="+mn-lt"/>
              </a:rPr>
              <a:t>。</a:t>
            </a:r>
          </a:p>
        </p:txBody>
      </p:sp>
    </p:spTree>
    <p:extLst>
      <p:ext uri="{BB962C8B-B14F-4D97-AF65-F5344CB8AC3E}">
        <p14:creationId xmlns:p14="http://schemas.microsoft.com/office/powerpoint/2010/main" val="3395367563"/>
      </p:ext>
    </p:extLst>
  </p:cSld>
  <p:clrMapOvr>
    <a:masterClrMapping/>
  </p:clrMapOvr>
  <mc:AlternateContent xmlns:mc="http://schemas.openxmlformats.org/markup-compatibility/2006" xmlns:p14="http://schemas.microsoft.com/office/powerpoint/2010/main">
    <mc:Choice Requires="p14">
      <p:transition p14:dur="250" advClick="0" advTm="8471">
        <p:push dir="u"/>
      </p:transition>
    </mc:Choice>
    <mc:Fallback xmlns="">
      <p:transition advClick="0" advTm="847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1000"/>
                                        <p:tgtEl>
                                          <p:spTgt spid="11"/>
                                        </p:tgtEl>
                                      </p:cBhvr>
                                    </p:animEffect>
                                    <p:anim calcmode="lin" valueType="num">
                                      <p:cBhvr>
                                        <p:cTn id="16" dur="1000" fill="hold"/>
                                        <p:tgtEl>
                                          <p:spTgt spid="11"/>
                                        </p:tgtEl>
                                        <p:attrNameLst>
                                          <p:attrName>ppt_x</p:attrName>
                                        </p:attrNameLst>
                                      </p:cBhvr>
                                      <p:tavLst>
                                        <p:tav tm="0">
                                          <p:val>
                                            <p:strVal val="#ppt_x"/>
                                          </p:val>
                                        </p:tav>
                                        <p:tav tm="100000">
                                          <p:val>
                                            <p:strVal val="#ppt_x"/>
                                          </p:val>
                                        </p:tav>
                                      </p:tavLst>
                                    </p:anim>
                                    <p:anim calcmode="lin" valueType="num">
                                      <p:cBhvr>
                                        <p:cTn id="17" dur="1000" fill="hold"/>
                                        <p:tgtEl>
                                          <p:spTgt spid="11"/>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1000"/>
                                        <p:tgtEl>
                                          <p:spTgt spid="22"/>
                                        </p:tgtEl>
                                      </p:cBhvr>
                                    </p:animEffect>
                                    <p:anim calcmode="lin" valueType="num">
                                      <p:cBhvr>
                                        <p:cTn id="21" dur="1000" fill="hold"/>
                                        <p:tgtEl>
                                          <p:spTgt spid="22"/>
                                        </p:tgtEl>
                                        <p:attrNameLst>
                                          <p:attrName>ppt_x</p:attrName>
                                        </p:attrNameLst>
                                      </p:cBhvr>
                                      <p:tavLst>
                                        <p:tav tm="0">
                                          <p:val>
                                            <p:strVal val="#ppt_x"/>
                                          </p:val>
                                        </p:tav>
                                        <p:tav tm="100000">
                                          <p:val>
                                            <p:strVal val="#ppt_x"/>
                                          </p:val>
                                        </p:tav>
                                      </p:tavLst>
                                    </p:anim>
                                    <p:anim calcmode="lin" valueType="num">
                                      <p:cBhvr>
                                        <p:cTn id="22"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2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p:cNvSpPr txBox="1"/>
          <p:nvPr/>
        </p:nvSpPr>
        <p:spPr>
          <a:xfrm>
            <a:off x="539981" y="440281"/>
            <a:ext cx="7227443" cy="461665"/>
          </a:xfrm>
          <a:prstGeom prst="rect">
            <a:avLst/>
          </a:prstGeom>
          <a:noFill/>
        </p:spPr>
        <p:txBody>
          <a:bodyPr wrap="square" rtlCol="0">
            <a:spAutoFit/>
          </a:bodyPr>
          <a:lstStyle/>
          <a:p>
            <a:pPr defTabSz="121920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两类</a:t>
            </a:r>
            <a:r>
              <a:rPr lang="en-US" altLang="zh-CN" sz="2400" dirty="0" err="1">
                <a:solidFill>
                  <a:srgbClr val="4F4D50"/>
                </a:solidFill>
                <a:latin typeface="方正黑体简体" panose="02010601030101010101" pitchFamily="2" charset="-122"/>
                <a:ea typeface="方正黑体简体" panose="02010601030101010101" pitchFamily="2" charset="-122"/>
                <a:cs typeface="+mn-ea"/>
                <a:sym typeface="+mn-lt"/>
              </a:rPr>
              <a:t>RasterIO</a:t>
            </a:r>
            <a:r>
              <a:rPr lang="en-US" altLang="zh-CN" sz="2400" dirty="0">
                <a:solidFill>
                  <a:srgbClr val="4F4D50"/>
                </a:solidFill>
                <a:latin typeface="方正黑体简体" panose="02010601030101010101" pitchFamily="2" charset="-122"/>
                <a:ea typeface="方正黑体简体" panose="02010601030101010101" pitchFamily="2" charset="-122"/>
                <a:cs typeface="+mn-ea"/>
                <a:sym typeface="+mn-lt"/>
              </a:rPr>
              <a:t>()</a:t>
            </a: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函数（以</a:t>
            </a:r>
            <a:r>
              <a:rPr lang="en-US" altLang="zh-CN" sz="2400" dirty="0" err="1">
                <a:solidFill>
                  <a:srgbClr val="4F4D50"/>
                </a:solidFill>
                <a:latin typeface="方正黑体简体" panose="02010601030101010101" pitchFamily="2" charset="-122"/>
                <a:ea typeface="方正黑体简体" panose="02010601030101010101" pitchFamily="2" charset="-122"/>
                <a:cs typeface="+mn-ea"/>
                <a:sym typeface="+mn-lt"/>
              </a:rPr>
              <a:t>GDALDataset</a:t>
            </a: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中的为例）</a:t>
            </a:r>
          </a:p>
        </p:txBody>
      </p:sp>
      <p:sp>
        <p:nvSpPr>
          <p:cNvPr id="7" name="文本框 6">
            <a:extLst>
              <a:ext uri="{FF2B5EF4-FFF2-40B4-BE49-F238E27FC236}">
                <a16:creationId xmlns:a16="http://schemas.microsoft.com/office/drawing/2014/main" id="{7496A110-A4A8-4A7F-B3DE-5FA3D8DB60E3}"/>
              </a:ext>
            </a:extLst>
          </p:cNvPr>
          <p:cNvSpPr txBox="1"/>
          <p:nvPr/>
        </p:nvSpPr>
        <p:spPr>
          <a:xfrm>
            <a:off x="311683" y="1848971"/>
            <a:ext cx="11339544" cy="3198311"/>
          </a:xfrm>
          <a:prstGeom prst="rect">
            <a:avLst/>
          </a:prstGeom>
          <a:noFill/>
        </p:spPr>
        <p:txBody>
          <a:bodyPr wrap="square">
            <a:spAutoFit/>
          </a:bodyPr>
          <a:lstStyle/>
          <a:p>
            <a:pPr>
              <a:spcBef>
                <a:spcPts val="120"/>
              </a:spcBef>
              <a:spcAft>
                <a:spcPts val="120"/>
              </a:spcAft>
            </a:pP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int </a:t>
            </a:r>
            <a:r>
              <a:rPr lang="en-US" altLang="zh-CN" sz="2000" kern="100" dirty="0" err="1">
                <a:effectLst/>
                <a:latin typeface="宋体" panose="02010600030101010101" pitchFamily="2" charset="-122"/>
                <a:ea typeface="等线" panose="02010600030101010101" pitchFamily="2" charset="-122"/>
                <a:cs typeface="Times New Roman" panose="02020603050405020304" pitchFamily="18" charset="0"/>
              </a:rPr>
              <a:t>panBandMap</a:t>
            </a: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 [3]= {3,2,1};   //</a:t>
            </a:r>
            <a:r>
              <a:rPr lang="zh-CN" altLang="zh-CN" sz="2000" kern="100" dirty="0">
                <a:effectLst/>
                <a:latin typeface="等线" panose="02010600030101010101" pitchFamily="2" charset="-122"/>
                <a:ea typeface="宋体" panose="02010600030101010101" pitchFamily="2" charset="-122"/>
                <a:cs typeface="Times New Roman" panose="02020603050405020304" pitchFamily="18" charset="0"/>
              </a:rPr>
              <a:t>按照</a:t>
            </a:r>
            <a:r>
              <a:rPr lang="en-US" altLang="zh-CN" sz="2000" kern="100" dirty="0">
                <a:effectLst/>
                <a:latin typeface="等线" panose="02010600030101010101" pitchFamily="2" charset="-122"/>
                <a:ea typeface="宋体" panose="02010600030101010101" pitchFamily="2" charset="-122"/>
                <a:cs typeface="Times New Roman" panose="02020603050405020304" pitchFamily="18" charset="0"/>
              </a:rPr>
              <a:t>BGR </a:t>
            </a:r>
            <a:r>
              <a:rPr lang="en-US" altLang="zh-CN" sz="2000" kern="100" dirty="0" err="1">
                <a:effectLst/>
                <a:latin typeface="等线" panose="02010600030101010101" pitchFamily="2" charset="-122"/>
                <a:ea typeface="宋体" panose="02010600030101010101" pitchFamily="2" charset="-122"/>
                <a:cs typeface="Times New Roman" panose="02020603050405020304" pitchFamily="18" charset="0"/>
              </a:rPr>
              <a:t>BGR</a:t>
            </a:r>
            <a:r>
              <a:rPr lang="en-US" altLang="zh-CN" sz="2000" kern="100" dirty="0">
                <a:effectLst/>
                <a:latin typeface="等线" panose="02010600030101010101" pitchFamily="2" charset="-122"/>
                <a:ea typeface="宋体" panose="02010600030101010101" pitchFamily="2" charset="-122"/>
                <a:cs typeface="Times New Roman" panose="02020603050405020304" pitchFamily="18" charset="0"/>
              </a:rPr>
              <a:t> </a:t>
            </a:r>
            <a:r>
              <a:rPr lang="en-US" altLang="zh-CN" sz="2000" kern="100" dirty="0" err="1">
                <a:effectLst/>
                <a:latin typeface="等线" panose="02010600030101010101" pitchFamily="2" charset="-122"/>
                <a:ea typeface="宋体" panose="02010600030101010101" pitchFamily="2" charset="-122"/>
                <a:cs typeface="Times New Roman" panose="02020603050405020304" pitchFamily="18" charset="0"/>
              </a:rPr>
              <a:t>BGR</a:t>
            </a:r>
            <a:r>
              <a:rPr lang="en-US" altLang="zh-CN" sz="2000" kern="100" dirty="0">
                <a:effectLst/>
                <a:latin typeface="等线" panose="02010600030101010101" pitchFamily="2" charset="-122"/>
                <a:ea typeface="宋体" panose="02010600030101010101" pitchFamily="2" charset="-122"/>
                <a:cs typeface="Times New Roman" panose="02020603050405020304" pitchFamily="18" charset="0"/>
              </a:rPr>
              <a:t> ... </a:t>
            </a:r>
            <a:r>
              <a:rPr lang="zh-CN" altLang="zh-CN" sz="2000" kern="100" dirty="0">
                <a:effectLst/>
                <a:latin typeface="等线" panose="02010600030101010101" pitchFamily="2" charset="-122"/>
                <a:ea typeface="宋体" panose="02010600030101010101" pitchFamily="2" charset="-122"/>
                <a:cs typeface="Times New Roman" panose="02020603050405020304" pitchFamily="18" charset="0"/>
              </a:rPr>
              <a:t>来读取数据组织</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a:spcBef>
                <a:spcPts val="120"/>
              </a:spcBef>
              <a:spcAft>
                <a:spcPts val="120"/>
              </a:spcAft>
            </a:pP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        DT_8U *</a:t>
            </a:r>
            <a:r>
              <a:rPr lang="en-US" altLang="zh-CN" sz="2000" kern="100" dirty="0" err="1">
                <a:effectLst/>
                <a:latin typeface="宋体" panose="02010600030101010101" pitchFamily="2" charset="-122"/>
                <a:ea typeface="等线" panose="02010600030101010101" pitchFamily="2" charset="-122"/>
                <a:cs typeface="Times New Roman" panose="02020603050405020304" pitchFamily="18" charset="0"/>
              </a:rPr>
              <a:t>pData</a:t>
            </a: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 = new DT_8U[</a:t>
            </a:r>
            <a:r>
              <a:rPr lang="en-US" altLang="zh-CN" sz="2000" kern="100" dirty="0" err="1">
                <a:effectLst/>
                <a:latin typeface="宋体" panose="02010600030101010101" pitchFamily="2" charset="-122"/>
                <a:ea typeface="等线" panose="02010600030101010101" pitchFamily="2" charset="-122"/>
                <a:cs typeface="Times New Roman" panose="02020603050405020304" pitchFamily="18" charset="0"/>
              </a:rPr>
              <a:t>iWidth</a:t>
            </a: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2000" kern="100" dirty="0" err="1">
                <a:effectLst/>
                <a:latin typeface="宋体" panose="02010600030101010101" pitchFamily="2" charset="-122"/>
                <a:ea typeface="等线" panose="02010600030101010101" pitchFamily="2" charset="-122"/>
                <a:cs typeface="Times New Roman" panose="02020603050405020304" pitchFamily="18" charset="0"/>
              </a:rPr>
              <a:t>iHeight</a:t>
            </a: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*3];</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a:spcBef>
                <a:spcPts val="120"/>
              </a:spcBef>
              <a:spcAft>
                <a:spcPts val="120"/>
              </a:spcAft>
            </a:pP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        </a:t>
            </a:r>
            <a:r>
              <a:rPr lang="en-US" altLang="zh-CN" sz="2000" kern="100" dirty="0" err="1">
                <a:effectLst/>
                <a:latin typeface="宋体" panose="02010600030101010101" pitchFamily="2" charset="-122"/>
                <a:ea typeface="等线" panose="02010600030101010101" pitchFamily="2" charset="-122"/>
                <a:cs typeface="Times New Roman" panose="02020603050405020304" pitchFamily="18" charset="0"/>
              </a:rPr>
              <a:t>poDataset</a:t>
            </a: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 -&gt;</a:t>
            </a:r>
            <a:r>
              <a:rPr lang="en-US" altLang="zh-CN" sz="2000" kern="100" dirty="0" err="1">
                <a:effectLst/>
                <a:latin typeface="宋体" panose="02010600030101010101" pitchFamily="2" charset="-122"/>
                <a:ea typeface="等线" panose="02010600030101010101" pitchFamily="2" charset="-122"/>
                <a:cs typeface="Times New Roman" panose="02020603050405020304" pitchFamily="18" charset="0"/>
              </a:rPr>
              <a:t>RasterIO</a:t>
            </a: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2000" kern="100" dirty="0" err="1">
                <a:effectLst/>
                <a:latin typeface="宋体" panose="02010600030101010101" pitchFamily="2" charset="-122"/>
                <a:ea typeface="等线" panose="02010600030101010101" pitchFamily="2" charset="-122"/>
                <a:cs typeface="Times New Roman" panose="02020603050405020304" pitchFamily="18" charset="0"/>
              </a:rPr>
              <a:t>GF_Read</a:t>
            </a: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 0, 0, </a:t>
            </a:r>
            <a:r>
              <a:rPr lang="en-US" altLang="zh-CN" sz="2000" kern="100" dirty="0" err="1">
                <a:effectLst/>
                <a:latin typeface="宋体" panose="02010600030101010101" pitchFamily="2" charset="-122"/>
                <a:ea typeface="等线" panose="02010600030101010101" pitchFamily="2" charset="-122"/>
                <a:cs typeface="Times New Roman" panose="02020603050405020304" pitchFamily="18" charset="0"/>
              </a:rPr>
              <a:t>iWidth,iHeight</a:t>
            </a: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 </a:t>
            </a:r>
            <a:r>
              <a:rPr lang="en-US" altLang="zh-CN" sz="2000" kern="100" dirty="0" err="1">
                <a:effectLst/>
                <a:latin typeface="宋体" panose="02010600030101010101" pitchFamily="2" charset="-122"/>
                <a:ea typeface="等线" panose="02010600030101010101" pitchFamily="2" charset="-122"/>
                <a:cs typeface="Times New Roman" panose="02020603050405020304" pitchFamily="18" charset="0"/>
              </a:rPr>
              <a:t>pData,iWidth</a:t>
            </a: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 </a:t>
            </a:r>
            <a:r>
              <a:rPr lang="en-US" altLang="zh-CN" sz="2000" kern="100" dirty="0" err="1">
                <a:effectLst/>
                <a:latin typeface="宋体" panose="02010600030101010101" pitchFamily="2" charset="-122"/>
                <a:ea typeface="等线" panose="02010600030101010101" pitchFamily="2" charset="-122"/>
                <a:cs typeface="Times New Roman" panose="02020603050405020304" pitchFamily="18" charset="0"/>
              </a:rPr>
              <a:t>iHeight</a:t>
            </a: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        (</a:t>
            </a:r>
            <a:r>
              <a:rPr lang="en-US" altLang="zh-CN" sz="2000" kern="100" dirty="0" err="1">
                <a:effectLst/>
                <a:latin typeface="宋体" panose="02010600030101010101" pitchFamily="2" charset="-122"/>
                <a:ea typeface="等线" panose="02010600030101010101" pitchFamily="2" charset="-122"/>
                <a:cs typeface="Times New Roman" panose="02020603050405020304" pitchFamily="18" charset="0"/>
              </a:rPr>
              <a:t>GDALDataType</a:t>
            </a: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2000" kern="100" dirty="0" err="1">
                <a:effectLst/>
                <a:latin typeface="宋体" panose="02010600030101010101" pitchFamily="2" charset="-122"/>
                <a:ea typeface="等线" panose="02010600030101010101" pitchFamily="2" charset="-122"/>
                <a:cs typeface="Times New Roman" panose="02020603050405020304" pitchFamily="18" charset="0"/>
              </a:rPr>
              <a:t>iDataType</a:t>
            </a: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 3, </a:t>
            </a:r>
            <a:r>
              <a:rPr lang="en-US" altLang="zh-CN" sz="2000" kern="100" dirty="0" err="1">
                <a:effectLst/>
                <a:latin typeface="宋体" panose="02010600030101010101" pitchFamily="2" charset="-122"/>
                <a:ea typeface="等线" panose="02010600030101010101" pitchFamily="2" charset="-122"/>
                <a:cs typeface="Times New Roman" panose="02020603050405020304" pitchFamily="18" charset="0"/>
              </a:rPr>
              <a:t>panBandMap,iDataType</a:t>
            </a: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*3, </a:t>
            </a:r>
            <a:r>
              <a:rPr lang="en-US" altLang="zh-CN" sz="2000" kern="100" dirty="0" err="1">
                <a:effectLst/>
                <a:latin typeface="宋体" panose="02010600030101010101" pitchFamily="2" charset="-122"/>
                <a:ea typeface="等线" panose="02010600030101010101" pitchFamily="2" charset="-122"/>
                <a:cs typeface="Times New Roman" panose="02020603050405020304" pitchFamily="18" charset="0"/>
              </a:rPr>
              <a:t>iDataType</a:t>
            </a: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2000" kern="100" dirty="0" err="1">
                <a:effectLst/>
                <a:latin typeface="宋体" panose="02010600030101010101" pitchFamily="2" charset="-122"/>
                <a:ea typeface="等线" panose="02010600030101010101" pitchFamily="2" charset="-122"/>
                <a:cs typeface="Times New Roman" panose="02020603050405020304" pitchFamily="18" charset="0"/>
              </a:rPr>
              <a:t>iMthWidth</a:t>
            </a: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*3, </a:t>
            </a:r>
            <a:r>
              <a:rPr lang="en-US" altLang="zh-CN" sz="2000" kern="100" dirty="0" err="1">
                <a:effectLst/>
                <a:latin typeface="宋体" panose="02010600030101010101" pitchFamily="2" charset="-122"/>
                <a:ea typeface="等线" panose="02010600030101010101" pitchFamily="2" charset="-122"/>
                <a:cs typeface="Times New Roman" panose="02020603050405020304" pitchFamily="18" charset="0"/>
              </a:rPr>
              <a:t>iDataType</a:t>
            </a:r>
            <a:r>
              <a:rPr lang="en-US" altLang="zh-CN" sz="2000" kern="100" dirty="0">
                <a:effectLst/>
                <a:latin typeface="宋体" panose="02010600030101010101" pitchFamily="2" charset="-122"/>
                <a:ea typeface="等线" panose="02010600030101010101" pitchFamily="2" charset="-122"/>
                <a:cs typeface="Times New Roman" panose="02020603050405020304" pitchFamily="18" charset="0"/>
              </a:rPr>
              <a:t>);</a:t>
            </a:r>
          </a:p>
          <a:p>
            <a:pPr>
              <a:spcBef>
                <a:spcPts val="120"/>
              </a:spcBef>
              <a:spcAft>
                <a:spcPts val="120"/>
              </a:spcAft>
            </a:pP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zh-CN" sz="2400" dirty="0">
                <a:effectLst/>
                <a:ea typeface="宋体" panose="02010600030101010101" pitchFamily="2" charset="-122"/>
                <a:cs typeface="Times New Roman" panose="02020603050405020304" pitchFamily="18" charset="0"/>
              </a:rPr>
              <a:t>在</a:t>
            </a:r>
            <a:r>
              <a:rPr lang="en-US" altLang="zh-CN" sz="2400" dirty="0" err="1">
                <a:effectLst/>
                <a:ea typeface="宋体" panose="02010600030101010101" pitchFamily="2" charset="-122"/>
                <a:cs typeface="Times New Roman" panose="02020603050405020304" pitchFamily="18" charset="0"/>
              </a:rPr>
              <a:t>Windsow</a:t>
            </a:r>
            <a:r>
              <a:rPr lang="zh-CN" altLang="zh-CN" sz="2400" dirty="0">
                <a:effectLst/>
                <a:ea typeface="宋体" panose="02010600030101010101" pitchFamily="2" charset="-122"/>
                <a:cs typeface="Times New Roman" panose="02020603050405020304" pitchFamily="18" charset="0"/>
              </a:rPr>
              <a:t>位图数据颜色排列是</a:t>
            </a:r>
            <a:r>
              <a:rPr lang="en-US" altLang="zh-CN" sz="2400" dirty="0">
                <a:effectLst/>
                <a:ea typeface="宋体" panose="02010600030101010101" pitchFamily="2" charset="-122"/>
                <a:cs typeface="Times New Roman" panose="02020603050405020304" pitchFamily="18" charset="0"/>
              </a:rPr>
              <a:t>BGR</a:t>
            </a:r>
            <a:r>
              <a:rPr lang="zh-CN" altLang="zh-CN" sz="2400" dirty="0">
                <a:effectLst/>
                <a:ea typeface="宋体" panose="02010600030101010101" pitchFamily="2" charset="-122"/>
                <a:cs typeface="Times New Roman" panose="02020603050405020304" pitchFamily="18" charset="0"/>
              </a:rPr>
              <a:t>，但是图像存储的可能是按照</a:t>
            </a:r>
            <a:r>
              <a:rPr lang="en-US" altLang="zh-CN" sz="2400" dirty="0">
                <a:effectLst/>
                <a:ea typeface="宋体" panose="02010600030101010101" pitchFamily="2" charset="-122"/>
                <a:cs typeface="Times New Roman" panose="02020603050405020304" pitchFamily="18" charset="0"/>
              </a:rPr>
              <a:t>RGB</a:t>
            </a:r>
            <a:r>
              <a:rPr lang="zh-CN" altLang="zh-CN" sz="2400" dirty="0">
                <a:effectLst/>
                <a:ea typeface="宋体" panose="02010600030101010101" pitchFamily="2" charset="-122"/>
                <a:cs typeface="Times New Roman" panose="02020603050405020304" pitchFamily="18" charset="0"/>
              </a:rPr>
              <a:t>来存储的，一般的做法是将数据按照每个波段读出来，然后再认为的按照</a:t>
            </a:r>
            <a:r>
              <a:rPr lang="en-US" altLang="zh-CN" sz="2400" dirty="0">
                <a:effectLst/>
                <a:ea typeface="宋体" panose="02010600030101010101" pitchFamily="2" charset="-122"/>
                <a:cs typeface="Times New Roman" panose="02020603050405020304" pitchFamily="18" charset="0"/>
              </a:rPr>
              <a:t>BGR</a:t>
            </a:r>
            <a:r>
              <a:rPr lang="zh-CN" altLang="zh-CN" sz="2400" dirty="0">
                <a:effectLst/>
                <a:ea typeface="宋体" panose="02010600030101010101" pitchFamily="2" charset="-122"/>
                <a:cs typeface="Times New Roman" panose="02020603050405020304" pitchFamily="18" charset="0"/>
              </a:rPr>
              <a:t>来进行组织，其实完全可以使用后面三个参数来将读出来的数据自动按照</a:t>
            </a:r>
            <a:r>
              <a:rPr lang="en-US" altLang="zh-CN" sz="2400" dirty="0">
                <a:effectLst/>
                <a:ea typeface="宋体" panose="02010600030101010101" pitchFamily="2" charset="-122"/>
                <a:cs typeface="Times New Roman" panose="02020603050405020304" pitchFamily="18" charset="0"/>
              </a:rPr>
              <a:t>BGR</a:t>
            </a:r>
            <a:r>
              <a:rPr lang="zh-CN" altLang="zh-CN" sz="2400" dirty="0">
                <a:effectLst/>
                <a:ea typeface="宋体" panose="02010600030101010101" pitchFamily="2" charset="-122"/>
                <a:cs typeface="Times New Roman" panose="02020603050405020304" pitchFamily="18" charset="0"/>
              </a:rPr>
              <a:t>的方式组织好。只要将参数设置为：</a:t>
            </a:r>
            <a:r>
              <a:rPr lang="en-US" altLang="zh-CN" sz="2400" dirty="0" err="1">
                <a:effectLst/>
                <a:ea typeface="宋体" panose="02010600030101010101" pitchFamily="2" charset="-122"/>
                <a:cs typeface="Times New Roman" panose="02020603050405020304" pitchFamily="18" charset="0"/>
              </a:rPr>
              <a:t>nBandCount</a:t>
            </a:r>
            <a:r>
              <a:rPr lang="en-US" altLang="zh-CN" sz="2400" dirty="0">
                <a:effectLst/>
                <a:ea typeface="宋体" panose="02010600030101010101" pitchFamily="2" charset="-122"/>
                <a:cs typeface="Times New Roman" panose="02020603050405020304" pitchFamily="18" charset="0"/>
              </a:rPr>
              <a:t>=3;panBandMap =new int[]{3,2,1}</a:t>
            </a:r>
            <a:r>
              <a:rPr lang="zh-CN" altLang="zh-CN" sz="2400" dirty="0">
                <a:effectLst/>
                <a:ea typeface="宋体" panose="02010600030101010101" pitchFamily="2" charset="-122"/>
                <a:cs typeface="Times New Roman" panose="02020603050405020304" pitchFamily="18" charset="0"/>
              </a:rPr>
              <a:t>即可。</a:t>
            </a:r>
            <a:r>
              <a:rPr lang="en-US" altLang="zh-CN" sz="2400" dirty="0">
                <a:effectLst/>
                <a:ea typeface="宋体" panose="02010600030101010101" pitchFamily="2" charset="-122"/>
                <a:cs typeface="Times New Roman" panose="02020603050405020304" pitchFamily="18" charset="0"/>
              </a:rPr>
              <a:t>   </a:t>
            </a:r>
            <a:endParaRPr lang="zh-CN" altLang="en-US" sz="2400" dirty="0"/>
          </a:p>
        </p:txBody>
      </p:sp>
    </p:spTree>
    <p:extLst>
      <p:ext uri="{BB962C8B-B14F-4D97-AF65-F5344CB8AC3E}">
        <p14:creationId xmlns:p14="http://schemas.microsoft.com/office/powerpoint/2010/main" val="1486503577"/>
      </p:ext>
    </p:extLst>
  </p:cSld>
  <p:clrMapOvr>
    <a:masterClrMapping/>
  </p:clrMapOvr>
  <mc:AlternateContent xmlns:mc="http://schemas.openxmlformats.org/markup-compatibility/2006" xmlns:p14="http://schemas.microsoft.com/office/powerpoint/2010/main">
    <mc:Choice Requires="p14">
      <p:transition p14:dur="250" advClick="0" advTm="8471">
        <p:push dir="u"/>
      </p:transition>
    </mc:Choice>
    <mc:Fallback xmlns="">
      <p:transition advClick="0" advTm="847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p:cNvSpPr txBox="1"/>
          <p:nvPr/>
        </p:nvSpPr>
        <p:spPr>
          <a:xfrm>
            <a:off x="539982" y="440281"/>
            <a:ext cx="4582524" cy="461665"/>
          </a:xfrm>
          <a:prstGeom prst="rect">
            <a:avLst/>
          </a:prstGeom>
          <a:noFill/>
        </p:spPr>
        <p:txBody>
          <a:bodyPr wrap="square" rtlCol="0">
            <a:spAutoFit/>
          </a:bodyPr>
          <a:lstStyle/>
          <a:p>
            <a:pPr defTabSz="121920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 分块读写实例</a:t>
            </a:r>
            <a:r>
              <a:rPr lang="en-US" altLang="zh-CN" sz="2400" dirty="0">
                <a:solidFill>
                  <a:srgbClr val="4F4D50"/>
                </a:solidFill>
                <a:latin typeface="方正黑体简体" panose="02010601030101010101" pitchFamily="2" charset="-122"/>
                <a:ea typeface="方正黑体简体" panose="02010601030101010101" pitchFamily="2" charset="-122"/>
                <a:cs typeface="+mn-ea"/>
                <a:sym typeface="+mn-lt"/>
              </a:rPr>
              <a:t>1</a:t>
            </a:r>
            <a:endPar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
        <p:nvSpPr>
          <p:cNvPr id="6" name="矩形 5">
            <a:extLst>
              <a:ext uri="{FF2B5EF4-FFF2-40B4-BE49-F238E27FC236}">
                <a16:creationId xmlns:a16="http://schemas.microsoft.com/office/drawing/2014/main" id="{08C56996-2FFE-4856-B3E0-E5FF5D9A00BC}"/>
              </a:ext>
            </a:extLst>
          </p:cNvPr>
          <p:cNvSpPr/>
          <p:nvPr/>
        </p:nvSpPr>
        <p:spPr>
          <a:xfrm flipH="1">
            <a:off x="6212432" y="1019176"/>
            <a:ext cx="45720" cy="5223344"/>
          </a:xfrm>
          <a:prstGeom prst="rect">
            <a:avLst/>
          </a:prstGeom>
          <a:solidFill>
            <a:srgbClr val="37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29FC9952-8B76-4E28-83A2-F47D482B9CEA}"/>
              </a:ext>
            </a:extLst>
          </p:cNvPr>
          <p:cNvGrpSpPr/>
          <p:nvPr/>
        </p:nvGrpSpPr>
        <p:grpSpPr>
          <a:xfrm>
            <a:off x="6203950" y="1445871"/>
            <a:ext cx="1111250" cy="463551"/>
            <a:chOff x="6203950" y="2112621"/>
            <a:chExt cx="1111250" cy="463551"/>
          </a:xfrm>
        </p:grpSpPr>
        <p:sp>
          <p:nvSpPr>
            <p:cNvPr id="8" name="五边形 25">
              <a:extLst>
                <a:ext uri="{FF2B5EF4-FFF2-40B4-BE49-F238E27FC236}">
                  <a16:creationId xmlns:a16="http://schemas.microsoft.com/office/drawing/2014/main" id="{6C6E31A7-6F04-4DF7-A8EC-9F9BFAD8F7B9}"/>
                </a:ext>
              </a:extLst>
            </p:cNvPr>
            <p:cNvSpPr/>
            <p:nvPr/>
          </p:nvSpPr>
          <p:spPr>
            <a:xfrm>
              <a:off x="6203950" y="2114550"/>
              <a:ext cx="893536" cy="461622"/>
            </a:xfrm>
            <a:prstGeom prst="homePlate">
              <a:avLst/>
            </a:prstGeom>
            <a:solidFill>
              <a:srgbClr val="37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燕尾形 26">
              <a:extLst>
                <a:ext uri="{FF2B5EF4-FFF2-40B4-BE49-F238E27FC236}">
                  <a16:creationId xmlns:a16="http://schemas.microsoft.com/office/drawing/2014/main" id="{78BF4958-DD9D-4FCE-8833-132FFEC12504}"/>
                </a:ext>
              </a:extLst>
            </p:cNvPr>
            <p:cNvSpPr/>
            <p:nvPr/>
          </p:nvSpPr>
          <p:spPr>
            <a:xfrm>
              <a:off x="6851649" y="2112621"/>
              <a:ext cx="463551" cy="463551"/>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10" name="组合 9">
            <a:extLst>
              <a:ext uri="{FF2B5EF4-FFF2-40B4-BE49-F238E27FC236}">
                <a16:creationId xmlns:a16="http://schemas.microsoft.com/office/drawing/2014/main" id="{3C83D8F3-B600-4913-A7C4-A3BE01FC0ACA}"/>
              </a:ext>
            </a:extLst>
          </p:cNvPr>
          <p:cNvGrpSpPr/>
          <p:nvPr/>
        </p:nvGrpSpPr>
        <p:grpSpPr>
          <a:xfrm>
            <a:off x="6238058" y="2745326"/>
            <a:ext cx="1111250" cy="463551"/>
            <a:chOff x="6203950" y="2112621"/>
            <a:chExt cx="1111250" cy="463551"/>
          </a:xfrm>
        </p:grpSpPr>
        <p:sp>
          <p:nvSpPr>
            <p:cNvPr id="11" name="五边形 28">
              <a:extLst>
                <a:ext uri="{FF2B5EF4-FFF2-40B4-BE49-F238E27FC236}">
                  <a16:creationId xmlns:a16="http://schemas.microsoft.com/office/drawing/2014/main" id="{4BBEEA73-FE50-472F-9FE6-E86A70EEA5D0}"/>
                </a:ext>
              </a:extLst>
            </p:cNvPr>
            <p:cNvSpPr/>
            <p:nvPr/>
          </p:nvSpPr>
          <p:spPr>
            <a:xfrm>
              <a:off x="6203950" y="2114550"/>
              <a:ext cx="893536" cy="461622"/>
            </a:xfrm>
            <a:prstGeom prst="homePlate">
              <a:avLst/>
            </a:prstGeom>
            <a:solidFill>
              <a:srgbClr val="37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燕尾形 29">
              <a:extLst>
                <a:ext uri="{FF2B5EF4-FFF2-40B4-BE49-F238E27FC236}">
                  <a16:creationId xmlns:a16="http://schemas.microsoft.com/office/drawing/2014/main" id="{D83372B0-31CA-4DC9-B0CF-1BC78E3FD05E}"/>
                </a:ext>
              </a:extLst>
            </p:cNvPr>
            <p:cNvSpPr/>
            <p:nvPr/>
          </p:nvSpPr>
          <p:spPr>
            <a:xfrm>
              <a:off x="6851649" y="2112621"/>
              <a:ext cx="463551" cy="463551"/>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3" name="文本框 12">
            <a:extLst>
              <a:ext uri="{FF2B5EF4-FFF2-40B4-BE49-F238E27FC236}">
                <a16:creationId xmlns:a16="http://schemas.microsoft.com/office/drawing/2014/main" id="{6EC3D4BB-4287-4E13-9B78-AEC29431B836}"/>
              </a:ext>
            </a:extLst>
          </p:cNvPr>
          <p:cNvSpPr txBox="1"/>
          <p:nvPr/>
        </p:nvSpPr>
        <p:spPr>
          <a:xfrm>
            <a:off x="6431748" y="1508369"/>
            <a:ext cx="437940" cy="338554"/>
          </a:xfrm>
          <a:prstGeom prst="rect">
            <a:avLst/>
          </a:prstGeom>
          <a:noFill/>
        </p:spPr>
        <p:txBody>
          <a:bodyPr wrap="none" rtlCol="0">
            <a:spAutoFit/>
          </a:bodyPr>
          <a:lstStyle/>
          <a:p>
            <a:r>
              <a:rPr lang="en-US" altLang="zh-CN" sz="1600" b="1" dirty="0">
                <a:solidFill>
                  <a:schemeClr val="bg1"/>
                </a:solidFill>
                <a:latin typeface="微软雅黑" panose="020B0503020204020204" pitchFamily="34" charset="-122"/>
                <a:ea typeface="微软雅黑" panose="020B0503020204020204" pitchFamily="34" charset="-122"/>
              </a:rPr>
              <a:t>01</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C9900347-56C4-4DF0-8837-975233756262}"/>
              </a:ext>
            </a:extLst>
          </p:cNvPr>
          <p:cNvSpPr txBox="1"/>
          <p:nvPr/>
        </p:nvSpPr>
        <p:spPr>
          <a:xfrm>
            <a:off x="6431748" y="3626875"/>
            <a:ext cx="437940" cy="338554"/>
          </a:xfrm>
          <a:prstGeom prst="rect">
            <a:avLst/>
          </a:prstGeom>
          <a:noFill/>
        </p:spPr>
        <p:txBody>
          <a:bodyPr wrap="none" rtlCol="0">
            <a:spAutoFit/>
          </a:bodyPr>
          <a:lstStyle/>
          <a:p>
            <a:r>
              <a:rPr lang="en-US" altLang="zh-CN" sz="1600" b="1" dirty="0">
                <a:solidFill>
                  <a:schemeClr val="bg1"/>
                </a:solidFill>
                <a:latin typeface="微软雅黑" panose="020B0503020204020204" pitchFamily="34" charset="-122"/>
                <a:ea typeface="微软雅黑" panose="020B0503020204020204" pitchFamily="34" charset="-122"/>
              </a:rPr>
              <a:t>02</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2227AE2D-9A57-4668-A9D6-D080BF5DDBD0}"/>
              </a:ext>
            </a:extLst>
          </p:cNvPr>
          <p:cNvSpPr txBox="1"/>
          <p:nvPr/>
        </p:nvSpPr>
        <p:spPr>
          <a:xfrm>
            <a:off x="6438342" y="2811071"/>
            <a:ext cx="437940" cy="338554"/>
          </a:xfrm>
          <a:prstGeom prst="rect">
            <a:avLst/>
          </a:prstGeom>
          <a:noFill/>
        </p:spPr>
        <p:txBody>
          <a:bodyPr wrap="none" rtlCol="0">
            <a:spAutoFit/>
          </a:bodyPr>
          <a:lstStyle/>
          <a:p>
            <a:r>
              <a:rPr lang="en-US" altLang="zh-CN" sz="1600" b="1" dirty="0">
                <a:solidFill>
                  <a:schemeClr val="bg1"/>
                </a:solidFill>
                <a:latin typeface="微软雅黑" panose="020B0503020204020204" pitchFamily="34" charset="-122"/>
                <a:ea typeface="微软雅黑" panose="020B0503020204020204" pitchFamily="34" charset="-122"/>
              </a:rPr>
              <a:t>02</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pic>
        <p:nvPicPr>
          <p:cNvPr id="16" name="图片 15">
            <a:extLst>
              <a:ext uri="{FF2B5EF4-FFF2-40B4-BE49-F238E27FC236}">
                <a16:creationId xmlns:a16="http://schemas.microsoft.com/office/drawing/2014/main" id="{77BC0962-4628-4A6B-9C42-7208E4A752C4}"/>
              </a:ext>
            </a:extLst>
          </p:cNvPr>
          <p:cNvPicPr>
            <a:picLocks noChangeAspect="1"/>
          </p:cNvPicPr>
          <p:nvPr/>
        </p:nvPicPr>
        <p:blipFill>
          <a:blip r:embed="rId4"/>
          <a:stretch>
            <a:fillRect/>
          </a:stretch>
        </p:blipFill>
        <p:spPr>
          <a:xfrm>
            <a:off x="1251211" y="1456398"/>
            <a:ext cx="3871295" cy="3856054"/>
          </a:xfrm>
          <a:prstGeom prst="rect">
            <a:avLst/>
          </a:prstGeom>
        </p:spPr>
      </p:pic>
      <p:sp>
        <p:nvSpPr>
          <p:cNvPr id="17" name="文本框 16">
            <a:extLst>
              <a:ext uri="{FF2B5EF4-FFF2-40B4-BE49-F238E27FC236}">
                <a16:creationId xmlns:a16="http://schemas.microsoft.com/office/drawing/2014/main" id="{EBD49ED0-E7DD-4E81-BBD7-ED76B42AE9D2}"/>
              </a:ext>
            </a:extLst>
          </p:cNvPr>
          <p:cNvSpPr txBox="1"/>
          <p:nvPr/>
        </p:nvSpPr>
        <p:spPr>
          <a:xfrm>
            <a:off x="7449170" y="1492980"/>
            <a:ext cx="7479792" cy="369332"/>
          </a:xfrm>
          <a:prstGeom prst="rect">
            <a:avLst/>
          </a:prstGeom>
          <a:noFill/>
        </p:spPr>
        <p:txBody>
          <a:bodyPr wrap="square">
            <a:spAutoFit/>
          </a:bodyPr>
          <a:lstStyle/>
          <a:p>
            <a:r>
              <a:rPr lang="zh-CN" altLang="en-US" b="1" dirty="0"/>
              <a:t>读取起点位置开始的</a:t>
            </a:r>
            <a:r>
              <a:rPr lang="en-US" altLang="zh-CN" b="1" dirty="0"/>
              <a:t>256X256</a:t>
            </a:r>
            <a:r>
              <a:rPr lang="zh-CN" altLang="en-US" b="1" dirty="0"/>
              <a:t>的内容</a:t>
            </a:r>
          </a:p>
        </p:txBody>
      </p:sp>
      <p:sp>
        <p:nvSpPr>
          <p:cNvPr id="18" name="文本框 17">
            <a:extLst>
              <a:ext uri="{FF2B5EF4-FFF2-40B4-BE49-F238E27FC236}">
                <a16:creationId xmlns:a16="http://schemas.microsoft.com/office/drawing/2014/main" id="{46E4270E-87FD-4F5B-9274-0F72984737AE}"/>
              </a:ext>
            </a:extLst>
          </p:cNvPr>
          <p:cNvSpPr txBox="1"/>
          <p:nvPr/>
        </p:nvSpPr>
        <p:spPr>
          <a:xfrm>
            <a:off x="7483278" y="2780293"/>
            <a:ext cx="7479792" cy="369332"/>
          </a:xfrm>
          <a:prstGeom prst="rect">
            <a:avLst/>
          </a:prstGeom>
          <a:noFill/>
        </p:spPr>
        <p:txBody>
          <a:bodyPr wrap="square">
            <a:spAutoFit/>
          </a:bodyPr>
          <a:lstStyle/>
          <a:p>
            <a:r>
              <a:rPr lang="zh-CN" altLang="en-US" b="1" dirty="0"/>
              <a:t>读取特定波段</a:t>
            </a:r>
          </a:p>
        </p:txBody>
      </p:sp>
      <p:grpSp>
        <p:nvGrpSpPr>
          <p:cNvPr id="20" name="组合 19">
            <a:extLst>
              <a:ext uri="{FF2B5EF4-FFF2-40B4-BE49-F238E27FC236}">
                <a16:creationId xmlns:a16="http://schemas.microsoft.com/office/drawing/2014/main" id="{A85CFA38-5440-4DCC-BD14-0AE5B6BD8621}"/>
              </a:ext>
            </a:extLst>
          </p:cNvPr>
          <p:cNvGrpSpPr/>
          <p:nvPr/>
        </p:nvGrpSpPr>
        <p:grpSpPr>
          <a:xfrm>
            <a:off x="6232525" y="4027146"/>
            <a:ext cx="1111250" cy="463551"/>
            <a:chOff x="6203950" y="2112621"/>
            <a:chExt cx="1111250" cy="463551"/>
          </a:xfrm>
        </p:grpSpPr>
        <p:sp>
          <p:nvSpPr>
            <p:cNvPr id="21" name="五边形 25">
              <a:extLst>
                <a:ext uri="{FF2B5EF4-FFF2-40B4-BE49-F238E27FC236}">
                  <a16:creationId xmlns:a16="http://schemas.microsoft.com/office/drawing/2014/main" id="{856AC9ED-2A5A-4123-AB34-2215F6259897}"/>
                </a:ext>
              </a:extLst>
            </p:cNvPr>
            <p:cNvSpPr/>
            <p:nvPr/>
          </p:nvSpPr>
          <p:spPr>
            <a:xfrm>
              <a:off x="6203950" y="2114550"/>
              <a:ext cx="893536" cy="461622"/>
            </a:xfrm>
            <a:prstGeom prst="homePlate">
              <a:avLst/>
            </a:prstGeom>
            <a:solidFill>
              <a:srgbClr val="37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燕尾形 26">
              <a:extLst>
                <a:ext uri="{FF2B5EF4-FFF2-40B4-BE49-F238E27FC236}">
                  <a16:creationId xmlns:a16="http://schemas.microsoft.com/office/drawing/2014/main" id="{D3DD3FBE-1125-4276-800F-A3CAB8FC190C}"/>
                </a:ext>
              </a:extLst>
            </p:cNvPr>
            <p:cNvSpPr/>
            <p:nvPr/>
          </p:nvSpPr>
          <p:spPr>
            <a:xfrm>
              <a:off x="6851649" y="2112621"/>
              <a:ext cx="463551" cy="463551"/>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23" name="组合 22">
            <a:extLst>
              <a:ext uri="{FF2B5EF4-FFF2-40B4-BE49-F238E27FC236}">
                <a16:creationId xmlns:a16="http://schemas.microsoft.com/office/drawing/2014/main" id="{0746F844-105C-49FD-9609-14B1FF0B6A92}"/>
              </a:ext>
            </a:extLst>
          </p:cNvPr>
          <p:cNvGrpSpPr/>
          <p:nvPr/>
        </p:nvGrpSpPr>
        <p:grpSpPr>
          <a:xfrm>
            <a:off x="6266633" y="5383751"/>
            <a:ext cx="1111250" cy="463551"/>
            <a:chOff x="6203950" y="2112621"/>
            <a:chExt cx="1111250" cy="463551"/>
          </a:xfrm>
        </p:grpSpPr>
        <p:sp>
          <p:nvSpPr>
            <p:cNvPr id="24" name="五边形 28">
              <a:extLst>
                <a:ext uri="{FF2B5EF4-FFF2-40B4-BE49-F238E27FC236}">
                  <a16:creationId xmlns:a16="http://schemas.microsoft.com/office/drawing/2014/main" id="{720A2060-8AB1-4E52-AD0C-040EE2D2AE44}"/>
                </a:ext>
              </a:extLst>
            </p:cNvPr>
            <p:cNvSpPr/>
            <p:nvPr/>
          </p:nvSpPr>
          <p:spPr>
            <a:xfrm>
              <a:off x="6203950" y="2114550"/>
              <a:ext cx="893536" cy="461622"/>
            </a:xfrm>
            <a:prstGeom prst="homePlate">
              <a:avLst/>
            </a:prstGeom>
            <a:solidFill>
              <a:srgbClr val="37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燕尾形 29">
              <a:extLst>
                <a:ext uri="{FF2B5EF4-FFF2-40B4-BE49-F238E27FC236}">
                  <a16:creationId xmlns:a16="http://schemas.microsoft.com/office/drawing/2014/main" id="{32317870-E502-403F-BB58-FBD4411B5553}"/>
                </a:ext>
              </a:extLst>
            </p:cNvPr>
            <p:cNvSpPr/>
            <p:nvPr/>
          </p:nvSpPr>
          <p:spPr>
            <a:xfrm>
              <a:off x="6851649" y="2112621"/>
              <a:ext cx="463551" cy="463551"/>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6" name="文本框 25">
            <a:extLst>
              <a:ext uri="{FF2B5EF4-FFF2-40B4-BE49-F238E27FC236}">
                <a16:creationId xmlns:a16="http://schemas.microsoft.com/office/drawing/2014/main" id="{7574929A-72AD-4D4F-BE81-E01D4E52D154}"/>
              </a:ext>
            </a:extLst>
          </p:cNvPr>
          <p:cNvSpPr txBox="1"/>
          <p:nvPr/>
        </p:nvSpPr>
        <p:spPr>
          <a:xfrm>
            <a:off x="6460323" y="4089644"/>
            <a:ext cx="437940" cy="338554"/>
          </a:xfrm>
          <a:prstGeom prst="rect">
            <a:avLst/>
          </a:prstGeom>
          <a:noFill/>
        </p:spPr>
        <p:txBody>
          <a:bodyPr wrap="none" rtlCol="0">
            <a:spAutoFit/>
          </a:bodyPr>
          <a:lstStyle/>
          <a:p>
            <a:r>
              <a:rPr lang="en-US" altLang="zh-CN" sz="1600" b="1" dirty="0">
                <a:solidFill>
                  <a:schemeClr val="bg1"/>
                </a:solidFill>
                <a:latin typeface="微软雅黑" panose="020B0503020204020204" pitchFamily="34" charset="-122"/>
                <a:ea typeface="微软雅黑" panose="020B0503020204020204" pitchFamily="34" charset="-122"/>
              </a:rPr>
              <a:t>03</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24F48525-4459-40A1-8AAD-CB121CF184D2}"/>
              </a:ext>
            </a:extLst>
          </p:cNvPr>
          <p:cNvSpPr txBox="1"/>
          <p:nvPr/>
        </p:nvSpPr>
        <p:spPr>
          <a:xfrm>
            <a:off x="6466917" y="5449496"/>
            <a:ext cx="437940" cy="338554"/>
          </a:xfrm>
          <a:prstGeom prst="rect">
            <a:avLst/>
          </a:prstGeom>
          <a:noFill/>
        </p:spPr>
        <p:txBody>
          <a:bodyPr wrap="none" rtlCol="0">
            <a:spAutoFit/>
          </a:bodyPr>
          <a:lstStyle/>
          <a:p>
            <a:r>
              <a:rPr lang="en-US" altLang="zh-CN" sz="1600" b="1" dirty="0">
                <a:solidFill>
                  <a:schemeClr val="bg1"/>
                </a:solidFill>
                <a:latin typeface="微软雅黑" panose="020B0503020204020204" pitchFamily="34" charset="-122"/>
                <a:ea typeface="微软雅黑" panose="020B0503020204020204" pitchFamily="34" charset="-122"/>
              </a:rPr>
              <a:t>04</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3A649415-1878-4171-8964-C43A127FAE94}"/>
              </a:ext>
            </a:extLst>
          </p:cNvPr>
          <p:cNvSpPr txBox="1"/>
          <p:nvPr/>
        </p:nvSpPr>
        <p:spPr>
          <a:xfrm>
            <a:off x="7477745" y="4074255"/>
            <a:ext cx="7479792" cy="369332"/>
          </a:xfrm>
          <a:prstGeom prst="rect">
            <a:avLst/>
          </a:prstGeom>
          <a:noFill/>
        </p:spPr>
        <p:txBody>
          <a:bodyPr wrap="square">
            <a:spAutoFit/>
          </a:bodyPr>
          <a:lstStyle/>
          <a:p>
            <a:r>
              <a:rPr lang="zh-CN" altLang="en-US" b="1" dirty="0"/>
              <a:t>左下角起点读写</a:t>
            </a:r>
          </a:p>
        </p:txBody>
      </p:sp>
      <p:sp>
        <p:nvSpPr>
          <p:cNvPr id="29" name="文本框 28">
            <a:extLst>
              <a:ext uri="{FF2B5EF4-FFF2-40B4-BE49-F238E27FC236}">
                <a16:creationId xmlns:a16="http://schemas.microsoft.com/office/drawing/2014/main" id="{94D6FFDF-B56F-4D22-BFEA-57D8B34B07F9}"/>
              </a:ext>
            </a:extLst>
          </p:cNvPr>
          <p:cNvSpPr txBox="1"/>
          <p:nvPr/>
        </p:nvSpPr>
        <p:spPr>
          <a:xfrm>
            <a:off x="7511853" y="5418718"/>
            <a:ext cx="7479792" cy="369332"/>
          </a:xfrm>
          <a:prstGeom prst="rect">
            <a:avLst/>
          </a:prstGeom>
          <a:noFill/>
        </p:spPr>
        <p:txBody>
          <a:bodyPr wrap="square">
            <a:spAutoFit/>
          </a:bodyPr>
          <a:lstStyle/>
          <a:p>
            <a:r>
              <a:rPr lang="zh-CN" altLang="en-US" b="1" dirty="0"/>
              <a:t>重采样读写</a:t>
            </a:r>
          </a:p>
        </p:txBody>
      </p:sp>
    </p:spTree>
    <p:extLst>
      <p:ext uri="{BB962C8B-B14F-4D97-AF65-F5344CB8AC3E}">
        <p14:creationId xmlns:p14="http://schemas.microsoft.com/office/powerpoint/2010/main" val="204850546"/>
      </p:ext>
    </p:extLst>
  </p:cSld>
  <p:clrMapOvr>
    <a:masterClrMapping/>
  </p:clrMapOvr>
  <mc:AlternateContent xmlns:mc="http://schemas.openxmlformats.org/markup-compatibility/2006" xmlns:p14="http://schemas.microsoft.com/office/powerpoint/2010/main">
    <mc:Choice Requires="p14">
      <p:transition p14:dur="250" advClick="0" advTm="8471">
        <p:push dir="u"/>
      </p:transition>
    </mc:Choice>
    <mc:Fallback xmlns="">
      <p:transition advClick="0" advTm="847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B57C0F8-B204-4584-AB17-3A4B989238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a:extLst>
              <a:ext uri="{FF2B5EF4-FFF2-40B4-BE49-F238E27FC236}">
                <a16:creationId xmlns:a16="http://schemas.microsoft.com/office/drawing/2014/main" id="{E85550B3-3070-4D72-8FA2-A190686442CB}"/>
              </a:ext>
            </a:extLst>
          </p:cNvPr>
          <p:cNvSpPr txBox="1"/>
          <p:nvPr/>
        </p:nvSpPr>
        <p:spPr>
          <a:xfrm>
            <a:off x="539983" y="440281"/>
            <a:ext cx="5163593" cy="830997"/>
          </a:xfrm>
          <a:prstGeom prst="rect">
            <a:avLst/>
          </a:prstGeom>
          <a:noFill/>
        </p:spPr>
        <p:txBody>
          <a:bodyPr wrap="none" rtlCol="0">
            <a:spAutoFit/>
          </a:bodyPr>
          <a:lstStyle/>
          <a:p>
            <a:pPr defTabSz="121902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读取起点位置开始的</a:t>
            </a:r>
            <a:r>
              <a:rPr lang="en-US" altLang="zh-CN" sz="2400" dirty="0">
                <a:solidFill>
                  <a:srgbClr val="4F4D50"/>
                </a:solidFill>
                <a:latin typeface="方正黑体简体" panose="02010601030101010101" pitchFamily="2" charset="-122"/>
                <a:ea typeface="方正黑体简体" panose="02010601030101010101" pitchFamily="2" charset="-122"/>
                <a:cs typeface="+mn-ea"/>
                <a:sym typeface="+mn-lt"/>
              </a:rPr>
              <a:t>256X256</a:t>
            </a: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的内容</a:t>
            </a:r>
          </a:p>
          <a:p>
            <a:pPr defTabSz="1219020"/>
            <a:endPar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pic>
        <p:nvPicPr>
          <p:cNvPr id="13" name="图片 12">
            <a:extLst>
              <a:ext uri="{FF2B5EF4-FFF2-40B4-BE49-F238E27FC236}">
                <a16:creationId xmlns:a16="http://schemas.microsoft.com/office/drawing/2014/main" id="{3C61DB10-2B98-4213-8BF3-C052F5D58CDC}"/>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8800"/>
                    </a14:imgEffect>
                  </a14:imgLayer>
                </a14:imgProps>
              </a:ext>
            </a:extLst>
          </a:blip>
          <a:stretch>
            <a:fillRect/>
          </a:stretch>
        </p:blipFill>
        <p:spPr>
          <a:xfrm>
            <a:off x="632960" y="1470119"/>
            <a:ext cx="8382849" cy="3042340"/>
          </a:xfrm>
          <a:prstGeom prst="rect">
            <a:avLst/>
          </a:prstGeom>
        </p:spPr>
      </p:pic>
      <p:sp>
        <p:nvSpPr>
          <p:cNvPr id="15" name="TextBox 7">
            <a:extLst>
              <a:ext uri="{FF2B5EF4-FFF2-40B4-BE49-F238E27FC236}">
                <a16:creationId xmlns:a16="http://schemas.microsoft.com/office/drawing/2014/main" id="{CC0BBBF7-0A98-4D9C-8B0C-24919A351433}"/>
              </a:ext>
            </a:extLst>
          </p:cNvPr>
          <p:cNvSpPr txBox="1"/>
          <p:nvPr/>
        </p:nvSpPr>
        <p:spPr>
          <a:xfrm>
            <a:off x="553612" y="4795522"/>
            <a:ext cx="3945296" cy="1526187"/>
          </a:xfrm>
          <a:prstGeom prst="rect">
            <a:avLst/>
          </a:prstGeom>
          <a:noFill/>
        </p:spPr>
        <p:txBody>
          <a:bodyPr wrap="square" rtlCol="0">
            <a:spAutoFit/>
          </a:bodyPr>
          <a:lstStyle/>
          <a:p>
            <a:pPr marL="285750" indent="-285750" defTabSz="1219020">
              <a:lnSpc>
                <a:spcPct val="150000"/>
              </a:lnSpc>
              <a:buFont typeface="Wingdings" panose="05000000000000000000" pitchFamily="2" charset="2"/>
              <a:buChar char="l"/>
            </a:pP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步骤</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1</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：申请</a:t>
            </a:r>
            <a:r>
              <a:rPr lang="en-US" altLang="zh-CN" sz="1600" b="1" dirty="0" err="1">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buf</a:t>
            </a:r>
            <a:endParaRPr lang="en-US" altLang="zh-CN" sz="1600" b="1" dirty="0">
              <a:solidFill>
                <a:srgbClr val="FF0000"/>
              </a:solidFill>
              <a:latin typeface="方正黑体简体" panose="02010601030101010101" pitchFamily="2" charset="-122"/>
              <a:ea typeface="方正黑体简体" panose="02010601030101010101" pitchFamily="2" charset="-122"/>
              <a:cs typeface="+mn-ea"/>
              <a:sym typeface="+mn-lt"/>
            </a:endParaRPr>
          </a:p>
          <a:p>
            <a:pPr marL="285750" indent="-285750" defTabSz="1219020">
              <a:lnSpc>
                <a:spcPct val="150000"/>
              </a:lnSpc>
              <a:buFont typeface="Wingdings" panose="05000000000000000000" pitchFamily="2" charset="2"/>
              <a:buChar char="l"/>
            </a:pP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步骤</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2</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：读取图像</a:t>
            </a:r>
            <a:endPar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a:p>
            <a:pPr marL="285750" indent="-285750" defTabSz="1219020">
              <a:lnSpc>
                <a:spcPct val="150000"/>
              </a:lnSpc>
              <a:buFont typeface="Wingdings" panose="05000000000000000000" pitchFamily="2" charset="2"/>
              <a:buChar char="l"/>
            </a:pP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步骤</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3</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：写入</a:t>
            </a:r>
            <a:endPar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a:p>
            <a:pPr marL="285750" indent="-285750" defTabSz="1219020">
              <a:lnSpc>
                <a:spcPct val="150000"/>
              </a:lnSpc>
              <a:buFont typeface="Wingdings" panose="05000000000000000000" pitchFamily="2" charset="2"/>
              <a:buChar char="l"/>
            </a:pP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步骤</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4</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：释放内存</a:t>
            </a:r>
            <a:endPar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p:txBody>
      </p:sp>
      <p:pic>
        <p:nvPicPr>
          <p:cNvPr id="6" name="图片 5">
            <a:extLst>
              <a:ext uri="{FF2B5EF4-FFF2-40B4-BE49-F238E27FC236}">
                <a16:creationId xmlns:a16="http://schemas.microsoft.com/office/drawing/2014/main" id="{21BF14FC-21D8-4C86-A5E8-569A1382468B}"/>
              </a:ext>
            </a:extLst>
          </p:cNvPr>
          <p:cNvPicPr>
            <a:picLocks noChangeAspect="1"/>
          </p:cNvPicPr>
          <p:nvPr/>
        </p:nvPicPr>
        <p:blipFill>
          <a:blip r:embed="rId6"/>
          <a:stretch>
            <a:fillRect/>
          </a:stretch>
        </p:blipFill>
        <p:spPr>
          <a:xfrm>
            <a:off x="9015809" y="1470119"/>
            <a:ext cx="3020764" cy="3042340"/>
          </a:xfrm>
          <a:prstGeom prst="rect">
            <a:avLst/>
          </a:prstGeom>
        </p:spPr>
      </p:pic>
    </p:spTree>
    <p:extLst>
      <p:ext uri="{BB962C8B-B14F-4D97-AF65-F5344CB8AC3E}">
        <p14:creationId xmlns:p14="http://schemas.microsoft.com/office/powerpoint/2010/main" val="1440879867"/>
      </p:ext>
    </p:extLst>
  </p:cSld>
  <p:clrMapOvr>
    <a:masterClrMapping/>
  </p:clrMapOvr>
  <mc:AlternateContent xmlns:mc="http://schemas.openxmlformats.org/markup-compatibility/2006" xmlns:p14="http://schemas.microsoft.com/office/powerpoint/2010/main">
    <mc:Choice Requires="p14">
      <p:transition p14:dur="250" advClick="0" advTm="20723">
        <p:push dir="u"/>
      </p:transition>
    </mc:Choice>
    <mc:Fallback xmlns="">
      <p:transition advClick="0" advTm="20723">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1000"/>
                                        <p:tgtEl>
                                          <p:spTgt spid="15"/>
                                        </p:tgtEl>
                                      </p:cBhvr>
                                    </p:animEffect>
                                    <p:anim calcmode="lin" valueType="num">
                                      <p:cBhvr>
                                        <p:cTn id="16" dur="1000" fill="hold"/>
                                        <p:tgtEl>
                                          <p:spTgt spid="15"/>
                                        </p:tgtEl>
                                        <p:attrNameLst>
                                          <p:attrName>ppt_x</p:attrName>
                                        </p:attrNameLst>
                                      </p:cBhvr>
                                      <p:tavLst>
                                        <p:tav tm="0">
                                          <p:val>
                                            <p:strVal val="#ppt_x"/>
                                          </p:val>
                                        </p:tav>
                                        <p:tav tm="100000">
                                          <p:val>
                                            <p:strVal val="#ppt_x"/>
                                          </p:val>
                                        </p:tav>
                                      </p:tavLst>
                                    </p:anim>
                                    <p:anim calcmode="lin" valueType="num">
                                      <p:cBhvr>
                                        <p:cTn id="17"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B57C0F8-B204-4584-AB17-3A4B989238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a:extLst>
              <a:ext uri="{FF2B5EF4-FFF2-40B4-BE49-F238E27FC236}">
                <a16:creationId xmlns:a16="http://schemas.microsoft.com/office/drawing/2014/main" id="{E85550B3-3070-4D72-8FA2-A190686442CB}"/>
              </a:ext>
            </a:extLst>
          </p:cNvPr>
          <p:cNvSpPr txBox="1"/>
          <p:nvPr/>
        </p:nvSpPr>
        <p:spPr>
          <a:xfrm>
            <a:off x="539983" y="440281"/>
            <a:ext cx="2085827" cy="461665"/>
          </a:xfrm>
          <a:prstGeom prst="rect">
            <a:avLst/>
          </a:prstGeom>
          <a:noFill/>
        </p:spPr>
        <p:txBody>
          <a:bodyPr wrap="none" rtlCol="0">
            <a:spAutoFit/>
          </a:bodyPr>
          <a:lstStyle/>
          <a:p>
            <a:pPr defTabSz="1219020"/>
            <a:r>
              <a:rPr lang="en-US" altLang="zh-CN" sz="2400" dirty="0">
                <a:solidFill>
                  <a:srgbClr val="4F4D50"/>
                </a:solidFill>
                <a:latin typeface="方正黑体简体" panose="02010601030101010101" pitchFamily="2" charset="-122"/>
                <a:ea typeface="方正黑体简体" panose="02010601030101010101" pitchFamily="2" charset="-122"/>
                <a:cs typeface="+mn-ea"/>
                <a:sym typeface="+mn-lt"/>
              </a:rPr>
              <a:t>16</a:t>
            </a: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位影像读写</a:t>
            </a:r>
          </a:p>
        </p:txBody>
      </p:sp>
      <p:sp>
        <p:nvSpPr>
          <p:cNvPr id="20" name="TextBox 7">
            <a:extLst>
              <a:ext uri="{FF2B5EF4-FFF2-40B4-BE49-F238E27FC236}">
                <a16:creationId xmlns:a16="http://schemas.microsoft.com/office/drawing/2014/main" id="{52EA6BC4-F375-49A4-BB72-2FBA64BA75DA}"/>
              </a:ext>
            </a:extLst>
          </p:cNvPr>
          <p:cNvSpPr txBox="1"/>
          <p:nvPr/>
        </p:nvSpPr>
        <p:spPr>
          <a:xfrm>
            <a:off x="1781537" y="5083536"/>
            <a:ext cx="8143161" cy="1156855"/>
          </a:xfrm>
          <a:prstGeom prst="rect">
            <a:avLst/>
          </a:prstGeom>
          <a:noFill/>
        </p:spPr>
        <p:txBody>
          <a:bodyPr wrap="square" rtlCol="0">
            <a:spAutoFit/>
          </a:bodyPr>
          <a:lstStyle/>
          <a:p>
            <a:pPr marL="342900" indent="-342900" defTabSz="1219020">
              <a:lnSpc>
                <a:spcPct val="150000"/>
              </a:lnSpc>
              <a:buFont typeface="Wingdings" panose="05000000000000000000" pitchFamily="2" charset="2"/>
              <a:buChar char="l"/>
            </a:pP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与实例</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1</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相比，除了要更改</a:t>
            </a:r>
            <a:r>
              <a:rPr lang="en-US" altLang="zh-CN" sz="1600" b="1" dirty="0" err="1">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buf</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的容量和</a:t>
            </a:r>
            <a:r>
              <a:rPr lang="en-US" altLang="zh-CN" sz="1600" b="1" dirty="0" err="1">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RasterIO</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的第九个参数</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GDT_UInt16</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，其余什么都不需要更改。</a:t>
            </a:r>
            <a:endPar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a:p>
            <a:pPr marL="342900" indent="-342900" defTabSz="1219020">
              <a:lnSpc>
                <a:spcPct val="150000"/>
              </a:lnSpc>
              <a:buFont typeface="Wingdings" panose="05000000000000000000" pitchFamily="2" charset="2"/>
              <a:buChar char="l"/>
            </a:pPr>
            <a:r>
              <a:rPr lang="zh-CN" altLang="en-US" sz="1600" b="1" dirty="0">
                <a:solidFill>
                  <a:srgbClr val="FF0000"/>
                </a:solidFill>
                <a:latin typeface="方正黑体简体" panose="02010601030101010101" pitchFamily="2" charset="-122"/>
                <a:ea typeface="方正黑体简体" panose="02010601030101010101" pitchFamily="2" charset="-122"/>
                <a:cs typeface="+mn-ea"/>
                <a:sym typeface="+mn-lt"/>
              </a:rPr>
              <a:t>注意：</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创建</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16</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位图像时参数也需要更改成</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16</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位。</a:t>
            </a:r>
            <a:endPar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p:txBody>
      </p:sp>
      <p:pic>
        <p:nvPicPr>
          <p:cNvPr id="16" name="图片 15">
            <a:extLst>
              <a:ext uri="{FF2B5EF4-FFF2-40B4-BE49-F238E27FC236}">
                <a16:creationId xmlns:a16="http://schemas.microsoft.com/office/drawing/2014/main" id="{3A64F647-8D7B-499D-A085-E5E17EBD9C19}"/>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1781539" y="1653162"/>
            <a:ext cx="8143160" cy="3045753"/>
          </a:xfrm>
          <a:prstGeom prst="rect">
            <a:avLst/>
          </a:prstGeom>
        </p:spPr>
      </p:pic>
    </p:spTree>
    <p:extLst>
      <p:ext uri="{BB962C8B-B14F-4D97-AF65-F5344CB8AC3E}">
        <p14:creationId xmlns:p14="http://schemas.microsoft.com/office/powerpoint/2010/main" val="826341515"/>
      </p:ext>
    </p:extLst>
  </p:cSld>
  <p:clrMapOvr>
    <a:masterClrMapping/>
  </p:clrMapOvr>
  <mc:AlternateContent xmlns:mc="http://schemas.openxmlformats.org/markup-compatibility/2006" xmlns:p14="http://schemas.microsoft.com/office/powerpoint/2010/main">
    <mc:Choice Requires="p14">
      <p:transition p14:dur="250" advClick="0" advTm="20723">
        <p:push dir="u"/>
      </p:transition>
    </mc:Choice>
    <mc:Fallback xmlns="">
      <p:transition advClick="0" advTm="20723">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1000"/>
                                        <p:tgtEl>
                                          <p:spTgt spid="20"/>
                                        </p:tgtEl>
                                      </p:cBhvr>
                                    </p:animEffect>
                                    <p:anim calcmode="lin" valueType="num">
                                      <p:cBhvr>
                                        <p:cTn id="16" dur="1000" fill="hold"/>
                                        <p:tgtEl>
                                          <p:spTgt spid="20"/>
                                        </p:tgtEl>
                                        <p:attrNameLst>
                                          <p:attrName>ppt_x</p:attrName>
                                        </p:attrNameLst>
                                      </p:cBhvr>
                                      <p:tavLst>
                                        <p:tav tm="0">
                                          <p:val>
                                            <p:strVal val="#ppt_x"/>
                                          </p:val>
                                        </p:tav>
                                        <p:tav tm="100000">
                                          <p:val>
                                            <p:strVal val="#ppt_x"/>
                                          </p:val>
                                        </p:tav>
                                      </p:tavLst>
                                    </p:anim>
                                    <p:anim calcmode="lin" valueType="num">
                                      <p:cBhvr>
                                        <p:cTn id="1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B57C0F8-B204-4584-AB17-3A4B989238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a:extLst>
              <a:ext uri="{FF2B5EF4-FFF2-40B4-BE49-F238E27FC236}">
                <a16:creationId xmlns:a16="http://schemas.microsoft.com/office/drawing/2014/main" id="{E85550B3-3070-4D72-8FA2-A190686442CB}"/>
              </a:ext>
            </a:extLst>
          </p:cNvPr>
          <p:cNvSpPr txBox="1"/>
          <p:nvPr/>
        </p:nvSpPr>
        <p:spPr>
          <a:xfrm>
            <a:off x="539983" y="440281"/>
            <a:ext cx="2085827" cy="461665"/>
          </a:xfrm>
          <a:prstGeom prst="rect">
            <a:avLst/>
          </a:prstGeom>
          <a:noFill/>
        </p:spPr>
        <p:txBody>
          <a:bodyPr wrap="none" rtlCol="0">
            <a:spAutoFit/>
          </a:bodyPr>
          <a:lstStyle/>
          <a:p>
            <a:pPr defTabSz="121902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读取特定波段</a:t>
            </a:r>
          </a:p>
        </p:txBody>
      </p:sp>
      <p:sp>
        <p:nvSpPr>
          <p:cNvPr id="20" name="TextBox 7">
            <a:extLst>
              <a:ext uri="{FF2B5EF4-FFF2-40B4-BE49-F238E27FC236}">
                <a16:creationId xmlns:a16="http://schemas.microsoft.com/office/drawing/2014/main" id="{52EA6BC4-F375-49A4-BB72-2FBA64BA75DA}"/>
              </a:ext>
            </a:extLst>
          </p:cNvPr>
          <p:cNvSpPr txBox="1"/>
          <p:nvPr/>
        </p:nvSpPr>
        <p:spPr>
          <a:xfrm>
            <a:off x="839018" y="4818906"/>
            <a:ext cx="8143160" cy="787523"/>
          </a:xfrm>
          <a:prstGeom prst="rect">
            <a:avLst/>
          </a:prstGeom>
          <a:noFill/>
        </p:spPr>
        <p:txBody>
          <a:bodyPr wrap="square" rtlCol="0">
            <a:spAutoFit/>
          </a:bodyPr>
          <a:lstStyle/>
          <a:p>
            <a:pPr marL="342900" indent="-342900" defTabSz="1219020">
              <a:lnSpc>
                <a:spcPct val="150000"/>
              </a:lnSpc>
              <a:buFont typeface="Wingdings" panose="05000000000000000000" pitchFamily="2" charset="2"/>
              <a:buChar char="l"/>
            </a:pP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结果如右图所示</a:t>
            </a:r>
            <a:endPar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a:p>
            <a:pPr marL="342900" indent="-342900" defTabSz="1219020">
              <a:lnSpc>
                <a:spcPct val="150000"/>
              </a:lnSpc>
              <a:buFont typeface="Wingdings" panose="05000000000000000000" pitchFamily="2" charset="2"/>
              <a:buChar char="l"/>
            </a:pP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某些情况下需要读取特定波段，或者需要重组波段顺序。</a:t>
            </a:r>
            <a:endPar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p:txBody>
      </p:sp>
      <p:pic>
        <p:nvPicPr>
          <p:cNvPr id="5" name="图片 4">
            <a:extLst>
              <a:ext uri="{FF2B5EF4-FFF2-40B4-BE49-F238E27FC236}">
                <a16:creationId xmlns:a16="http://schemas.microsoft.com/office/drawing/2014/main" id="{FBCB1997-1518-47AE-AB61-27DF68BA2A84}"/>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839018" y="1399624"/>
            <a:ext cx="7552755" cy="3126878"/>
          </a:xfrm>
          <a:prstGeom prst="rect">
            <a:avLst/>
          </a:prstGeom>
        </p:spPr>
      </p:pic>
      <p:pic>
        <p:nvPicPr>
          <p:cNvPr id="7" name="图片 6">
            <a:extLst>
              <a:ext uri="{FF2B5EF4-FFF2-40B4-BE49-F238E27FC236}">
                <a16:creationId xmlns:a16="http://schemas.microsoft.com/office/drawing/2014/main" id="{F2F171CE-B889-448D-832F-80870315F6CD}"/>
              </a:ext>
            </a:extLst>
          </p:cNvPr>
          <p:cNvPicPr>
            <a:picLocks noChangeAspect="1"/>
          </p:cNvPicPr>
          <p:nvPr/>
        </p:nvPicPr>
        <p:blipFill>
          <a:blip r:embed="rId6"/>
          <a:stretch>
            <a:fillRect/>
          </a:stretch>
        </p:blipFill>
        <p:spPr>
          <a:xfrm>
            <a:off x="8681022" y="1413620"/>
            <a:ext cx="3135198" cy="3112882"/>
          </a:xfrm>
          <a:prstGeom prst="rect">
            <a:avLst/>
          </a:prstGeom>
        </p:spPr>
      </p:pic>
    </p:spTree>
    <p:extLst>
      <p:ext uri="{BB962C8B-B14F-4D97-AF65-F5344CB8AC3E}">
        <p14:creationId xmlns:p14="http://schemas.microsoft.com/office/powerpoint/2010/main" val="1587197554"/>
      </p:ext>
    </p:extLst>
  </p:cSld>
  <p:clrMapOvr>
    <a:masterClrMapping/>
  </p:clrMapOvr>
  <mc:AlternateContent xmlns:mc="http://schemas.openxmlformats.org/markup-compatibility/2006" xmlns:p14="http://schemas.microsoft.com/office/powerpoint/2010/main">
    <mc:Choice Requires="p14">
      <p:transition p14:dur="250" advClick="0" advTm="20723">
        <p:push dir="u"/>
      </p:transition>
    </mc:Choice>
    <mc:Fallback xmlns="">
      <p:transition advClick="0" advTm="20723">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1000"/>
                                        <p:tgtEl>
                                          <p:spTgt spid="20"/>
                                        </p:tgtEl>
                                      </p:cBhvr>
                                    </p:animEffect>
                                    <p:anim calcmode="lin" valueType="num">
                                      <p:cBhvr>
                                        <p:cTn id="16" dur="1000" fill="hold"/>
                                        <p:tgtEl>
                                          <p:spTgt spid="20"/>
                                        </p:tgtEl>
                                        <p:attrNameLst>
                                          <p:attrName>ppt_x</p:attrName>
                                        </p:attrNameLst>
                                      </p:cBhvr>
                                      <p:tavLst>
                                        <p:tav tm="0">
                                          <p:val>
                                            <p:strVal val="#ppt_x"/>
                                          </p:val>
                                        </p:tav>
                                        <p:tav tm="100000">
                                          <p:val>
                                            <p:strVal val="#ppt_x"/>
                                          </p:val>
                                        </p:tav>
                                      </p:tavLst>
                                    </p:anim>
                                    <p:anim calcmode="lin" valueType="num">
                                      <p:cBhvr>
                                        <p:cTn id="1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B57C0F8-B204-4584-AB17-3A4B989238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a:extLst>
              <a:ext uri="{FF2B5EF4-FFF2-40B4-BE49-F238E27FC236}">
                <a16:creationId xmlns:a16="http://schemas.microsoft.com/office/drawing/2014/main" id="{E85550B3-3070-4D72-8FA2-A190686442CB}"/>
              </a:ext>
            </a:extLst>
          </p:cNvPr>
          <p:cNvSpPr txBox="1"/>
          <p:nvPr/>
        </p:nvSpPr>
        <p:spPr>
          <a:xfrm>
            <a:off x="539983" y="440281"/>
            <a:ext cx="2339102" cy="461665"/>
          </a:xfrm>
          <a:prstGeom prst="rect">
            <a:avLst/>
          </a:prstGeom>
          <a:noFill/>
        </p:spPr>
        <p:txBody>
          <a:bodyPr wrap="none" rtlCol="0">
            <a:spAutoFit/>
          </a:bodyPr>
          <a:lstStyle/>
          <a:p>
            <a:pPr defTabSz="121902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左下角起点读写</a:t>
            </a:r>
          </a:p>
        </p:txBody>
      </p:sp>
      <p:sp>
        <p:nvSpPr>
          <p:cNvPr id="20" name="TextBox 7">
            <a:extLst>
              <a:ext uri="{FF2B5EF4-FFF2-40B4-BE49-F238E27FC236}">
                <a16:creationId xmlns:a16="http://schemas.microsoft.com/office/drawing/2014/main" id="{52EA6BC4-F375-49A4-BB72-2FBA64BA75DA}"/>
              </a:ext>
            </a:extLst>
          </p:cNvPr>
          <p:cNvSpPr txBox="1"/>
          <p:nvPr/>
        </p:nvSpPr>
        <p:spPr>
          <a:xfrm>
            <a:off x="1520817" y="4761900"/>
            <a:ext cx="8367916" cy="1526187"/>
          </a:xfrm>
          <a:prstGeom prst="rect">
            <a:avLst/>
          </a:prstGeom>
          <a:noFill/>
        </p:spPr>
        <p:txBody>
          <a:bodyPr wrap="square" rtlCol="0">
            <a:spAutoFit/>
          </a:bodyPr>
          <a:lstStyle/>
          <a:p>
            <a:pPr marL="342900" indent="-342900" defTabSz="1219020">
              <a:lnSpc>
                <a:spcPct val="150000"/>
              </a:lnSpc>
              <a:buFont typeface="Wingdings" panose="05000000000000000000" pitchFamily="2" charset="2"/>
              <a:buChar char="l"/>
            </a:pP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默认情况</a:t>
            </a:r>
            <a:r>
              <a:rPr lang="en-US" altLang="zh-CN" sz="1600" b="1" dirty="0" err="1">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RasterIO</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是以左上角起点读写的，不过也是可以以左下角为起点读写，只需要重新设置排布</a:t>
            </a:r>
            <a:r>
              <a:rPr lang="en-US" altLang="zh-CN" sz="1600" b="1" dirty="0" err="1">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buf</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的位置。这里读写</a:t>
            </a:r>
            <a:r>
              <a:rPr lang="en-US" altLang="zh-CN" sz="1600" b="1" dirty="0" err="1">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lena</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图像上同一块位置。</a:t>
            </a:r>
            <a:endPar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a:p>
            <a:pPr marL="342900" indent="-342900" defTabSz="1219020">
              <a:lnSpc>
                <a:spcPct val="150000"/>
              </a:lnSpc>
              <a:buFont typeface="Wingdings" panose="05000000000000000000" pitchFamily="2" charset="2"/>
              <a:buChar char="l"/>
            </a:pPr>
            <a:r>
              <a:rPr lang="zh-CN" altLang="en-US" sz="1600" b="1" dirty="0">
                <a:solidFill>
                  <a:srgbClr val="FF0000"/>
                </a:solidFill>
                <a:latin typeface="方正黑体简体" panose="02010601030101010101" pitchFamily="2" charset="-122"/>
                <a:ea typeface="方正黑体简体" panose="02010601030101010101" pitchFamily="2" charset="-122"/>
                <a:cs typeface="+mn-ea"/>
                <a:sym typeface="+mn-lt"/>
              </a:rPr>
              <a:t>注意：</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这里</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Y</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方向起点位置，也就是第三个参数仍然要用左上角起算，但是</a:t>
            </a:r>
            <a:r>
              <a:rPr lang="en-US" altLang="zh-CN" sz="1600" b="1" dirty="0" err="1">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buf</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已经是左下角起点了。</a:t>
            </a:r>
            <a:endPar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p:txBody>
      </p:sp>
      <p:pic>
        <p:nvPicPr>
          <p:cNvPr id="6" name="图片 5">
            <a:extLst>
              <a:ext uri="{FF2B5EF4-FFF2-40B4-BE49-F238E27FC236}">
                <a16:creationId xmlns:a16="http://schemas.microsoft.com/office/drawing/2014/main" id="{B31CEECC-19A8-4B2F-BE8A-AD0C889EF61B}"/>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1520818" y="1333006"/>
            <a:ext cx="8367916" cy="3108365"/>
          </a:xfrm>
          <a:prstGeom prst="rect">
            <a:avLst/>
          </a:prstGeom>
        </p:spPr>
      </p:pic>
    </p:spTree>
    <p:extLst>
      <p:ext uri="{BB962C8B-B14F-4D97-AF65-F5344CB8AC3E}">
        <p14:creationId xmlns:p14="http://schemas.microsoft.com/office/powerpoint/2010/main" val="2728843157"/>
      </p:ext>
    </p:extLst>
  </p:cSld>
  <p:clrMapOvr>
    <a:masterClrMapping/>
  </p:clrMapOvr>
  <mc:AlternateContent xmlns:mc="http://schemas.openxmlformats.org/markup-compatibility/2006" xmlns:p14="http://schemas.microsoft.com/office/powerpoint/2010/main">
    <mc:Choice Requires="p14">
      <p:transition p14:dur="250" advClick="0" advTm="20723">
        <p:push dir="u"/>
      </p:transition>
    </mc:Choice>
    <mc:Fallback xmlns="">
      <p:transition advClick="0" advTm="20723">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1000"/>
                                        <p:tgtEl>
                                          <p:spTgt spid="20"/>
                                        </p:tgtEl>
                                      </p:cBhvr>
                                    </p:animEffect>
                                    <p:anim calcmode="lin" valueType="num">
                                      <p:cBhvr>
                                        <p:cTn id="16" dur="1000" fill="hold"/>
                                        <p:tgtEl>
                                          <p:spTgt spid="20"/>
                                        </p:tgtEl>
                                        <p:attrNameLst>
                                          <p:attrName>ppt_x</p:attrName>
                                        </p:attrNameLst>
                                      </p:cBhvr>
                                      <p:tavLst>
                                        <p:tav tm="0">
                                          <p:val>
                                            <p:strVal val="#ppt_x"/>
                                          </p:val>
                                        </p:tav>
                                        <p:tav tm="100000">
                                          <p:val>
                                            <p:strVal val="#ppt_x"/>
                                          </p:val>
                                        </p:tav>
                                      </p:tavLst>
                                    </p:anim>
                                    <p:anim calcmode="lin" valueType="num">
                                      <p:cBhvr>
                                        <p:cTn id="1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B57C0F8-B204-4584-AB17-3A4B989238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a:extLst>
              <a:ext uri="{FF2B5EF4-FFF2-40B4-BE49-F238E27FC236}">
                <a16:creationId xmlns:a16="http://schemas.microsoft.com/office/drawing/2014/main" id="{E85550B3-3070-4D72-8FA2-A190686442CB}"/>
              </a:ext>
            </a:extLst>
          </p:cNvPr>
          <p:cNvSpPr txBox="1"/>
          <p:nvPr/>
        </p:nvSpPr>
        <p:spPr>
          <a:xfrm>
            <a:off x="539983" y="440281"/>
            <a:ext cx="1723549" cy="461665"/>
          </a:xfrm>
          <a:prstGeom prst="rect">
            <a:avLst/>
          </a:prstGeom>
          <a:noFill/>
        </p:spPr>
        <p:txBody>
          <a:bodyPr wrap="none" rtlCol="0">
            <a:spAutoFit/>
          </a:bodyPr>
          <a:lstStyle/>
          <a:p>
            <a:pPr defTabSz="121902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重采样读写</a:t>
            </a:r>
          </a:p>
        </p:txBody>
      </p:sp>
      <p:sp>
        <p:nvSpPr>
          <p:cNvPr id="20" name="TextBox 7">
            <a:extLst>
              <a:ext uri="{FF2B5EF4-FFF2-40B4-BE49-F238E27FC236}">
                <a16:creationId xmlns:a16="http://schemas.microsoft.com/office/drawing/2014/main" id="{52EA6BC4-F375-49A4-BB72-2FBA64BA75DA}"/>
              </a:ext>
            </a:extLst>
          </p:cNvPr>
          <p:cNvSpPr txBox="1"/>
          <p:nvPr/>
        </p:nvSpPr>
        <p:spPr>
          <a:xfrm>
            <a:off x="1296218" y="4669616"/>
            <a:ext cx="9308136" cy="1895519"/>
          </a:xfrm>
          <a:prstGeom prst="rect">
            <a:avLst/>
          </a:prstGeom>
          <a:noFill/>
        </p:spPr>
        <p:txBody>
          <a:bodyPr wrap="square" rtlCol="0">
            <a:spAutoFit/>
          </a:bodyPr>
          <a:lstStyle/>
          <a:p>
            <a:pPr marL="342900" indent="-342900" defTabSz="1219020">
              <a:lnSpc>
                <a:spcPct val="150000"/>
              </a:lnSpc>
              <a:buFont typeface="Wingdings" panose="05000000000000000000" pitchFamily="2" charset="2"/>
              <a:buChar char="l"/>
            </a:pPr>
            <a:r>
              <a:rPr lang="en-US" altLang="zh-CN" sz="1600" b="1" dirty="0" err="1">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RasterIO</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另外一个用法是可以自动缩放，重采样读写影像，例如这里将</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512X512</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大小的</a:t>
            </a:r>
            <a:r>
              <a:rPr lang="en-US" altLang="zh-CN" sz="1600" b="1" dirty="0" err="1">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lena</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图像重采样成</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256X256</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大小。</a:t>
            </a:r>
            <a:endPar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a:p>
            <a:pPr marL="342900" indent="-342900" defTabSz="1219020">
              <a:lnSpc>
                <a:spcPct val="150000"/>
              </a:lnSpc>
              <a:buFont typeface="Wingdings" panose="05000000000000000000" pitchFamily="2" charset="2"/>
              <a:buChar char="l"/>
            </a:pP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可以看到重采样读写只需要修改参数</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4</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，参数</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5</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就行了。</a:t>
            </a:r>
            <a:endPar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a:p>
            <a:pPr marL="342900" indent="-342900" defTabSz="1219020">
              <a:lnSpc>
                <a:spcPct val="150000"/>
              </a:lnSpc>
              <a:buFont typeface="Wingdings" panose="05000000000000000000" pitchFamily="2" charset="2"/>
              <a:buChar char="l"/>
            </a:pPr>
            <a:r>
              <a:rPr lang="en-US" altLang="zh-CN" sz="1600" b="1" dirty="0" err="1">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RasterIO</a:t>
            </a:r>
            <a:r>
              <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a:t>
            </a:r>
            <a:r>
              <a:rPr lang="zh-CN" altLang="en-US"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rPr>
              <a:t>重采样方式默认是最临近的方法（其他方法可以自行学习），只有建立金字塔时可以设置重采样方式，但也仅限于缩小。</a:t>
            </a:r>
            <a:endParaRPr lang="en-US" altLang="zh-CN" sz="1600" b="1"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p:txBody>
      </p:sp>
      <p:pic>
        <p:nvPicPr>
          <p:cNvPr id="5" name="图片 4">
            <a:extLst>
              <a:ext uri="{FF2B5EF4-FFF2-40B4-BE49-F238E27FC236}">
                <a16:creationId xmlns:a16="http://schemas.microsoft.com/office/drawing/2014/main" id="{93478A0C-A0B8-4CFA-A862-50E3247C3932}"/>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1296218" y="1183236"/>
            <a:ext cx="9308136" cy="3354380"/>
          </a:xfrm>
          <a:prstGeom prst="rect">
            <a:avLst/>
          </a:prstGeom>
        </p:spPr>
      </p:pic>
    </p:spTree>
    <p:extLst>
      <p:ext uri="{BB962C8B-B14F-4D97-AF65-F5344CB8AC3E}">
        <p14:creationId xmlns:p14="http://schemas.microsoft.com/office/powerpoint/2010/main" val="4081797051"/>
      </p:ext>
    </p:extLst>
  </p:cSld>
  <p:clrMapOvr>
    <a:masterClrMapping/>
  </p:clrMapOvr>
  <mc:AlternateContent xmlns:mc="http://schemas.openxmlformats.org/markup-compatibility/2006" xmlns:p14="http://schemas.microsoft.com/office/powerpoint/2010/main">
    <mc:Choice Requires="p14">
      <p:transition p14:dur="250" advClick="0" advTm="20723">
        <p:push dir="u"/>
      </p:transition>
    </mc:Choice>
    <mc:Fallback xmlns="">
      <p:transition advClick="0" advTm="20723">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1000"/>
                                        <p:tgtEl>
                                          <p:spTgt spid="20"/>
                                        </p:tgtEl>
                                      </p:cBhvr>
                                    </p:animEffect>
                                    <p:anim calcmode="lin" valueType="num">
                                      <p:cBhvr>
                                        <p:cTn id="16" dur="1000" fill="hold"/>
                                        <p:tgtEl>
                                          <p:spTgt spid="20"/>
                                        </p:tgtEl>
                                        <p:attrNameLst>
                                          <p:attrName>ppt_x</p:attrName>
                                        </p:attrNameLst>
                                      </p:cBhvr>
                                      <p:tavLst>
                                        <p:tav tm="0">
                                          <p:val>
                                            <p:strVal val="#ppt_x"/>
                                          </p:val>
                                        </p:tav>
                                        <p:tav tm="100000">
                                          <p:val>
                                            <p:strVal val="#ppt_x"/>
                                          </p:val>
                                        </p:tav>
                                      </p:tavLst>
                                    </p:anim>
                                    <p:anim calcmode="lin" valueType="num">
                                      <p:cBhvr>
                                        <p:cTn id="1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 name="TextBox 7"/>
          <p:cNvSpPr txBox="1"/>
          <p:nvPr/>
        </p:nvSpPr>
        <p:spPr>
          <a:xfrm>
            <a:off x="539982" y="440281"/>
            <a:ext cx="4582524" cy="461665"/>
          </a:xfrm>
          <a:prstGeom prst="rect">
            <a:avLst/>
          </a:prstGeom>
          <a:noFill/>
        </p:spPr>
        <p:txBody>
          <a:bodyPr wrap="square" rtlCol="0">
            <a:spAutoFit/>
          </a:bodyPr>
          <a:lstStyle/>
          <a:p>
            <a:pPr defTabSz="121920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对大图像进行分块操作</a:t>
            </a:r>
          </a:p>
        </p:txBody>
      </p:sp>
      <p:sp>
        <p:nvSpPr>
          <p:cNvPr id="17" name="文本框 16">
            <a:extLst>
              <a:ext uri="{FF2B5EF4-FFF2-40B4-BE49-F238E27FC236}">
                <a16:creationId xmlns:a16="http://schemas.microsoft.com/office/drawing/2014/main" id="{EBD49ED0-E7DD-4E81-BBD7-ED76B42AE9D2}"/>
              </a:ext>
            </a:extLst>
          </p:cNvPr>
          <p:cNvSpPr txBox="1"/>
          <p:nvPr/>
        </p:nvSpPr>
        <p:spPr>
          <a:xfrm>
            <a:off x="5455881" y="2172601"/>
            <a:ext cx="5916969" cy="3139321"/>
          </a:xfrm>
          <a:prstGeom prst="rect">
            <a:avLst/>
          </a:prstGeom>
          <a:noFill/>
        </p:spPr>
        <p:txBody>
          <a:bodyPr wrap="square">
            <a:spAutoFit/>
          </a:bodyPr>
          <a:lstStyle/>
          <a:p>
            <a:r>
              <a:rPr lang="zh-CN" altLang="en-US" b="1" dirty="0"/>
              <a:t>参考代码：</a:t>
            </a:r>
            <a:endParaRPr lang="en-US" altLang="zh-CN" b="1" dirty="0"/>
          </a:p>
          <a:p>
            <a:r>
              <a:rPr lang="en-US" altLang="zh-CN" b="1" dirty="0"/>
              <a:t>https://blog.csdn.net/liminlu0314/article/details/73881097?ops_request_misc=%257B%2522request%255Fid%2522%253A%2522159427285519725222453256%2522%252C%2522scm%2522%253A%252220140713.130102334..%2522%257D&amp;request_id=159427285519725222453256&amp;biz_id=0&amp;utm_medium=distribute.pc_search_result.none-task-blog-2~all~first_rank_ecpm_v3~pc_rank_v3-3-73881097.pc_ecpm_v3_pc_rank_v3&amp;utm_term=gdal%E8%AF%BB%E5%86%99%E5%9B%BE%E5%83%8F%E5%88%86%E5%9D%97%E5%A4%84%E7%90%86</a:t>
            </a:r>
            <a:endParaRPr lang="zh-CN" altLang="en-US" b="1" dirty="0"/>
          </a:p>
        </p:txBody>
      </p:sp>
      <p:pic>
        <p:nvPicPr>
          <p:cNvPr id="5" name="图片 4">
            <a:extLst>
              <a:ext uri="{FF2B5EF4-FFF2-40B4-BE49-F238E27FC236}">
                <a16:creationId xmlns:a16="http://schemas.microsoft.com/office/drawing/2014/main" id="{22BE2798-EA82-4D66-9A9F-876F9564DCB1}"/>
              </a:ext>
            </a:extLst>
          </p:cNvPr>
          <p:cNvPicPr>
            <a:picLocks noChangeAspect="1"/>
          </p:cNvPicPr>
          <p:nvPr/>
        </p:nvPicPr>
        <p:blipFill>
          <a:blip r:embed="rId4"/>
          <a:stretch>
            <a:fillRect/>
          </a:stretch>
        </p:blipFill>
        <p:spPr>
          <a:xfrm>
            <a:off x="918880" y="1492980"/>
            <a:ext cx="3970364" cy="4046571"/>
          </a:xfrm>
          <a:prstGeom prst="rect">
            <a:avLst/>
          </a:prstGeom>
        </p:spPr>
      </p:pic>
    </p:spTree>
    <p:extLst>
      <p:ext uri="{BB962C8B-B14F-4D97-AF65-F5344CB8AC3E}">
        <p14:creationId xmlns:p14="http://schemas.microsoft.com/office/powerpoint/2010/main" val="4126553739"/>
      </p:ext>
    </p:extLst>
  </p:cSld>
  <p:clrMapOvr>
    <a:masterClrMapping/>
  </p:clrMapOvr>
  <mc:AlternateContent xmlns:mc="http://schemas.openxmlformats.org/markup-compatibility/2006" xmlns:p14="http://schemas.microsoft.com/office/powerpoint/2010/main">
    <mc:Choice Requires="p14">
      <p:transition p14:dur="250" advClick="0" advTm="8471">
        <p:push dir="u"/>
      </p:transition>
    </mc:Choice>
    <mc:Fallback xmlns="">
      <p:transition advClick="0" advTm="847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0-#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30949" y="0"/>
            <a:ext cx="5861051" cy="6858000"/>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11968" y="635721"/>
            <a:ext cx="4980032" cy="5915832"/>
          </a:xfrm>
          <a:prstGeom prst="rect">
            <a:avLst/>
          </a:prstGeom>
        </p:spPr>
      </p:pic>
      <p:sp>
        <p:nvSpPr>
          <p:cNvPr id="10" name="TextBox 6"/>
          <p:cNvSpPr txBox="1"/>
          <p:nvPr/>
        </p:nvSpPr>
        <p:spPr>
          <a:xfrm>
            <a:off x="1424177" y="1892830"/>
            <a:ext cx="4183774" cy="1323439"/>
          </a:xfrm>
          <a:prstGeom prst="rect">
            <a:avLst/>
          </a:prstGeom>
          <a:noFill/>
        </p:spPr>
        <p:txBody>
          <a:bodyPr wrap="none" rtlCol="0">
            <a:spAutoFit/>
          </a:bodyPr>
          <a:lstStyle/>
          <a:p>
            <a:pPr defTabSz="1219200"/>
            <a:r>
              <a:rPr lang="en-US" altLang="zh-CN" sz="8000" dirty="0">
                <a:solidFill>
                  <a:srgbClr val="E1E0D8"/>
                </a:solidFill>
                <a:latin typeface="方正黑体简体" panose="02010601030101010101" pitchFamily="2" charset="-122"/>
                <a:ea typeface="方正黑体简体" panose="02010601030101010101" pitchFamily="2" charset="-122"/>
                <a:cs typeface="+mn-ea"/>
                <a:sym typeface="+mn-lt"/>
              </a:rPr>
              <a:t>PART 04</a:t>
            </a:r>
            <a:endParaRPr lang="zh-CN" altLang="en-US" sz="8000"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11" name="TextBox 7"/>
          <p:cNvSpPr txBox="1"/>
          <p:nvPr/>
        </p:nvSpPr>
        <p:spPr>
          <a:xfrm>
            <a:off x="2351584" y="2660915"/>
            <a:ext cx="2646878" cy="830997"/>
          </a:xfrm>
          <a:prstGeom prst="rect">
            <a:avLst/>
          </a:prstGeom>
          <a:noFill/>
        </p:spPr>
        <p:txBody>
          <a:bodyPr wrap="none" rtlCol="0">
            <a:spAutoFit/>
          </a:bodyPr>
          <a:lstStyle/>
          <a:p>
            <a:pPr defTabSz="1219200"/>
            <a:r>
              <a:rPr lang="zh-CN" altLang="en-US" sz="4800" dirty="0">
                <a:solidFill>
                  <a:srgbClr val="4F4D50"/>
                </a:solidFill>
                <a:latin typeface="方正黑体简体" panose="02010601030101010101" pitchFamily="2" charset="-122"/>
                <a:ea typeface="方正黑体简体" panose="02010601030101010101" pitchFamily="2" charset="-122"/>
                <a:cs typeface="+mn-ea"/>
                <a:sym typeface="+mn-lt"/>
              </a:rPr>
              <a:t>其他算法</a:t>
            </a:r>
          </a:p>
        </p:txBody>
      </p:sp>
      <p:sp>
        <p:nvSpPr>
          <p:cNvPr id="13" name="TextBox 6"/>
          <p:cNvSpPr txBox="1"/>
          <p:nvPr/>
        </p:nvSpPr>
        <p:spPr>
          <a:xfrm>
            <a:off x="9701984" y="2168473"/>
            <a:ext cx="2137124" cy="2646878"/>
          </a:xfrm>
          <a:prstGeom prst="rect">
            <a:avLst/>
          </a:prstGeom>
          <a:noFill/>
        </p:spPr>
        <p:txBody>
          <a:bodyPr wrap="none" rtlCol="0">
            <a:spAutoFit/>
          </a:bodyPr>
          <a:lstStyle/>
          <a:p>
            <a:pPr defTabSz="1219200"/>
            <a:r>
              <a:rPr lang="en-US" altLang="zh-CN" sz="16600" spc="600" dirty="0">
                <a:gradFill>
                  <a:gsLst>
                    <a:gs pos="0">
                      <a:srgbClr val="F7DCAC"/>
                    </a:gs>
                    <a:gs pos="100000">
                      <a:srgbClr val="88745B"/>
                    </a:gs>
                  </a:gsLst>
                  <a:lin ang="1800000" scaled="0"/>
                </a:gradFill>
                <a:effectLst>
                  <a:outerShdw blurRad="190500" dist="63500" dir="2700000" algn="tl">
                    <a:srgbClr val="000000">
                      <a:alpha val="30000"/>
                    </a:srgbClr>
                  </a:outerShdw>
                </a:effectLst>
                <a:latin typeface="Agency FB" panose="020B0503020202020204" pitchFamily="34" charset="0"/>
                <a:ea typeface="方正黑体简体" panose="02010601030101010101" pitchFamily="2" charset="-122"/>
                <a:cs typeface="+mn-ea"/>
                <a:sym typeface="+mn-lt"/>
              </a:rPr>
              <a:t>05</a:t>
            </a:r>
            <a:endParaRPr lang="zh-CN" altLang="en-US" sz="16600" spc="600" dirty="0">
              <a:gradFill>
                <a:gsLst>
                  <a:gs pos="0">
                    <a:srgbClr val="F7DCAC"/>
                  </a:gs>
                  <a:gs pos="100000">
                    <a:srgbClr val="88745B"/>
                  </a:gs>
                </a:gsLst>
                <a:lin ang="1800000" scaled="0"/>
              </a:gradFill>
              <a:effectLst>
                <a:outerShdw blurRad="190500" dist="63500" dir="2700000" algn="tl">
                  <a:srgbClr val="000000">
                    <a:alpha val="30000"/>
                  </a:srgbClr>
                </a:outerShdw>
              </a:effectLst>
              <a:latin typeface="Agency FB" panose="020B0503020202020204" pitchFamily="34" charset="0"/>
              <a:ea typeface="方正黑体简体" panose="02010601030101010101" pitchFamily="2" charset="-122"/>
              <a:cs typeface="+mn-ea"/>
              <a:sym typeface="+mn-lt"/>
            </a:endParaRPr>
          </a:p>
        </p:txBody>
      </p:sp>
    </p:spTree>
    <p:extLst>
      <p:ext uri="{BB962C8B-B14F-4D97-AF65-F5344CB8AC3E}">
        <p14:creationId xmlns:p14="http://schemas.microsoft.com/office/powerpoint/2010/main" val="957877713"/>
      </p:ext>
    </p:extLst>
  </p:cSld>
  <p:clrMapOvr>
    <a:masterClrMapping/>
  </p:clrMapOvr>
  <mc:AlternateContent xmlns:mc="http://schemas.openxmlformats.org/markup-compatibility/2006" xmlns:p14="http://schemas.microsoft.com/office/powerpoint/2010/main">
    <mc:Choice Requires="p14">
      <p:transition p14:dur="250" advClick="0" advTm="2268">
        <p14:flip dir="r"/>
      </p:transition>
    </mc:Choice>
    <mc:Fallback xmlns="">
      <p:transition advClick="0" advTm="226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3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30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677e7699-796b-4d01-8ca6-cc8e0d365d10"/>
          <p:cNvGrpSpPr>
            <a:grpSpLocks noChangeAspect="1"/>
          </p:cNvGrpSpPr>
          <p:nvPr/>
        </p:nvGrpSpPr>
        <p:grpSpPr>
          <a:xfrm>
            <a:off x="1356560" y="2987246"/>
            <a:ext cx="9478883" cy="1350906"/>
            <a:chOff x="1526035" y="2987131"/>
            <a:chExt cx="9481351" cy="1351258"/>
          </a:xfrm>
          <a:effectLst>
            <a:outerShdw blurRad="254000" dist="63500" dir="2700000" algn="tl" rotWithShape="0">
              <a:prstClr val="black">
                <a:alpha val="30000"/>
              </a:prstClr>
            </a:outerShdw>
          </a:effectLst>
        </p:grpSpPr>
        <p:sp>
          <p:nvSpPr>
            <p:cNvPr id="4" name="Rectangle 2"/>
            <p:cNvSpPr/>
            <p:nvPr/>
          </p:nvSpPr>
          <p:spPr>
            <a:xfrm>
              <a:off x="1526035" y="3635724"/>
              <a:ext cx="9481351" cy="45719"/>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799">
                <a:cs typeface="+mn-ea"/>
                <a:sym typeface="+mn-lt"/>
              </a:endParaRPr>
            </a:p>
          </p:txBody>
        </p:sp>
        <p:grpSp>
          <p:nvGrpSpPr>
            <p:cNvPr id="5" name="Group 39"/>
            <p:cNvGrpSpPr/>
            <p:nvPr/>
          </p:nvGrpSpPr>
          <p:grpSpPr>
            <a:xfrm>
              <a:off x="4329550" y="3024490"/>
              <a:ext cx="1313895" cy="1313895"/>
              <a:chOff x="4330102" y="3024490"/>
              <a:chExt cx="1313895" cy="1313895"/>
            </a:xfrm>
          </p:grpSpPr>
          <p:grpSp>
            <p:nvGrpSpPr>
              <p:cNvPr id="39" name="Group 3"/>
              <p:cNvGrpSpPr/>
              <p:nvPr/>
            </p:nvGrpSpPr>
            <p:grpSpPr>
              <a:xfrm rot="551458">
                <a:off x="4330102" y="3024490"/>
                <a:ext cx="1313895" cy="1313895"/>
                <a:chOff x="1882067" y="2796467"/>
                <a:chExt cx="1313894" cy="1313894"/>
              </a:xfrm>
              <a:solidFill>
                <a:schemeClr val="accent2"/>
              </a:solidFill>
            </p:grpSpPr>
            <p:sp>
              <p:nvSpPr>
                <p:cNvPr id="41" name="Block Arc 4"/>
                <p:cNvSpPr/>
                <p:nvPr/>
              </p:nvSpPr>
              <p:spPr>
                <a:xfrm rot="12943459">
                  <a:off x="1882067" y="2796467"/>
                  <a:ext cx="1313894" cy="1313894"/>
                </a:xfrm>
                <a:prstGeom prst="blockArc">
                  <a:avLst>
                    <a:gd name="adj1" fmla="val 8881062"/>
                    <a:gd name="adj2" fmla="val 7061138"/>
                    <a:gd name="adj3" fmla="val 7218"/>
                  </a:avLst>
                </a:prstGeom>
                <a:solidFill>
                  <a:srgbClr val="C8B0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799">
                    <a:cs typeface="+mn-ea"/>
                    <a:sym typeface="+mn-lt"/>
                  </a:endParaRPr>
                </a:p>
              </p:txBody>
            </p:sp>
            <p:sp>
              <p:nvSpPr>
                <p:cNvPr id="42" name="Oval 5"/>
                <p:cNvSpPr/>
                <p:nvPr/>
              </p:nvSpPr>
              <p:spPr>
                <a:xfrm>
                  <a:off x="2150177" y="3064576"/>
                  <a:ext cx="777674" cy="777674"/>
                </a:xfrm>
                <a:prstGeom prst="ellipse">
                  <a:avLst/>
                </a:prstGeom>
                <a:solidFill>
                  <a:srgbClr val="C8B0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799">
                    <a:cs typeface="+mn-ea"/>
                    <a:sym typeface="+mn-lt"/>
                  </a:endParaRPr>
                </a:p>
              </p:txBody>
            </p:sp>
          </p:grpSp>
          <p:sp>
            <p:nvSpPr>
              <p:cNvPr id="40" name="Freeform: Shape 6"/>
              <p:cNvSpPr/>
              <p:nvPr/>
            </p:nvSpPr>
            <p:spPr>
              <a:xfrm>
                <a:off x="4811471" y="3534536"/>
                <a:ext cx="351157" cy="350504"/>
              </a:xfrm>
              <a:custGeom>
                <a:avLst/>
                <a:gdLst>
                  <a:gd name="connsiteX0" fmla="*/ 0 w 1826018"/>
                  <a:gd name="connsiteY0" fmla="*/ 1 h 1683350"/>
                  <a:gd name="connsiteX1" fmla="*/ 838286 w 1826018"/>
                  <a:gd name="connsiteY1" fmla="*/ 1 h 1683350"/>
                  <a:gd name="connsiteX2" fmla="*/ 833465 w 1826018"/>
                  <a:gd name="connsiteY2" fmla="*/ 36530 h 1683350"/>
                  <a:gd name="connsiteX3" fmla="*/ 386449 w 1826018"/>
                  <a:gd name="connsiteY3" fmla="*/ 780061 h 1683350"/>
                  <a:gd name="connsiteX4" fmla="*/ 310221 w 1826018"/>
                  <a:gd name="connsiteY4" fmla="*/ 834538 h 1683350"/>
                  <a:gd name="connsiteX5" fmla="*/ 1494538 w 1826018"/>
                  <a:gd name="connsiteY5" fmla="*/ 0 h 1683350"/>
                  <a:gd name="connsiteX6" fmla="*/ 1826018 w 1826018"/>
                  <a:gd name="connsiteY6" fmla="*/ 0 h 1683350"/>
                  <a:gd name="connsiteX7" fmla="*/ 625749 w 1826018"/>
                  <a:gd name="connsiteY7" fmla="*/ 1683350 h 1683350"/>
                  <a:gd name="connsiteX8" fmla="*/ 516809 w 1826018"/>
                  <a:gd name="connsiteY8" fmla="*/ 1390285 h 1683350"/>
                  <a:gd name="connsiteX9" fmla="*/ 607661 w 1826018"/>
                  <a:gd name="connsiteY9" fmla="*/ 1357828 h 1683350"/>
                  <a:gd name="connsiteX10" fmla="*/ 1495218 w 1826018"/>
                  <a:gd name="connsiteY10" fmla="*/ 87840 h 1683350"/>
                  <a:gd name="connsiteX11" fmla="*/ 1026236 w 1826018"/>
                  <a:gd name="connsiteY11" fmla="*/ 0 h 1683350"/>
                  <a:gd name="connsiteX12" fmla="*/ 1308197 w 1826018"/>
                  <a:gd name="connsiteY12" fmla="*/ 0 h 1683350"/>
                  <a:gd name="connsiteX13" fmla="*/ 1308788 w 1826018"/>
                  <a:gd name="connsiteY13" fmla="*/ 76317 h 1683350"/>
                  <a:gd name="connsiteX14" fmla="*/ 532761 w 1826018"/>
                  <a:gd name="connsiteY14" fmla="*/ 1186719 h 1683350"/>
                  <a:gd name="connsiteX15" fmla="*/ 451878 w 1826018"/>
                  <a:gd name="connsiteY15" fmla="*/ 1215614 h 1683350"/>
                  <a:gd name="connsiteX16" fmla="*/ 377492 w 1826018"/>
                  <a:gd name="connsiteY16" fmla="*/ 1015506 h 1683350"/>
                  <a:gd name="connsiteX17" fmla="*/ 505232 w 1826018"/>
                  <a:gd name="connsiteY17" fmla="*/ 924217 h 1683350"/>
                  <a:gd name="connsiteX18" fmla="*/ 1016493 w 1826018"/>
                  <a:gd name="connsiteY18" fmla="*/ 73826 h 168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26018" h="1683350">
                    <a:moveTo>
                      <a:pt x="0" y="1"/>
                    </a:moveTo>
                    <a:lnTo>
                      <a:pt x="838286" y="1"/>
                    </a:lnTo>
                    <a:lnTo>
                      <a:pt x="833465" y="36530"/>
                    </a:lnTo>
                    <a:cubicBezTo>
                      <a:pt x="773762" y="329769"/>
                      <a:pt x="614769" y="591902"/>
                      <a:pt x="386449" y="780061"/>
                    </a:cubicBezTo>
                    <a:lnTo>
                      <a:pt x="310221" y="834538"/>
                    </a:lnTo>
                    <a:close/>
                    <a:moveTo>
                      <a:pt x="1494538" y="0"/>
                    </a:moveTo>
                    <a:lnTo>
                      <a:pt x="1826018" y="0"/>
                    </a:lnTo>
                    <a:cubicBezTo>
                      <a:pt x="1826018" y="752824"/>
                      <a:pt x="1346478" y="1425368"/>
                      <a:pt x="625749" y="1683350"/>
                    </a:cubicBezTo>
                    <a:lnTo>
                      <a:pt x="516809" y="1390285"/>
                    </a:lnTo>
                    <a:lnTo>
                      <a:pt x="607661" y="1357828"/>
                    </a:lnTo>
                    <a:cubicBezTo>
                      <a:pt x="1118196" y="1134356"/>
                      <a:pt x="1460834" y="644081"/>
                      <a:pt x="1495218" y="87840"/>
                    </a:cubicBezTo>
                    <a:close/>
                    <a:moveTo>
                      <a:pt x="1026236" y="0"/>
                    </a:moveTo>
                    <a:lnTo>
                      <a:pt x="1308197" y="0"/>
                    </a:lnTo>
                    <a:lnTo>
                      <a:pt x="1308788" y="76317"/>
                    </a:lnTo>
                    <a:cubicBezTo>
                      <a:pt x="1278725" y="562661"/>
                      <a:pt x="979141" y="991327"/>
                      <a:pt x="532761" y="1186719"/>
                    </a:cubicBezTo>
                    <a:lnTo>
                      <a:pt x="451878" y="1215614"/>
                    </a:lnTo>
                    <a:lnTo>
                      <a:pt x="377492" y="1015506"/>
                    </a:lnTo>
                    <a:lnTo>
                      <a:pt x="505232" y="924217"/>
                    </a:lnTo>
                    <a:cubicBezTo>
                      <a:pt x="766367" y="709016"/>
                      <a:pt x="948209" y="409208"/>
                      <a:pt x="1016493" y="7382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799">
                  <a:cs typeface="+mn-ea"/>
                  <a:sym typeface="+mn-lt"/>
                </a:endParaRPr>
              </a:p>
            </p:txBody>
          </p:sp>
        </p:grpSp>
        <p:grpSp>
          <p:nvGrpSpPr>
            <p:cNvPr id="6" name="Group 41"/>
            <p:cNvGrpSpPr/>
            <p:nvPr/>
          </p:nvGrpSpPr>
          <p:grpSpPr>
            <a:xfrm>
              <a:off x="9037552" y="3024494"/>
              <a:ext cx="1313895" cy="1313895"/>
              <a:chOff x="8972997" y="3024494"/>
              <a:chExt cx="1313895" cy="1313895"/>
            </a:xfrm>
          </p:grpSpPr>
          <p:grpSp>
            <p:nvGrpSpPr>
              <p:cNvPr id="33" name="Group 13"/>
              <p:cNvGrpSpPr/>
              <p:nvPr/>
            </p:nvGrpSpPr>
            <p:grpSpPr>
              <a:xfrm rot="387625">
                <a:off x="8972997" y="3024494"/>
                <a:ext cx="1313895" cy="1313895"/>
                <a:chOff x="1882067" y="2796467"/>
                <a:chExt cx="1313894" cy="1313894"/>
              </a:xfrm>
              <a:solidFill>
                <a:schemeClr val="accent4"/>
              </a:solidFill>
            </p:grpSpPr>
            <p:sp>
              <p:nvSpPr>
                <p:cNvPr id="37" name="Block Arc 14"/>
                <p:cNvSpPr/>
                <p:nvPr/>
              </p:nvSpPr>
              <p:spPr>
                <a:xfrm rot="12943459">
                  <a:off x="1882067" y="2796467"/>
                  <a:ext cx="1313894" cy="1313894"/>
                </a:xfrm>
                <a:prstGeom prst="blockArc">
                  <a:avLst>
                    <a:gd name="adj1" fmla="val 8964929"/>
                    <a:gd name="adj2" fmla="val 7324230"/>
                    <a:gd name="adj3" fmla="val 7594"/>
                  </a:avLst>
                </a:prstGeom>
                <a:solidFill>
                  <a:srgbClr val="C8B0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799">
                    <a:cs typeface="+mn-ea"/>
                    <a:sym typeface="+mn-lt"/>
                  </a:endParaRPr>
                </a:p>
              </p:txBody>
            </p:sp>
            <p:sp>
              <p:nvSpPr>
                <p:cNvPr id="38" name="Oval 15"/>
                <p:cNvSpPr/>
                <p:nvPr/>
              </p:nvSpPr>
              <p:spPr>
                <a:xfrm>
                  <a:off x="2150177" y="3064576"/>
                  <a:ext cx="777674" cy="777674"/>
                </a:xfrm>
                <a:prstGeom prst="ellipse">
                  <a:avLst/>
                </a:prstGeom>
                <a:solidFill>
                  <a:srgbClr val="C8B0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799">
                    <a:cs typeface="+mn-ea"/>
                    <a:sym typeface="+mn-lt"/>
                  </a:endParaRPr>
                </a:p>
              </p:txBody>
            </p:sp>
          </p:grpSp>
          <p:grpSp>
            <p:nvGrpSpPr>
              <p:cNvPr id="34" name="Group 16"/>
              <p:cNvGrpSpPr/>
              <p:nvPr/>
            </p:nvGrpSpPr>
            <p:grpSpPr>
              <a:xfrm>
                <a:off x="9477373" y="3481868"/>
                <a:ext cx="319091" cy="324201"/>
                <a:chOff x="7108030" y="2440377"/>
                <a:chExt cx="239318" cy="243151"/>
              </a:xfrm>
            </p:grpSpPr>
            <p:sp>
              <p:nvSpPr>
                <p:cNvPr id="35" name="Freeform: Shape 17"/>
                <p:cNvSpPr/>
                <p:nvPr/>
              </p:nvSpPr>
              <p:spPr>
                <a:xfrm rot="10800000" flipV="1">
                  <a:off x="7108030" y="2440377"/>
                  <a:ext cx="239318" cy="243151"/>
                </a:xfrm>
                <a:custGeom>
                  <a:avLst/>
                  <a:gdLst>
                    <a:gd name="connsiteX0" fmla="*/ 160364 w 239318"/>
                    <a:gd name="connsiteY0" fmla="*/ 0 h 243151"/>
                    <a:gd name="connsiteX1" fmla="*/ 139093 w 239318"/>
                    <a:gd name="connsiteY1" fmla="*/ 40447 h 243151"/>
                    <a:gd name="connsiteX2" fmla="*/ 141529 w 239318"/>
                    <a:gd name="connsiteY2" fmla="*/ 51630 h 243151"/>
                    <a:gd name="connsiteX3" fmla="*/ 88884 w 239318"/>
                    <a:gd name="connsiteY3" fmla="*/ 51630 h 243151"/>
                    <a:gd name="connsiteX4" fmla="*/ 91176 w 239318"/>
                    <a:gd name="connsiteY4" fmla="*/ 41110 h 243151"/>
                    <a:gd name="connsiteX5" fmla="*/ 69905 w 239318"/>
                    <a:gd name="connsiteY5" fmla="*/ 663 h 243151"/>
                    <a:gd name="connsiteX6" fmla="*/ 48634 w 239318"/>
                    <a:gd name="connsiteY6" fmla="*/ 41110 h 243151"/>
                    <a:gd name="connsiteX7" fmla="*/ 50925 w 239318"/>
                    <a:gd name="connsiteY7" fmla="*/ 51630 h 243151"/>
                    <a:gd name="connsiteX8" fmla="*/ 0 w 239318"/>
                    <a:gd name="connsiteY8" fmla="*/ 51630 h 243151"/>
                    <a:gd name="connsiteX9" fmla="*/ 0 w 239318"/>
                    <a:gd name="connsiteY9" fmla="*/ 243151 h 243151"/>
                    <a:gd name="connsiteX10" fmla="*/ 239318 w 239318"/>
                    <a:gd name="connsiteY10" fmla="*/ 243151 h 243151"/>
                    <a:gd name="connsiteX11" fmla="*/ 239318 w 239318"/>
                    <a:gd name="connsiteY11" fmla="*/ 51630 h 243151"/>
                    <a:gd name="connsiteX12" fmla="*/ 179199 w 239318"/>
                    <a:gd name="connsiteY12" fmla="*/ 51630 h 243151"/>
                    <a:gd name="connsiteX13" fmla="*/ 181635 w 239318"/>
                    <a:gd name="connsiteY13" fmla="*/ 40447 h 243151"/>
                    <a:gd name="connsiteX14" fmla="*/ 160364 w 239318"/>
                    <a:gd name="connsiteY14" fmla="*/ 0 h 243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9318" h="243151">
                      <a:moveTo>
                        <a:pt x="160364" y="0"/>
                      </a:moveTo>
                      <a:cubicBezTo>
                        <a:pt x="148616" y="0"/>
                        <a:pt x="139093" y="18109"/>
                        <a:pt x="139093" y="40447"/>
                      </a:cubicBezTo>
                      <a:lnTo>
                        <a:pt x="141529" y="51630"/>
                      </a:lnTo>
                      <a:lnTo>
                        <a:pt x="88884" y="51630"/>
                      </a:lnTo>
                      <a:lnTo>
                        <a:pt x="91176" y="41110"/>
                      </a:lnTo>
                      <a:cubicBezTo>
                        <a:pt x="91176" y="18772"/>
                        <a:pt x="81653" y="663"/>
                        <a:pt x="69905" y="663"/>
                      </a:cubicBezTo>
                      <a:cubicBezTo>
                        <a:pt x="58157" y="663"/>
                        <a:pt x="48634" y="18772"/>
                        <a:pt x="48634" y="41110"/>
                      </a:cubicBezTo>
                      <a:lnTo>
                        <a:pt x="50925" y="51630"/>
                      </a:lnTo>
                      <a:lnTo>
                        <a:pt x="0" y="51630"/>
                      </a:lnTo>
                      <a:lnTo>
                        <a:pt x="0" y="243151"/>
                      </a:lnTo>
                      <a:lnTo>
                        <a:pt x="239318" y="243151"/>
                      </a:lnTo>
                      <a:lnTo>
                        <a:pt x="239318" y="51630"/>
                      </a:lnTo>
                      <a:lnTo>
                        <a:pt x="179199" y="51630"/>
                      </a:lnTo>
                      <a:lnTo>
                        <a:pt x="181635" y="40447"/>
                      </a:lnTo>
                      <a:cubicBezTo>
                        <a:pt x="181635" y="18109"/>
                        <a:pt x="172112" y="0"/>
                        <a:pt x="160364" y="0"/>
                      </a:cubicBezTo>
                      <a:close/>
                    </a:path>
                  </a:pathLst>
                </a:custGeom>
                <a:no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799">
                    <a:cs typeface="+mn-ea"/>
                    <a:sym typeface="+mn-lt"/>
                  </a:endParaRPr>
                </a:p>
              </p:txBody>
            </p:sp>
            <p:sp>
              <p:nvSpPr>
                <p:cNvPr id="36" name="Rectangle 18"/>
                <p:cNvSpPr/>
                <p:nvPr/>
              </p:nvSpPr>
              <p:spPr>
                <a:xfrm>
                  <a:off x="7112630" y="2493527"/>
                  <a:ext cx="230118" cy="364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799">
                    <a:cs typeface="+mn-ea"/>
                    <a:sym typeface="+mn-lt"/>
                  </a:endParaRPr>
                </a:p>
              </p:txBody>
            </p:sp>
          </p:grpSp>
        </p:grpSp>
        <p:grpSp>
          <p:nvGrpSpPr>
            <p:cNvPr id="7" name="Group 40"/>
            <p:cNvGrpSpPr/>
            <p:nvPr/>
          </p:nvGrpSpPr>
          <p:grpSpPr>
            <a:xfrm>
              <a:off x="6657677" y="2987131"/>
              <a:ext cx="1313895" cy="1313895"/>
              <a:chOff x="6651549" y="2987131"/>
              <a:chExt cx="1313895" cy="1313895"/>
            </a:xfrm>
          </p:grpSpPr>
          <p:grpSp>
            <p:nvGrpSpPr>
              <p:cNvPr id="25" name="Group 10"/>
              <p:cNvGrpSpPr/>
              <p:nvPr/>
            </p:nvGrpSpPr>
            <p:grpSpPr>
              <a:xfrm rot="541231">
                <a:off x="6651549" y="2987131"/>
                <a:ext cx="1313895" cy="1313895"/>
                <a:chOff x="1882067" y="2796467"/>
                <a:chExt cx="1313894" cy="1313894"/>
              </a:xfrm>
              <a:solidFill>
                <a:schemeClr val="accent3"/>
              </a:solidFill>
            </p:grpSpPr>
            <p:sp>
              <p:nvSpPr>
                <p:cNvPr id="31" name="Block Arc 11"/>
                <p:cNvSpPr/>
                <p:nvPr/>
              </p:nvSpPr>
              <p:spPr>
                <a:xfrm rot="12943459">
                  <a:off x="1882067" y="2796467"/>
                  <a:ext cx="1313894" cy="1313894"/>
                </a:xfrm>
                <a:prstGeom prst="blockArc">
                  <a:avLst>
                    <a:gd name="adj1" fmla="val 9149185"/>
                    <a:gd name="adj2" fmla="val 7405758"/>
                    <a:gd name="adj3" fmla="val 6986"/>
                  </a:avLst>
                </a:pr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799">
                    <a:cs typeface="+mn-ea"/>
                    <a:sym typeface="+mn-lt"/>
                  </a:endParaRPr>
                </a:p>
              </p:txBody>
            </p:sp>
            <p:sp>
              <p:nvSpPr>
                <p:cNvPr id="32" name="Oval 12"/>
                <p:cNvSpPr/>
                <p:nvPr/>
              </p:nvSpPr>
              <p:spPr>
                <a:xfrm>
                  <a:off x="2150177" y="3064576"/>
                  <a:ext cx="777674" cy="777674"/>
                </a:xfrm>
                <a:prstGeom prst="ellipse">
                  <a:avLst/>
                </a:pr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799">
                    <a:cs typeface="+mn-ea"/>
                    <a:sym typeface="+mn-lt"/>
                  </a:endParaRPr>
                </a:p>
              </p:txBody>
            </p:sp>
          </p:grpSp>
          <p:grpSp>
            <p:nvGrpSpPr>
              <p:cNvPr id="26" name="Group 19"/>
              <p:cNvGrpSpPr/>
              <p:nvPr/>
            </p:nvGrpSpPr>
            <p:grpSpPr>
              <a:xfrm>
                <a:off x="7164415" y="3441845"/>
                <a:ext cx="289332" cy="332980"/>
                <a:chOff x="5359135" y="2382008"/>
                <a:chExt cx="216999" cy="249735"/>
              </a:xfrm>
            </p:grpSpPr>
            <p:sp>
              <p:nvSpPr>
                <p:cNvPr id="27" name="Freeform: Shape 20"/>
                <p:cNvSpPr/>
                <p:nvPr/>
              </p:nvSpPr>
              <p:spPr>
                <a:xfrm rot="10800000" flipH="1">
                  <a:off x="5359135" y="2382008"/>
                  <a:ext cx="216999" cy="249735"/>
                </a:xfrm>
                <a:custGeom>
                  <a:avLst/>
                  <a:gdLst>
                    <a:gd name="connsiteX0" fmla="*/ 0 w 999747"/>
                    <a:gd name="connsiteY0" fmla="*/ 0 h 1605837"/>
                    <a:gd name="connsiteX1" fmla="*/ 999747 w 999747"/>
                    <a:gd name="connsiteY1" fmla="*/ 0 h 1605837"/>
                    <a:gd name="connsiteX2" fmla="*/ 999747 w 999747"/>
                    <a:gd name="connsiteY2" fmla="*/ 0 h 1605837"/>
                    <a:gd name="connsiteX3" fmla="*/ 0 w 999747"/>
                    <a:gd name="connsiteY3" fmla="*/ 0 h 1605837"/>
                    <a:gd name="connsiteX4" fmla="*/ 0 w 999747"/>
                    <a:gd name="connsiteY4" fmla="*/ 1605837 h 1605837"/>
                    <a:gd name="connsiteX5" fmla="*/ 0 w 999747"/>
                    <a:gd name="connsiteY5" fmla="*/ 1605837 h 1605837"/>
                    <a:gd name="connsiteX6" fmla="*/ 0 w 999747"/>
                    <a:gd name="connsiteY6" fmla="*/ 0 h 1605837"/>
                    <a:gd name="connsiteX0" fmla="*/ 0 w 999747"/>
                    <a:gd name="connsiteY0" fmla="*/ 8964 h 1614801"/>
                    <a:gd name="connsiteX1" fmla="*/ 999747 w 999747"/>
                    <a:gd name="connsiteY1" fmla="*/ 8964 h 1614801"/>
                    <a:gd name="connsiteX2" fmla="*/ 703911 w 999747"/>
                    <a:gd name="connsiteY2" fmla="*/ 0 h 1614801"/>
                    <a:gd name="connsiteX3" fmla="*/ 0 w 999747"/>
                    <a:gd name="connsiteY3" fmla="*/ 8964 h 1614801"/>
                    <a:gd name="connsiteX4" fmla="*/ 0 w 999747"/>
                    <a:gd name="connsiteY4" fmla="*/ 1614801 h 1614801"/>
                    <a:gd name="connsiteX5" fmla="*/ 0 w 999747"/>
                    <a:gd name="connsiteY5" fmla="*/ 1614801 h 1614801"/>
                    <a:gd name="connsiteX6" fmla="*/ 0 w 999747"/>
                    <a:gd name="connsiteY6" fmla="*/ 8964 h 1614801"/>
                    <a:gd name="connsiteX0" fmla="*/ 0 w 703911"/>
                    <a:gd name="connsiteY0" fmla="*/ 8964 h 1614801"/>
                    <a:gd name="connsiteX1" fmla="*/ 703911 w 703911"/>
                    <a:gd name="connsiteY1" fmla="*/ 0 h 1614801"/>
                    <a:gd name="connsiteX2" fmla="*/ 0 w 703911"/>
                    <a:gd name="connsiteY2" fmla="*/ 8964 h 1614801"/>
                    <a:gd name="connsiteX3" fmla="*/ 0 w 703911"/>
                    <a:gd name="connsiteY3" fmla="*/ 1614801 h 1614801"/>
                    <a:gd name="connsiteX4" fmla="*/ 0 w 703911"/>
                    <a:gd name="connsiteY4" fmla="*/ 1614801 h 1614801"/>
                    <a:gd name="connsiteX5" fmla="*/ 0 w 703911"/>
                    <a:gd name="connsiteY5" fmla="*/ 8964 h 1614801"/>
                    <a:gd name="connsiteX0" fmla="*/ 0 w 703911"/>
                    <a:gd name="connsiteY0" fmla="*/ 8964 h 1614801"/>
                    <a:gd name="connsiteX1" fmla="*/ 703911 w 703911"/>
                    <a:gd name="connsiteY1" fmla="*/ 0 h 1614801"/>
                    <a:gd name="connsiteX2" fmla="*/ 0 w 703911"/>
                    <a:gd name="connsiteY2" fmla="*/ 8964 h 1614801"/>
                    <a:gd name="connsiteX3" fmla="*/ 0 w 703911"/>
                    <a:gd name="connsiteY3" fmla="*/ 1614801 h 1614801"/>
                    <a:gd name="connsiteX4" fmla="*/ 0 w 703911"/>
                    <a:gd name="connsiteY4" fmla="*/ 1614801 h 1614801"/>
                    <a:gd name="connsiteX5" fmla="*/ 0 w 703911"/>
                    <a:gd name="connsiteY5" fmla="*/ 8964 h 1614801"/>
                    <a:gd name="connsiteX0" fmla="*/ 0 w 703911"/>
                    <a:gd name="connsiteY0" fmla="*/ 0 h 1605837"/>
                    <a:gd name="connsiteX1" fmla="*/ 703911 w 703911"/>
                    <a:gd name="connsiteY1" fmla="*/ 8965 h 1605837"/>
                    <a:gd name="connsiteX2" fmla="*/ 0 w 703911"/>
                    <a:gd name="connsiteY2" fmla="*/ 0 h 1605837"/>
                    <a:gd name="connsiteX3" fmla="*/ 0 w 703911"/>
                    <a:gd name="connsiteY3" fmla="*/ 1605837 h 1605837"/>
                    <a:gd name="connsiteX4" fmla="*/ 0 w 703911"/>
                    <a:gd name="connsiteY4" fmla="*/ 1605837 h 1605837"/>
                    <a:gd name="connsiteX5" fmla="*/ 0 w 703911"/>
                    <a:gd name="connsiteY5" fmla="*/ 0 h 1605837"/>
                    <a:gd name="connsiteX0" fmla="*/ 0 w 506687"/>
                    <a:gd name="connsiteY0" fmla="*/ 0 h 1605837"/>
                    <a:gd name="connsiteX1" fmla="*/ 506687 w 506687"/>
                    <a:gd name="connsiteY1" fmla="*/ 1 h 1605837"/>
                    <a:gd name="connsiteX2" fmla="*/ 0 w 506687"/>
                    <a:gd name="connsiteY2" fmla="*/ 0 h 1605837"/>
                    <a:gd name="connsiteX3" fmla="*/ 0 w 506687"/>
                    <a:gd name="connsiteY3" fmla="*/ 1605837 h 1605837"/>
                    <a:gd name="connsiteX4" fmla="*/ 0 w 506687"/>
                    <a:gd name="connsiteY4" fmla="*/ 1605837 h 1605837"/>
                    <a:gd name="connsiteX5" fmla="*/ 0 w 506687"/>
                    <a:gd name="connsiteY5" fmla="*/ 0 h 160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6687" h="1605837">
                      <a:moveTo>
                        <a:pt x="0" y="0"/>
                      </a:moveTo>
                      <a:lnTo>
                        <a:pt x="506687" y="1"/>
                      </a:lnTo>
                      <a:lnTo>
                        <a:pt x="0" y="0"/>
                      </a:lnTo>
                      <a:lnTo>
                        <a:pt x="0" y="1605837"/>
                      </a:lnTo>
                      <a:lnTo>
                        <a:pt x="0" y="1605837"/>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799">
                    <a:cs typeface="+mn-ea"/>
                    <a:sym typeface="+mn-lt"/>
                  </a:endParaRPr>
                </a:p>
              </p:txBody>
            </p:sp>
            <p:sp>
              <p:nvSpPr>
                <p:cNvPr id="28" name="Flowchart: Process 21"/>
                <p:cNvSpPr/>
                <p:nvPr/>
              </p:nvSpPr>
              <p:spPr>
                <a:xfrm>
                  <a:off x="5389208" y="2490659"/>
                  <a:ext cx="28782" cy="141083"/>
                </a:xfrm>
                <a:prstGeom prst="flowChartProcess">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799">
                    <a:cs typeface="+mn-ea"/>
                    <a:sym typeface="+mn-lt"/>
                  </a:endParaRPr>
                </a:p>
              </p:txBody>
            </p:sp>
            <p:sp>
              <p:nvSpPr>
                <p:cNvPr id="29" name="Flowchart: Process 22"/>
                <p:cNvSpPr/>
                <p:nvPr/>
              </p:nvSpPr>
              <p:spPr>
                <a:xfrm>
                  <a:off x="5526093" y="2382018"/>
                  <a:ext cx="32927" cy="242855"/>
                </a:xfrm>
                <a:prstGeom prst="flowChartProcess">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799">
                    <a:cs typeface="+mn-ea"/>
                    <a:sym typeface="+mn-lt"/>
                  </a:endParaRPr>
                </a:p>
              </p:txBody>
            </p:sp>
            <p:sp>
              <p:nvSpPr>
                <p:cNvPr id="30" name="Flowchart: Process 23"/>
                <p:cNvSpPr/>
                <p:nvPr/>
              </p:nvSpPr>
              <p:spPr>
                <a:xfrm>
                  <a:off x="5454721" y="2436605"/>
                  <a:ext cx="28782" cy="190160"/>
                </a:xfrm>
                <a:prstGeom prst="flowChartProcess">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799">
                    <a:cs typeface="+mn-ea"/>
                    <a:sym typeface="+mn-lt"/>
                  </a:endParaRPr>
                </a:p>
              </p:txBody>
            </p:sp>
          </p:grpSp>
        </p:grpSp>
        <p:grpSp>
          <p:nvGrpSpPr>
            <p:cNvPr id="8" name="Group 38"/>
            <p:cNvGrpSpPr/>
            <p:nvPr/>
          </p:nvGrpSpPr>
          <p:grpSpPr>
            <a:xfrm>
              <a:off x="2003038" y="3024492"/>
              <a:ext cx="1313895" cy="1313895"/>
              <a:chOff x="2008654" y="3024492"/>
              <a:chExt cx="1313895" cy="1313895"/>
            </a:xfrm>
          </p:grpSpPr>
          <p:grpSp>
            <p:nvGrpSpPr>
              <p:cNvPr id="21" name="Group 7"/>
              <p:cNvGrpSpPr/>
              <p:nvPr/>
            </p:nvGrpSpPr>
            <p:grpSpPr>
              <a:xfrm rot="596657">
                <a:off x="2008654" y="3024492"/>
                <a:ext cx="1313895" cy="1313895"/>
                <a:chOff x="1882067" y="2796467"/>
                <a:chExt cx="1313894" cy="1313894"/>
              </a:xfrm>
            </p:grpSpPr>
            <p:sp>
              <p:nvSpPr>
                <p:cNvPr id="23" name="Block Arc 8"/>
                <p:cNvSpPr/>
                <p:nvPr/>
              </p:nvSpPr>
              <p:spPr>
                <a:xfrm rot="12943459">
                  <a:off x="1882067" y="2796467"/>
                  <a:ext cx="1313894" cy="1313894"/>
                </a:xfrm>
                <a:prstGeom prst="blockArc">
                  <a:avLst>
                    <a:gd name="adj1" fmla="val 8662853"/>
                    <a:gd name="adj2" fmla="val 7046337"/>
                    <a:gd name="adj3" fmla="val 7147"/>
                  </a:avLst>
                </a:pr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799">
                    <a:cs typeface="+mn-ea"/>
                    <a:sym typeface="+mn-lt"/>
                  </a:endParaRPr>
                </a:p>
              </p:txBody>
            </p:sp>
            <p:sp>
              <p:nvSpPr>
                <p:cNvPr id="24" name="Oval 9"/>
                <p:cNvSpPr/>
                <p:nvPr/>
              </p:nvSpPr>
              <p:spPr>
                <a:xfrm>
                  <a:off x="2150177" y="3064576"/>
                  <a:ext cx="777674" cy="777674"/>
                </a:xfrm>
                <a:prstGeom prst="ellipse">
                  <a:avLst/>
                </a:prstGeom>
                <a:solidFill>
                  <a:srgbClr val="4F4D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799">
                    <a:cs typeface="+mn-ea"/>
                    <a:sym typeface="+mn-lt"/>
                  </a:endParaRPr>
                </a:p>
              </p:txBody>
            </p:sp>
          </p:grpSp>
          <p:sp>
            <p:nvSpPr>
              <p:cNvPr id="22" name="Freeform: Shape 24"/>
              <p:cNvSpPr/>
              <p:nvPr/>
            </p:nvSpPr>
            <p:spPr>
              <a:xfrm rot="1825674">
                <a:off x="2361469" y="3519073"/>
                <a:ext cx="596956" cy="243924"/>
              </a:xfrm>
              <a:custGeom>
                <a:avLst/>
                <a:gdLst>
                  <a:gd name="connsiteX0" fmla="*/ 0 w 447717"/>
                  <a:gd name="connsiteY0" fmla="*/ 83672 h 182943"/>
                  <a:gd name="connsiteX1" fmla="*/ 447717 w 447717"/>
                  <a:gd name="connsiteY1" fmla="*/ 0 h 182943"/>
                  <a:gd name="connsiteX2" fmla="*/ 436560 w 447717"/>
                  <a:gd name="connsiteY2" fmla="*/ 10954 h 182943"/>
                  <a:gd name="connsiteX3" fmla="*/ 364472 w 447717"/>
                  <a:gd name="connsiteY3" fmla="*/ 79417 h 182943"/>
                  <a:gd name="connsiteX4" fmla="*/ 364562 w 447717"/>
                  <a:gd name="connsiteY4" fmla="*/ 79469 h 182943"/>
                  <a:gd name="connsiteX5" fmla="*/ 1124 w 447717"/>
                  <a:gd name="connsiteY5" fmla="*/ 83672 h 182943"/>
                  <a:gd name="connsiteX6" fmla="*/ 26359 w 447717"/>
                  <a:gd name="connsiteY6" fmla="*/ 85077 h 182943"/>
                  <a:gd name="connsiteX7" fmla="*/ 363099 w 447717"/>
                  <a:gd name="connsiteY7" fmla="*/ 81143 h 182943"/>
                  <a:gd name="connsiteX8" fmla="*/ 435344 w 447717"/>
                  <a:gd name="connsiteY8" fmla="*/ 122958 h 182943"/>
                  <a:gd name="connsiteX9" fmla="*/ 439783 w 447717"/>
                  <a:gd name="connsiteY9" fmla="*/ 123964 h 182943"/>
                  <a:gd name="connsiteX10" fmla="*/ 363358 w 447717"/>
                  <a:gd name="connsiteY10" fmla="*/ 80387 h 182943"/>
                  <a:gd name="connsiteX11" fmla="*/ 367904 w 447717"/>
                  <a:gd name="connsiteY11" fmla="*/ 80335 h 182943"/>
                  <a:gd name="connsiteX12" fmla="*/ 389531 w 447717"/>
                  <a:gd name="connsiteY12" fmla="*/ 58746 h 182943"/>
                  <a:gd name="connsiteX13" fmla="*/ 442102 w 447717"/>
                  <a:gd name="connsiteY13" fmla="*/ 124691 h 182943"/>
                  <a:gd name="connsiteX14" fmla="*/ 435720 w 447717"/>
                  <a:gd name="connsiteY14" fmla="*/ 123176 h 182943"/>
                  <a:gd name="connsiteX15" fmla="*/ 436516 w 447717"/>
                  <a:gd name="connsiteY15" fmla="*/ 123637 h 182943"/>
                  <a:gd name="connsiteX16" fmla="*/ 420832 w 447717"/>
                  <a:gd name="connsiteY16" fmla="*/ 120031 h 182943"/>
                  <a:gd name="connsiteX17" fmla="*/ 358631 w 447717"/>
                  <a:gd name="connsiteY17" fmla="*/ 105046 h 182943"/>
                  <a:gd name="connsiteX18" fmla="*/ 390347 w 447717"/>
                  <a:gd name="connsiteY18" fmla="*/ 182943 h 182943"/>
                  <a:gd name="connsiteX19" fmla="*/ 7521 w 447717"/>
                  <a:gd name="connsiteY19" fmla="*/ 85585 h 182943"/>
                  <a:gd name="connsiteX20" fmla="*/ 3283 w 447717"/>
                  <a:gd name="connsiteY20" fmla="*/ 85346 h 182943"/>
                  <a:gd name="connsiteX21" fmla="*/ 6439 w 447717"/>
                  <a:gd name="connsiteY21" fmla="*/ 85310 h 182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47717" h="182943">
                    <a:moveTo>
                      <a:pt x="0" y="83672"/>
                    </a:moveTo>
                    <a:lnTo>
                      <a:pt x="447717" y="0"/>
                    </a:lnTo>
                    <a:lnTo>
                      <a:pt x="436560" y="10954"/>
                    </a:lnTo>
                    <a:lnTo>
                      <a:pt x="364472" y="79417"/>
                    </a:lnTo>
                    <a:lnTo>
                      <a:pt x="364562" y="79469"/>
                    </a:lnTo>
                    <a:lnTo>
                      <a:pt x="1124" y="83672"/>
                    </a:lnTo>
                    <a:lnTo>
                      <a:pt x="26359" y="85077"/>
                    </a:lnTo>
                    <a:lnTo>
                      <a:pt x="363099" y="81143"/>
                    </a:lnTo>
                    <a:lnTo>
                      <a:pt x="435344" y="122958"/>
                    </a:lnTo>
                    <a:lnTo>
                      <a:pt x="439783" y="123964"/>
                    </a:lnTo>
                    <a:lnTo>
                      <a:pt x="363358" y="80387"/>
                    </a:lnTo>
                    <a:lnTo>
                      <a:pt x="367904" y="80335"/>
                    </a:lnTo>
                    <a:lnTo>
                      <a:pt x="389531" y="58746"/>
                    </a:lnTo>
                    <a:lnTo>
                      <a:pt x="442102" y="124691"/>
                    </a:lnTo>
                    <a:lnTo>
                      <a:pt x="435720" y="123176"/>
                    </a:lnTo>
                    <a:lnTo>
                      <a:pt x="436516" y="123637"/>
                    </a:lnTo>
                    <a:lnTo>
                      <a:pt x="420832" y="120031"/>
                    </a:lnTo>
                    <a:lnTo>
                      <a:pt x="358631" y="105046"/>
                    </a:lnTo>
                    <a:lnTo>
                      <a:pt x="390347" y="182943"/>
                    </a:lnTo>
                    <a:lnTo>
                      <a:pt x="7521" y="85585"/>
                    </a:lnTo>
                    <a:lnTo>
                      <a:pt x="3283" y="85346"/>
                    </a:lnTo>
                    <a:lnTo>
                      <a:pt x="6439" y="85310"/>
                    </a:lnTo>
                    <a:close/>
                  </a:path>
                </a:pathLst>
              </a:custGeom>
              <a:solidFill>
                <a:schemeClr val="bg1"/>
              </a:solidFill>
              <a:ln w="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799">
                  <a:cs typeface="+mn-ea"/>
                  <a:sym typeface="+mn-lt"/>
                </a:endParaRPr>
              </a:p>
            </p:txBody>
          </p:sp>
        </p:grpSp>
      </p:grpSp>
      <p:sp>
        <p:nvSpPr>
          <p:cNvPr id="52" name="TextBox 11"/>
          <p:cNvSpPr txBox="1"/>
          <p:nvPr/>
        </p:nvSpPr>
        <p:spPr>
          <a:xfrm>
            <a:off x="1791477" y="2240578"/>
            <a:ext cx="1627497" cy="325025"/>
          </a:xfrm>
          <a:prstGeom prst="rect">
            <a:avLst/>
          </a:prstGeom>
          <a:noFill/>
        </p:spPr>
        <p:txBody>
          <a:bodyPr wrap="square" lIns="0" tIns="0" rIns="0" bIns="0" rtlCol="0">
            <a:spAutoFit/>
            <a:scene3d>
              <a:camera prst="orthographicFront"/>
              <a:lightRig rig="threePt" dir="t"/>
            </a:scene3d>
            <a:sp3d contourW="12700"/>
          </a:bodyPr>
          <a:lstStyle/>
          <a:p>
            <a:pPr>
              <a:lnSpc>
                <a:spcPct val="130000"/>
              </a:lnSpc>
            </a:pPr>
            <a:r>
              <a:rPr lang="zh-CN" altLang="en-US" b="1" dirty="0">
                <a:solidFill>
                  <a:srgbClr val="404040"/>
                </a:solidFill>
                <a:latin typeface="方正黑体简体" panose="02010601030101010101" pitchFamily="2" charset="-122"/>
                <a:ea typeface="方正黑体简体" panose="02010601030101010101" pitchFamily="2" charset="-122"/>
                <a:cs typeface="+mn-ea"/>
                <a:sym typeface="+mn-lt"/>
              </a:rPr>
              <a:t> 图像重采样</a:t>
            </a:r>
            <a:endParaRPr lang="en-US" b="1" dirty="0">
              <a:solidFill>
                <a:srgbClr val="404040"/>
              </a:solidFill>
              <a:latin typeface="方正黑体简体" panose="02010601030101010101" pitchFamily="2" charset="-122"/>
              <a:ea typeface="方正黑体简体" panose="02010601030101010101" pitchFamily="2" charset="-122"/>
              <a:cs typeface="+mn-ea"/>
              <a:sym typeface="+mn-lt"/>
            </a:endParaRPr>
          </a:p>
        </p:txBody>
      </p:sp>
      <p:sp>
        <p:nvSpPr>
          <p:cNvPr id="61" name="TextBox 11"/>
          <p:cNvSpPr txBox="1"/>
          <p:nvPr/>
        </p:nvSpPr>
        <p:spPr>
          <a:xfrm>
            <a:off x="3551630" y="2235373"/>
            <a:ext cx="1710329" cy="325025"/>
          </a:xfrm>
          <a:prstGeom prst="rect">
            <a:avLst/>
          </a:prstGeom>
          <a:noFill/>
        </p:spPr>
        <p:txBody>
          <a:bodyPr wrap="square" lIns="0" tIns="0" rIns="0" bIns="0" rtlCol="0">
            <a:spAutoFit/>
            <a:scene3d>
              <a:camera prst="orthographicFront"/>
              <a:lightRig rig="threePt" dir="t"/>
            </a:scene3d>
            <a:sp3d contourW="12700"/>
          </a:bodyPr>
          <a:lstStyle/>
          <a:p>
            <a:pPr algn="r">
              <a:lnSpc>
                <a:spcPct val="130000"/>
              </a:lnSpc>
            </a:pPr>
            <a:r>
              <a:rPr lang="zh-CN" altLang="en-US" b="1" dirty="0">
                <a:solidFill>
                  <a:srgbClr val="404040"/>
                </a:solidFill>
                <a:latin typeface="方正黑体简体" panose="02010601030101010101" pitchFamily="2" charset="-122"/>
                <a:ea typeface="方正黑体简体" panose="02010601030101010101" pitchFamily="2" charset="-122"/>
                <a:cs typeface="+mn-ea"/>
                <a:sym typeface="+mn-lt"/>
              </a:rPr>
              <a:t>图像镶嵌</a:t>
            </a:r>
            <a:endParaRPr lang="en-US" altLang="zh-CN" b="1" dirty="0">
              <a:solidFill>
                <a:srgbClr val="404040"/>
              </a:solidFill>
              <a:latin typeface="方正黑体简体" panose="02010601030101010101" pitchFamily="2" charset="-122"/>
              <a:ea typeface="方正黑体简体" panose="02010601030101010101" pitchFamily="2" charset="-122"/>
              <a:cs typeface="+mn-ea"/>
              <a:sym typeface="+mn-lt"/>
            </a:endParaRPr>
          </a:p>
        </p:txBody>
      </p:sp>
      <p:pic>
        <p:nvPicPr>
          <p:cNvPr id="45" name="图片 44">
            <a:extLst>
              <a:ext uri="{FF2B5EF4-FFF2-40B4-BE49-F238E27FC236}">
                <a16:creationId xmlns:a16="http://schemas.microsoft.com/office/drawing/2014/main" id="{AB57C0F8-B204-4584-AB17-3A4B989238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2653" y="536291"/>
            <a:ext cx="60959" cy="286504"/>
          </a:xfrm>
          <a:prstGeom prst="rect">
            <a:avLst/>
          </a:prstGeom>
        </p:spPr>
      </p:pic>
      <p:sp>
        <p:nvSpPr>
          <p:cNvPr id="47" name="TextBox 7">
            <a:extLst>
              <a:ext uri="{FF2B5EF4-FFF2-40B4-BE49-F238E27FC236}">
                <a16:creationId xmlns:a16="http://schemas.microsoft.com/office/drawing/2014/main" id="{E85550B3-3070-4D72-8FA2-A190686442CB}"/>
              </a:ext>
            </a:extLst>
          </p:cNvPr>
          <p:cNvSpPr txBox="1"/>
          <p:nvPr/>
        </p:nvSpPr>
        <p:spPr>
          <a:xfrm>
            <a:off x="539983" y="440281"/>
            <a:ext cx="1415772" cy="461665"/>
          </a:xfrm>
          <a:prstGeom prst="rect">
            <a:avLst/>
          </a:prstGeom>
          <a:noFill/>
        </p:spPr>
        <p:txBody>
          <a:bodyPr wrap="none" rtlCol="0">
            <a:spAutoFit/>
          </a:bodyPr>
          <a:lstStyle/>
          <a:p>
            <a:pPr defTabSz="1219020"/>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重要算法</a:t>
            </a:r>
            <a:endParaRPr lang="en-US" altLang="zh-CN" sz="24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
        <p:nvSpPr>
          <p:cNvPr id="9" name="TextBox 11">
            <a:extLst>
              <a:ext uri="{FF2B5EF4-FFF2-40B4-BE49-F238E27FC236}">
                <a16:creationId xmlns:a16="http://schemas.microsoft.com/office/drawing/2014/main" id="{920BBD66-C321-4497-8AEA-DB02D267AD87}"/>
              </a:ext>
            </a:extLst>
          </p:cNvPr>
          <p:cNvSpPr txBox="1"/>
          <p:nvPr/>
        </p:nvSpPr>
        <p:spPr>
          <a:xfrm>
            <a:off x="8376065" y="2240577"/>
            <a:ext cx="2293664" cy="325025"/>
          </a:xfrm>
          <a:prstGeom prst="rect">
            <a:avLst/>
          </a:prstGeom>
          <a:noFill/>
        </p:spPr>
        <p:txBody>
          <a:bodyPr wrap="square" lIns="0" tIns="0" rIns="0" bIns="0" rtlCol="0">
            <a:spAutoFit/>
            <a:scene3d>
              <a:camera prst="orthographicFront"/>
              <a:lightRig rig="threePt" dir="t"/>
            </a:scene3d>
            <a:sp3d contourW="12700"/>
          </a:bodyPr>
          <a:lstStyle/>
          <a:p>
            <a:pPr algn="ctr">
              <a:lnSpc>
                <a:spcPct val="130000"/>
              </a:lnSpc>
            </a:pPr>
            <a:r>
              <a:rPr lang="zh-CN" altLang="en-US" b="1" dirty="0">
                <a:solidFill>
                  <a:srgbClr val="404040"/>
                </a:solidFill>
                <a:latin typeface="方正黑体简体" panose="02010601030101010101" pitchFamily="2" charset="-122"/>
                <a:ea typeface="方正黑体简体" panose="02010601030101010101" pitchFamily="2" charset="-122"/>
                <a:cs typeface="+mn-ea"/>
                <a:sym typeface="+mn-lt"/>
              </a:rPr>
              <a:t>图像重投影、图像校正</a:t>
            </a:r>
            <a:endParaRPr lang="en-US" altLang="zh-CN" b="1" dirty="0">
              <a:solidFill>
                <a:srgbClr val="404040"/>
              </a:solidFill>
              <a:latin typeface="方正黑体简体" panose="02010601030101010101" pitchFamily="2" charset="-122"/>
              <a:ea typeface="方正黑体简体" panose="02010601030101010101" pitchFamily="2" charset="-122"/>
              <a:cs typeface="+mn-ea"/>
              <a:sym typeface="+mn-lt"/>
            </a:endParaRPr>
          </a:p>
        </p:txBody>
      </p:sp>
      <p:sp>
        <p:nvSpPr>
          <p:cNvPr id="10" name="TextBox 11">
            <a:extLst>
              <a:ext uri="{FF2B5EF4-FFF2-40B4-BE49-F238E27FC236}">
                <a16:creationId xmlns:a16="http://schemas.microsoft.com/office/drawing/2014/main" id="{46802205-B6B3-4D2B-94ED-69765A7B56E4}"/>
              </a:ext>
            </a:extLst>
          </p:cNvPr>
          <p:cNvSpPr txBox="1"/>
          <p:nvPr/>
        </p:nvSpPr>
        <p:spPr>
          <a:xfrm>
            <a:off x="6642167" y="2241809"/>
            <a:ext cx="1679736" cy="325025"/>
          </a:xfrm>
          <a:prstGeom prst="rect">
            <a:avLst/>
          </a:prstGeom>
          <a:noFill/>
        </p:spPr>
        <p:txBody>
          <a:bodyPr wrap="square" lIns="0" tIns="0" rIns="0" bIns="0" rtlCol="0">
            <a:spAutoFit/>
            <a:scene3d>
              <a:camera prst="orthographicFront"/>
              <a:lightRig rig="threePt" dir="t"/>
            </a:scene3d>
            <a:sp3d contourW="12700"/>
          </a:bodyPr>
          <a:lstStyle/>
          <a:p>
            <a:pPr>
              <a:lnSpc>
                <a:spcPct val="130000"/>
              </a:lnSpc>
            </a:pPr>
            <a:r>
              <a:rPr lang="zh-CN" altLang="en-US" b="1" dirty="0">
                <a:solidFill>
                  <a:srgbClr val="404040"/>
                </a:solidFill>
                <a:latin typeface="方正黑体简体" panose="02010601030101010101" pitchFamily="2" charset="-122"/>
                <a:ea typeface="方正黑体简体" panose="02010601030101010101" pitchFamily="2" charset="-122"/>
                <a:cs typeface="+mn-ea"/>
                <a:sym typeface="+mn-lt"/>
              </a:rPr>
              <a:t>图像裁切</a:t>
            </a:r>
            <a:endParaRPr lang="en-US" b="1" dirty="0">
              <a:solidFill>
                <a:srgbClr val="404040"/>
              </a:solidFill>
              <a:latin typeface="方正黑体简体" panose="02010601030101010101" pitchFamily="2" charset="-122"/>
              <a:ea typeface="方正黑体简体" panose="02010601030101010101" pitchFamily="2" charset="-122"/>
              <a:cs typeface="+mn-ea"/>
              <a:sym typeface="+mn-lt"/>
            </a:endParaRPr>
          </a:p>
        </p:txBody>
      </p:sp>
      <p:sp>
        <p:nvSpPr>
          <p:cNvPr id="2" name="TextBox 11">
            <a:extLst>
              <a:ext uri="{FF2B5EF4-FFF2-40B4-BE49-F238E27FC236}">
                <a16:creationId xmlns:a16="http://schemas.microsoft.com/office/drawing/2014/main" id="{115538B9-2AA6-485E-A23F-CC0C7954D94B}"/>
              </a:ext>
            </a:extLst>
          </p:cNvPr>
          <p:cNvSpPr txBox="1"/>
          <p:nvPr/>
        </p:nvSpPr>
        <p:spPr>
          <a:xfrm>
            <a:off x="1629395" y="4770004"/>
            <a:ext cx="1951659" cy="609013"/>
          </a:xfrm>
          <a:prstGeom prst="rect">
            <a:avLst/>
          </a:prstGeom>
          <a:noFill/>
        </p:spPr>
        <p:txBody>
          <a:bodyPr wrap="square" lIns="0" tIns="0" rIns="0" bIns="0" rtlCol="0">
            <a:spAutoFit/>
            <a:scene3d>
              <a:camera prst="orthographicFront"/>
              <a:lightRig rig="threePt" dir="t"/>
            </a:scene3d>
            <a:sp3d contourW="12700"/>
          </a:bodyPr>
          <a:lstStyle/>
          <a:p>
            <a:pPr marL="285750" indent="-285750">
              <a:lnSpc>
                <a:spcPct val="130000"/>
              </a:lnSpc>
              <a:buFont typeface="Wingdings" panose="05000000000000000000" pitchFamily="2" charset="2"/>
              <a:buChar char="l"/>
            </a:pPr>
            <a:r>
              <a:rPr lang="zh-CN" altLang="en-US" sz="1600" dirty="0">
                <a:solidFill>
                  <a:srgbClr val="404040"/>
                </a:solidFill>
                <a:latin typeface="方正黑体简体" panose="02010601030101010101" pitchFamily="2" charset="-122"/>
                <a:ea typeface="方正黑体简体" panose="02010601030101010101" pitchFamily="2" charset="-122"/>
                <a:cs typeface="+mn-ea"/>
                <a:sym typeface="+mn-lt"/>
              </a:rPr>
              <a:t> </a:t>
            </a:r>
            <a:r>
              <a:rPr lang="en-US" altLang="zh-CN" sz="1600" dirty="0" err="1">
                <a:solidFill>
                  <a:srgbClr val="404040"/>
                </a:solidFill>
                <a:latin typeface="方正黑体简体" panose="02010601030101010101" pitchFamily="2" charset="-122"/>
                <a:ea typeface="方正黑体简体" panose="02010601030101010101" pitchFamily="2" charset="-122"/>
                <a:cs typeface="+mn-ea"/>
                <a:sym typeface="+mn-lt"/>
              </a:rPr>
              <a:t>RasterIO</a:t>
            </a:r>
            <a:r>
              <a:rPr lang="en-US" altLang="zh-CN" sz="1600" dirty="0">
                <a:solidFill>
                  <a:srgbClr val="404040"/>
                </a:solidFill>
                <a:latin typeface="方正黑体简体" panose="02010601030101010101" pitchFamily="2" charset="-122"/>
                <a:ea typeface="方正黑体简体" panose="02010601030101010101" pitchFamily="2" charset="-122"/>
                <a:cs typeface="+mn-ea"/>
                <a:sym typeface="+mn-lt"/>
              </a:rPr>
              <a:t> </a:t>
            </a:r>
            <a:r>
              <a:rPr lang="zh-CN" altLang="en-US" sz="1600" dirty="0">
                <a:solidFill>
                  <a:srgbClr val="404040"/>
                </a:solidFill>
                <a:latin typeface="方正黑体简体" panose="02010601030101010101" pitchFamily="2" charset="-122"/>
                <a:ea typeface="方正黑体简体" panose="02010601030101010101" pitchFamily="2" charset="-122"/>
                <a:cs typeface="+mn-ea"/>
                <a:sym typeface="+mn-lt"/>
              </a:rPr>
              <a:t>函数</a:t>
            </a:r>
            <a:endParaRPr lang="en-US" altLang="zh-CN" sz="1600" dirty="0">
              <a:solidFill>
                <a:srgbClr val="404040"/>
              </a:solidFill>
              <a:latin typeface="方正黑体简体" panose="02010601030101010101" pitchFamily="2" charset="-122"/>
              <a:ea typeface="方正黑体简体" panose="02010601030101010101" pitchFamily="2" charset="-122"/>
              <a:cs typeface="+mn-ea"/>
              <a:sym typeface="+mn-lt"/>
            </a:endParaRPr>
          </a:p>
          <a:p>
            <a:pPr marL="285750" indent="-285750">
              <a:lnSpc>
                <a:spcPct val="130000"/>
              </a:lnSpc>
              <a:buFont typeface="Wingdings" panose="05000000000000000000" pitchFamily="2" charset="2"/>
              <a:buChar char="l"/>
            </a:pPr>
            <a:r>
              <a:rPr lang="en-US" sz="1600" dirty="0" err="1">
                <a:solidFill>
                  <a:srgbClr val="404040"/>
                </a:solidFill>
                <a:latin typeface="方正黑体简体" panose="02010601030101010101" pitchFamily="2" charset="-122"/>
                <a:ea typeface="方正黑体简体" panose="02010601030101010101" pitchFamily="2" charset="-122"/>
                <a:cs typeface="+mn-ea"/>
                <a:sym typeface="+mn-lt"/>
              </a:rPr>
              <a:t>GDALWarp</a:t>
            </a:r>
            <a:r>
              <a:rPr lang="en-US" sz="1600" dirty="0">
                <a:solidFill>
                  <a:srgbClr val="404040"/>
                </a:solidFill>
                <a:latin typeface="方正黑体简体" panose="02010601030101010101" pitchFamily="2" charset="-122"/>
                <a:ea typeface="方正黑体简体" panose="02010601030101010101" pitchFamily="2" charset="-122"/>
                <a:cs typeface="+mn-ea"/>
                <a:sym typeface="+mn-lt"/>
              </a:rPr>
              <a:t> </a:t>
            </a:r>
            <a:r>
              <a:rPr lang="zh-CN" altLang="en-US" sz="1600" dirty="0">
                <a:solidFill>
                  <a:srgbClr val="404040"/>
                </a:solidFill>
                <a:latin typeface="方正黑体简体" panose="02010601030101010101" pitchFamily="2" charset="-122"/>
                <a:ea typeface="方正黑体简体" panose="02010601030101010101" pitchFamily="2" charset="-122"/>
                <a:cs typeface="+mn-ea"/>
                <a:sym typeface="+mn-lt"/>
              </a:rPr>
              <a:t>类</a:t>
            </a:r>
            <a:endParaRPr lang="en-US" sz="1600" dirty="0">
              <a:solidFill>
                <a:srgbClr val="404040"/>
              </a:solidFill>
              <a:latin typeface="方正黑体简体" panose="02010601030101010101" pitchFamily="2" charset="-122"/>
              <a:ea typeface="方正黑体简体" panose="02010601030101010101" pitchFamily="2" charset="-122"/>
              <a:cs typeface="+mn-ea"/>
              <a:sym typeface="+mn-lt"/>
            </a:endParaRPr>
          </a:p>
        </p:txBody>
      </p:sp>
      <p:sp>
        <p:nvSpPr>
          <p:cNvPr id="11" name="TextBox 11">
            <a:extLst>
              <a:ext uri="{FF2B5EF4-FFF2-40B4-BE49-F238E27FC236}">
                <a16:creationId xmlns:a16="http://schemas.microsoft.com/office/drawing/2014/main" id="{E8619050-4477-4030-9062-EC8CEC4BA9CD}"/>
              </a:ext>
            </a:extLst>
          </p:cNvPr>
          <p:cNvSpPr txBox="1"/>
          <p:nvPr/>
        </p:nvSpPr>
        <p:spPr>
          <a:xfrm>
            <a:off x="3840291" y="4783683"/>
            <a:ext cx="1951659" cy="609013"/>
          </a:xfrm>
          <a:prstGeom prst="rect">
            <a:avLst/>
          </a:prstGeom>
          <a:noFill/>
        </p:spPr>
        <p:txBody>
          <a:bodyPr wrap="square" lIns="0" tIns="0" rIns="0" bIns="0" rtlCol="0">
            <a:spAutoFit/>
            <a:scene3d>
              <a:camera prst="orthographicFront"/>
              <a:lightRig rig="threePt" dir="t"/>
            </a:scene3d>
            <a:sp3d contourW="12700"/>
          </a:bodyPr>
          <a:lstStyle/>
          <a:p>
            <a:pPr marL="285750" indent="-285750">
              <a:lnSpc>
                <a:spcPct val="130000"/>
              </a:lnSpc>
              <a:buFont typeface="Wingdings" panose="05000000000000000000" pitchFamily="2" charset="2"/>
              <a:buChar char="l"/>
            </a:pPr>
            <a:r>
              <a:rPr lang="en-US" sz="1600" dirty="0" err="1">
                <a:solidFill>
                  <a:srgbClr val="404040"/>
                </a:solidFill>
                <a:latin typeface="方正黑体简体" panose="02010601030101010101" pitchFamily="2" charset="-122"/>
                <a:ea typeface="方正黑体简体" panose="02010601030101010101" pitchFamily="2" charset="-122"/>
                <a:cs typeface="+mn-ea"/>
                <a:sym typeface="+mn-lt"/>
              </a:rPr>
              <a:t>GDALWarp</a:t>
            </a:r>
            <a:r>
              <a:rPr lang="en-US" sz="1600" dirty="0">
                <a:solidFill>
                  <a:srgbClr val="404040"/>
                </a:solidFill>
                <a:latin typeface="方正黑体简体" panose="02010601030101010101" pitchFamily="2" charset="-122"/>
                <a:ea typeface="方正黑体简体" panose="02010601030101010101" pitchFamily="2" charset="-122"/>
                <a:cs typeface="+mn-ea"/>
                <a:sym typeface="+mn-lt"/>
              </a:rPr>
              <a:t> </a:t>
            </a:r>
            <a:r>
              <a:rPr lang="zh-CN" altLang="en-US" sz="1600" dirty="0">
                <a:solidFill>
                  <a:srgbClr val="404040"/>
                </a:solidFill>
                <a:latin typeface="方正黑体简体" panose="02010601030101010101" pitchFamily="2" charset="-122"/>
                <a:ea typeface="方正黑体简体" panose="02010601030101010101" pitchFamily="2" charset="-122"/>
                <a:cs typeface="+mn-ea"/>
                <a:sym typeface="+mn-lt"/>
              </a:rPr>
              <a:t>类提供的相应接口</a:t>
            </a:r>
            <a:endParaRPr lang="en-US" sz="1600" dirty="0">
              <a:solidFill>
                <a:srgbClr val="404040"/>
              </a:solidFill>
              <a:latin typeface="方正黑体简体" panose="02010601030101010101" pitchFamily="2" charset="-122"/>
              <a:ea typeface="方正黑体简体" panose="02010601030101010101" pitchFamily="2" charset="-122"/>
              <a:cs typeface="+mn-ea"/>
              <a:sym typeface="+mn-lt"/>
            </a:endParaRPr>
          </a:p>
        </p:txBody>
      </p:sp>
      <p:sp>
        <p:nvSpPr>
          <p:cNvPr id="12" name="TextBox 11">
            <a:extLst>
              <a:ext uri="{FF2B5EF4-FFF2-40B4-BE49-F238E27FC236}">
                <a16:creationId xmlns:a16="http://schemas.microsoft.com/office/drawing/2014/main" id="{7F6F9D9D-3213-4C31-97C4-CF28ED36D626}"/>
              </a:ext>
            </a:extLst>
          </p:cNvPr>
          <p:cNvSpPr txBox="1"/>
          <p:nvPr/>
        </p:nvSpPr>
        <p:spPr>
          <a:xfrm>
            <a:off x="6167812" y="4766651"/>
            <a:ext cx="1951659" cy="609013"/>
          </a:xfrm>
          <a:prstGeom prst="rect">
            <a:avLst/>
          </a:prstGeom>
          <a:noFill/>
        </p:spPr>
        <p:txBody>
          <a:bodyPr wrap="square" lIns="0" tIns="0" rIns="0" bIns="0" rtlCol="0">
            <a:spAutoFit/>
            <a:scene3d>
              <a:camera prst="orthographicFront"/>
              <a:lightRig rig="threePt" dir="t"/>
            </a:scene3d>
            <a:sp3d contourW="12700"/>
          </a:bodyPr>
          <a:lstStyle/>
          <a:p>
            <a:pPr marL="285750" indent="-285750">
              <a:lnSpc>
                <a:spcPct val="130000"/>
              </a:lnSpc>
              <a:buFont typeface="Wingdings" panose="05000000000000000000" pitchFamily="2" charset="2"/>
              <a:buChar char="l"/>
            </a:pPr>
            <a:r>
              <a:rPr lang="zh-CN" altLang="en-US" sz="1600" dirty="0">
                <a:solidFill>
                  <a:srgbClr val="404040"/>
                </a:solidFill>
                <a:latin typeface="方正黑体简体" panose="02010601030101010101" pitchFamily="2" charset="-122"/>
                <a:ea typeface="方正黑体简体" panose="02010601030101010101" pitchFamily="2" charset="-122"/>
                <a:cs typeface="+mn-ea"/>
                <a:sym typeface="+mn-lt"/>
              </a:rPr>
              <a:t>矩形的规则裁切</a:t>
            </a:r>
            <a:endParaRPr lang="en-US" altLang="zh-CN" sz="1600" dirty="0">
              <a:solidFill>
                <a:srgbClr val="404040"/>
              </a:solidFill>
              <a:latin typeface="方正黑体简体" panose="02010601030101010101" pitchFamily="2" charset="-122"/>
              <a:ea typeface="方正黑体简体" panose="02010601030101010101" pitchFamily="2" charset="-122"/>
              <a:cs typeface="+mn-ea"/>
              <a:sym typeface="+mn-lt"/>
            </a:endParaRPr>
          </a:p>
          <a:p>
            <a:pPr marL="285750" indent="-285750">
              <a:lnSpc>
                <a:spcPct val="130000"/>
              </a:lnSpc>
              <a:buFont typeface="Wingdings" panose="05000000000000000000" pitchFamily="2" charset="2"/>
              <a:buChar char="l"/>
            </a:pPr>
            <a:r>
              <a:rPr lang="en-US" sz="1600" dirty="0">
                <a:solidFill>
                  <a:srgbClr val="404040"/>
                </a:solidFill>
                <a:latin typeface="方正黑体简体" panose="02010601030101010101" pitchFamily="2" charset="-122"/>
                <a:ea typeface="方正黑体简体" panose="02010601030101010101" pitchFamily="2" charset="-122"/>
                <a:cs typeface="+mn-ea"/>
                <a:sym typeface="+mn-lt"/>
              </a:rPr>
              <a:t>AOI</a:t>
            </a:r>
            <a:r>
              <a:rPr lang="zh-CN" altLang="en-US" sz="1600" dirty="0">
                <a:solidFill>
                  <a:srgbClr val="404040"/>
                </a:solidFill>
                <a:latin typeface="方正黑体简体" panose="02010601030101010101" pitchFamily="2" charset="-122"/>
                <a:ea typeface="方正黑体简体" panose="02010601030101010101" pitchFamily="2" charset="-122"/>
                <a:cs typeface="+mn-ea"/>
                <a:sym typeface="+mn-lt"/>
              </a:rPr>
              <a:t>的不规则裁切</a:t>
            </a:r>
            <a:endParaRPr lang="en-US" sz="1600" dirty="0">
              <a:solidFill>
                <a:srgbClr val="404040"/>
              </a:solidFill>
              <a:latin typeface="方正黑体简体" panose="02010601030101010101" pitchFamily="2" charset="-122"/>
              <a:ea typeface="方正黑体简体" panose="02010601030101010101" pitchFamily="2" charset="-122"/>
              <a:cs typeface="+mn-ea"/>
              <a:sym typeface="+mn-lt"/>
            </a:endParaRPr>
          </a:p>
        </p:txBody>
      </p:sp>
      <p:sp>
        <p:nvSpPr>
          <p:cNvPr id="13" name="TextBox 11">
            <a:extLst>
              <a:ext uri="{FF2B5EF4-FFF2-40B4-BE49-F238E27FC236}">
                <a16:creationId xmlns:a16="http://schemas.microsoft.com/office/drawing/2014/main" id="{B496DC80-000A-4D8E-A56E-6557052724E9}"/>
              </a:ext>
            </a:extLst>
          </p:cNvPr>
          <p:cNvSpPr txBox="1"/>
          <p:nvPr/>
        </p:nvSpPr>
        <p:spPr>
          <a:xfrm>
            <a:off x="8900168" y="4783683"/>
            <a:ext cx="1259405" cy="929100"/>
          </a:xfrm>
          <a:prstGeom prst="rect">
            <a:avLst/>
          </a:prstGeom>
          <a:noFill/>
        </p:spPr>
        <p:txBody>
          <a:bodyPr wrap="square" lIns="0" tIns="0" rIns="0" bIns="0" rtlCol="0">
            <a:spAutoFit/>
            <a:scene3d>
              <a:camera prst="orthographicFront"/>
              <a:lightRig rig="threePt" dir="t"/>
            </a:scene3d>
            <a:sp3d contourW="12700"/>
          </a:bodyPr>
          <a:lstStyle/>
          <a:p>
            <a:pPr marL="285750" indent="-285750">
              <a:lnSpc>
                <a:spcPct val="130000"/>
              </a:lnSpc>
              <a:buFont typeface="Wingdings" panose="05000000000000000000" pitchFamily="2" charset="2"/>
              <a:buChar char="l"/>
            </a:pPr>
            <a:r>
              <a:rPr lang="zh-CN" altLang="en-US" sz="1600" dirty="0">
                <a:solidFill>
                  <a:srgbClr val="404040"/>
                </a:solidFill>
                <a:latin typeface="方正黑体简体" panose="02010601030101010101" pitchFamily="2" charset="-122"/>
                <a:ea typeface="方正黑体简体" panose="02010601030101010101" pitchFamily="2" charset="-122"/>
                <a:cs typeface="+mn-ea"/>
                <a:sym typeface="+mn-lt"/>
              </a:rPr>
              <a:t>坐标转换</a:t>
            </a:r>
            <a:endParaRPr lang="en-US" altLang="zh-CN" sz="1600" dirty="0">
              <a:solidFill>
                <a:srgbClr val="404040"/>
              </a:solidFill>
              <a:latin typeface="方正黑体简体" panose="02010601030101010101" pitchFamily="2" charset="-122"/>
              <a:ea typeface="方正黑体简体" panose="02010601030101010101" pitchFamily="2" charset="-122"/>
              <a:cs typeface="+mn-ea"/>
              <a:sym typeface="+mn-lt"/>
            </a:endParaRPr>
          </a:p>
          <a:p>
            <a:pPr marL="285750" indent="-285750">
              <a:lnSpc>
                <a:spcPct val="130000"/>
              </a:lnSpc>
              <a:buFont typeface="Wingdings" panose="05000000000000000000" pitchFamily="2" charset="2"/>
              <a:buChar char="l"/>
            </a:pPr>
            <a:r>
              <a:rPr lang="zh-CN" altLang="en-US" sz="1600" dirty="0">
                <a:solidFill>
                  <a:srgbClr val="404040"/>
                </a:solidFill>
                <a:latin typeface="方正黑体简体" panose="02010601030101010101" pitchFamily="2" charset="-122"/>
                <a:ea typeface="方正黑体简体" panose="02010601030101010101" pitchFamily="2" charset="-122"/>
                <a:cs typeface="+mn-ea"/>
                <a:sym typeface="+mn-lt"/>
              </a:rPr>
              <a:t>数学关系</a:t>
            </a:r>
            <a:endParaRPr lang="en-US" altLang="zh-CN" sz="1600" dirty="0">
              <a:solidFill>
                <a:srgbClr val="404040"/>
              </a:solidFill>
              <a:latin typeface="方正黑体简体" panose="02010601030101010101" pitchFamily="2" charset="-122"/>
              <a:ea typeface="方正黑体简体" panose="02010601030101010101" pitchFamily="2" charset="-122"/>
              <a:cs typeface="+mn-ea"/>
              <a:sym typeface="+mn-lt"/>
            </a:endParaRPr>
          </a:p>
          <a:p>
            <a:pPr marL="285750" indent="-285750">
              <a:lnSpc>
                <a:spcPct val="130000"/>
              </a:lnSpc>
              <a:buFont typeface="Wingdings" panose="05000000000000000000" pitchFamily="2" charset="2"/>
              <a:buChar char="l"/>
            </a:pPr>
            <a:endParaRPr lang="en-US" sz="1600" dirty="0">
              <a:solidFill>
                <a:srgbClr val="404040"/>
              </a:solidFill>
              <a:latin typeface="方正黑体简体" panose="02010601030101010101" pitchFamily="2" charset="-122"/>
              <a:ea typeface="方正黑体简体" panose="02010601030101010101" pitchFamily="2" charset="-122"/>
              <a:cs typeface="+mn-ea"/>
              <a:sym typeface="+mn-lt"/>
            </a:endParaRPr>
          </a:p>
        </p:txBody>
      </p:sp>
    </p:spTree>
    <p:extLst>
      <p:ext uri="{BB962C8B-B14F-4D97-AF65-F5344CB8AC3E}">
        <p14:creationId xmlns:p14="http://schemas.microsoft.com/office/powerpoint/2010/main" val="3683179676"/>
      </p:ext>
    </p:extLst>
  </p:cSld>
  <p:clrMapOvr>
    <a:masterClrMapping/>
  </p:clrMapOvr>
  <mc:AlternateContent xmlns:mc="http://schemas.openxmlformats.org/markup-compatibility/2006" xmlns:p14="http://schemas.microsoft.com/office/powerpoint/2010/main">
    <mc:Choice Requires="p14">
      <p:transition p14:dur="250" advClick="0" advTm="12577">
        <p:push dir="u"/>
      </p:transition>
    </mc:Choice>
    <mc:Fallback xmlns="">
      <p:transition advClick="0" advTm="12577">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300" fill="hold"/>
                                        <p:tgtEl>
                                          <p:spTgt spid="45"/>
                                        </p:tgtEl>
                                        <p:attrNameLst>
                                          <p:attrName>ppt_x</p:attrName>
                                        </p:attrNameLst>
                                      </p:cBhvr>
                                      <p:tavLst>
                                        <p:tav tm="0">
                                          <p:val>
                                            <p:strVal val="0-#ppt_w/2"/>
                                          </p:val>
                                        </p:tav>
                                        <p:tav tm="100000">
                                          <p:val>
                                            <p:strVal val="#ppt_x"/>
                                          </p:val>
                                        </p:tav>
                                      </p:tavLst>
                                    </p:anim>
                                    <p:anim calcmode="lin" valueType="num">
                                      <p:cBhvr additive="base">
                                        <p:cTn id="8" dur="300" fill="hold"/>
                                        <p:tgtEl>
                                          <p:spTgt spid="4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300"/>
                                  </p:stCondLst>
                                  <p:childTnLst>
                                    <p:set>
                                      <p:cBhvr>
                                        <p:cTn id="10" dur="1" fill="hold">
                                          <p:stCondLst>
                                            <p:cond delay="0"/>
                                          </p:stCondLst>
                                        </p:cTn>
                                        <p:tgtEl>
                                          <p:spTgt spid="47"/>
                                        </p:tgtEl>
                                        <p:attrNameLst>
                                          <p:attrName>style.visibility</p:attrName>
                                        </p:attrNameLst>
                                      </p:cBhvr>
                                      <p:to>
                                        <p:strVal val="visible"/>
                                      </p:to>
                                    </p:set>
                                    <p:anim calcmode="lin" valueType="num">
                                      <p:cBhvr additive="base">
                                        <p:cTn id="11" dur="300" fill="hold"/>
                                        <p:tgtEl>
                                          <p:spTgt spid="47"/>
                                        </p:tgtEl>
                                        <p:attrNameLst>
                                          <p:attrName>ppt_x</p:attrName>
                                        </p:attrNameLst>
                                      </p:cBhvr>
                                      <p:tavLst>
                                        <p:tav tm="0">
                                          <p:val>
                                            <p:strVal val="0-#ppt_w/2"/>
                                          </p:val>
                                        </p:tav>
                                        <p:tav tm="100000">
                                          <p:val>
                                            <p:strVal val="#ppt_x"/>
                                          </p:val>
                                        </p:tav>
                                      </p:tavLst>
                                    </p:anim>
                                    <p:anim calcmode="lin" valueType="num">
                                      <p:cBhvr additive="base">
                                        <p:cTn id="12" dur="300" fill="hold"/>
                                        <p:tgtEl>
                                          <p:spTgt spid="47"/>
                                        </p:tgtEl>
                                        <p:attrNameLst>
                                          <p:attrName>ppt_y</p:attrName>
                                        </p:attrNameLst>
                                      </p:cBhvr>
                                      <p:tavLst>
                                        <p:tav tm="0">
                                          <p:val>
                                            <p:strVal val="#ppt_y"/>
                                          </p:val>
                                        </p:tav>
                                        <p:tav tm="100000">
                                          <p:val>
                                            <p:strVal val="#ppt_y"/>
                                          </p:val>
                                        </p:tav>
                                      </p:tavLst>
                                    </p:anim>
                                  </p:childTnLst>
                                </p:cTn>
                              </p:par>
                            </p:childTnLst>
                          </p:cTn>
                        </p:par>
                        <p:par>
                          <p:cTn id="13" fill="hold">
                            <p:stCondLst>
                              <p:cond delay="600"/>
                            </p:stCondLst>
                            <p:childTnLst>
                              <p:par>
                                <p:cTn id="14" presetID="2" presetClass="entr" presetSubtype="2"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1+#ppt_w/2"/>
                                          </p:val>
                                        </p:tav>
                                        <p:tav tm="100000">
                                          <p:val>
                                            <p:strVal val="#ppt_x"/>
                                          </p:val>
                                        </p:tav>
                                      </p:tavLst>
                                    </p:anim>
                                    <p:anim calcmode="lin" valueType="num">
                                      <p:cBhvr additive="base">
                                        <p:cTn id="17"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4F4D50"/>
        </a:solidFill>
        <a:effectLst/>
      </p:bgPr>
    </p:bg>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5F91AE90-90EB-4EAD-890F-94FE6763D5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9403" y="699244"/>
            <a:ext cx="10753195" cy="5459512"/>
          </a:xfrm>
          <a:prstGeom prst="rect">
            <a:avLst/>
          </a:prstGeom>
        </p:spPr>
      </p:pic>
      <p:pic>
        <p:nvPicPr>
          <p:cNvPr id="8" name="图片 7">
            <a:extLst>
              <a:ext uri="{FF2B5EF4-FFF2-40B4-BE49-F238E27FC236}">
                <a16:creationId xmlns:a16="http://schemas.microsoft.com/office/drawing/2014/main" id="{DAB9EB7C-89B1-4F75-A56E-A250A1E33D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5787" y="3132782"/>
            <a:ext cx="3515549" cy="2797285"/>
          </a:xfrm>
          <a:prstGeom prst="rect">
            <a:avLst/>
          </a:prstGeom>
        </p:spPr>
      </p:pic>
      <p:sp>
        <p:nvSpPr>
          <p:cNvPr id="24" name="TextBox 6">
            <a:extLst>
              <a:ext uri="{FF2B5EF4-FFF2-40B4-BE49-F238E27FC236}">
                <a16:creationId xmlns:a16="http://schemas.microsoft.com/office/drawing/2014/main" id="{5C594FBB-C0CF-4EE7-BE59-A6CCAA43EEDE}"/>
              </a:ext>
            </a:extLst>
          </p:cNvPr>
          <p:cNvSpPr txBox="1"/>
          <p:nvPr/>
        </p:nvSpPr>
        <p:spPr>
          <a:xfrm>
            <a:off x="3243296" y="1988840"/>
            <a:ext cx="5705408" cy="1733680"/>
          </a:xfrm>
          <a:prstGeom prst="rect">
            <a:avLst/>
          </a:prstGeom>
          <a:noFill/>
        </p:spPr>
        <p:txBody>
          <a:bodyPr wrap="none" rtlCol="0">
            <a:spAutoFit/>
          </a:bodyPr>
          <a:lstStyle/>
          <a:p>
            <a:pPr algn="ctr" defTabSz="1219020"/>
            <a:r>
              <a:rPr lang="en-US" altLang="zh-CN" sz="10666" dirty="0">
                <a:solidFill>
                  <a:prstClr val="black">
                    <a:lumMod val="65000"/>
                    <a:lumOff val="35000"/>
                  </a:prstClr>
                </a:solidFill>
                <a:latin typeface="方正黑体简体" panose="02010601030101010101" pitchFamily="2" charset="-122"/>
                <a:ea typeface="方正黑体简体" panose="02010601030101010101" pitchFamily="2" charset="-122"/>
                <a:cs typeface="+mn-ea"/>
                <a:sym typeface="+mn-lt"/>
              </a:rPr>
              <a:t>THANKS</a:t>
            </a:r>
            <a:endParaRPr lang="zh-CN" altLang="en-US" sz="10666" dirty="0">
              <a:solidFill>
                <a:prstClr val="black">
                  <a:lumMod val="65000"/>
                  <a:lumOff val="35000"/>
                </a:prstClr>
              </a:solidFill>
              <a:latin typeface="方正黑体简体" panose="02010601030101010101" pitchFamily="2" charset="-122"/>
              <a:ea typeface="方正黑体简体" panose="02010601030101010101" pitchFamily="2" charset="-122"/>
              <a:cs typeface="+mn-ea"/>
              <a:sym typeface="+mn-lt"/>
            </a:endParaRPr>
          </a:p>
        </p:txBody>
      </p:sp>
      <p:sp>
        <p:nvSpPr>
          <p:cNvPr id="25" name="TextBox 7">
            <a:extLst>
              <a:ext uri="{FF2B5EF4-FFF2-40B4-BE49-F238E27FC236}">
                <a16:creationId xmlns:a16="http://schemas.microsoft.com/office/drawing/2014/main" id="{BB7000B9-5A3C-4C54-A46E-CCCD4FD2590C}"/>
              </a:ext>
            </a:extLst>
          </p:cNvPr>
          <p:cNvSpPr txBox="1"/>
          <p:nvPr/>
        </p:nvSpPr>
        <p:spPr>
          <a:xfrm>
            <a:off x="3695729" y="3039150"/>
            <a:ext cx="4800539" cy="913007"/>
          </a:xfrm>
          <a:prstGeom prst="rect">
            <a:avLst/>
          </a:prstGeom>
          <a:noFill/>
        </p:spPr>
        <p:txBody>
          <a:bodyPr wrap="square" rtlCol="0">
            <a:spAutoFit/>
          </a:bodyPr>
          <a:lstStyle/>
          <a:p>
            <a:pPr algn="ctr" defTabSz="1219020"/>
            <a:r>
              <a:rPr lang="zh-CN" altLang="en-US" sz="5333" spc="400" dirty="0">
                <a:solidFill>
                  <a:prstClr val="white"/>
                </a:solidFill>
                <a:latin typeface="方正黑体简体" panose="02010601030101010101" pitchFamily="2" charset="-122"/>
                <a:ea typeface="方正黑体简体" panose="02010601030101010101" pitchFamily="2" charset="-122"/>
                <a:cs typeface="+mn-ea"/>
                <a:sym typeface="+mn-lt"/>
              </a:rPr>
              <a:t>感谢聆听</a:t>
            </a:r>
            <a:endParaRPr lang="en-US" altLang="zh-CN" sz="5333" spc="400" dirty="0">
              <a:solidFill>
                <a:prstClr val="white"/>
              </a:solidFill>
              <a:latin typeface="方正黑体简体" panose="02010601030101010101" pitchFamily="2" charset="-122"/>
              <a:ea typeface="方正黑体简体" panose="02010601030101010101" pitchFamily="2" charset="-122"/>
              <a:cs typeface="+mn-ea"/>
              <a:sym typeface="+mn-lt"/>
            </a:endParaRPr>
          </a:p>
        </p:txBody>
      </p:sp>
    </p:spTree>
    <p:extLst>
      <p:ext uri="{BB962C8B-B14F-4D97-AF65-F5344CB8AC3E}">
        <p14:creationId xmlns:p14="http://schemas.microsoft.com/office/powerpoint/2010/main" val="1729102020"/>
      </p:ext>
    </p:extLst>
  </p:cSld>
  <p:clrMapOvr>
    <a:masterClrMapping/>
  </p:clrMapOvr>
  <mc:AlternateContent xmlns:mc="http://schemas.openxmlformats.org/markup-compatibility/2006" xmlns:p14="http://schemas.microsoft.com/office/powerpoint/2010/main">
    <mc:Choice Requires="p14">
      <p:transition p14:dur="250" advClick="0" advTm="4226">
        <p:blinds dir="vert"/>
      </p:transition>
    </mc:Choice>
    <mc:Fallback xmlns="">
      <p:transition advClick="0" advTm="4226">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4)">
                                      <p:cBhvr>
                                        <p:cTn id="7" dur="750"/>
                                        <p:tgtEl>
                                          <p:spTgt spid="6"/>
                                        </p:tgtEl>
                                      </p:cBhvr>
                                    </p:animEffect>
                                  </p:childTnLst>
                                </p:cTn>
                              </p:par>
                            </p:childTnLst>
                          </p:cTn>
                        </p:par>
                        <p:par>
                          <p:cTn id="8" fill="hold">
                            <p:stCondLst>
                              <p:cond delay="750"/>
                            </p:stCondLst>
                            <p:childTnLst>
                              <p:par>
                                <p:cTn id="9" presetID="10"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par>
                                <p:cTn id="12" presetID="53" presetClass="entr" presetSubtype="16"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500" fill="hold"/>
                                        <p:tgtEl>
                                          <p:spTgt spid="25"/>
                                        </p:tgtEl>
                                        <p:attrNameLst>
                                          <p:attrName>ppt_w</p:attrName>
                                        </p:attrNameLst>
                                      </p:cBhvr>
                                      <p:tavLst>
                                        <p:tav tm="0">
                                          <p:val>
                                            <p:fltVal val="0"/>
                                          </p:val>
                                        </p:tav>
                                        <p:tav tm="100000">
                                          <p:val>
                                            <p:strVal val="#ppt_w"/>
                                          </p:val>
                                        </p:tav>
                                      </p:tavLst>
                                    </p:anim>
                                    <p:anim calcmode="lin" valueType="num">
                                      <p:cBhvr>
                                        <p:cTn id="15" dur="500" fill="hold"/>
                                        <p:tgtEl>
                                          <p:spTgt spid="25"/>
                                        </p:tgtEl>
                                        <p:attrNameLst>
                                          <p:attrName>ppt_h</p:attrName>
                                        </p:attrNameLst>
                                      </p:cBhvr>
                                      <p:tavLst>
                                        <p:tav tm="0">
                                          <p:val>
                                            <p:fltVal val="0"/>
                                          </p:val>
                                        </p:tav>
                                        <p:tav tm="100000">
                                          <p:val>
                                            <p:strVal val="#ppt_h"/>
                                          </p:val>
                                        </p:tav>
                                      </p:tavLst>
                                    </p:anim>
                                    <p:animEffect transition="in" filter="fade">
                                      <p:cBhvr>
                                        <p:cTn id="16" dur="500"/>
                                        <p:tgtEl>
                                          <p:spTgt spid="25"/>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EDF4BCF6-8C2B-4CE8-82CE-58DA199F12C3"/>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PRESENTATION_TITLE" val="物业"/>
  <p:tag name="ISPRING_SCORM_ENDPOINT" val="&lt;endpoint&gt;&lt;enable&gt;0&lt;/enable&gt;&lt;lrs&gt;http://&lt;/lrs&gt;&lt;auth&gt;0&lt;/auth&gt;&lt;login&gt;&lt;/login&gt;&lt;password&gt;&lt;/password&gt;&lt;key&gt;&lt;/key&gt;&lt;name&gt;&lt;/name&gt;&lt;email&gt;&lt;/email&gt;&lt;/endpoint&gt;&#10;"/>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PA" val="v3.2.0"/>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51vaecdp">
      <a:majorFont>
        <a:latin typeface="FZHei-B01S"/>
        <a:ea typeface="FZHei-B01S"/>
        <a:cs typeface=""/>
      </a:majorFont>
      <a:minorFont>
        <a:latin typeface="FZHei-B01S"/>
        <a:ea typeface="FZHei-B01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3197</Words>
  <Application>Microsoft Office PowerPoint</Application>
  <PresentationFormat>宽屏</PresentationFormat>
  <Paragraphs>322</Paragraphs>
  <Slides>41</Slides>
  <Notes>41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41</vt:i4>
      </vt:variant>
    </vt:vector>
  </HeadingPairs>
  <TitlesOfParts>
    <vt:vector size="53" baseType="lpstr">
      <vt:lpstr>FZHei-B01S</vt:lpstr>
      <vt:lpstr>等线</vt:lpstr>
      <vt:lpstr>方正黑体简体</vt:lpstr>
      <vt:lpstr>宋体</vt:lpstr>
      <vt:lpstr>微软雅黑</vt:lpstr>
      <vt:lpstr>微软雅黑 Light</vt:lpstr>
      <vt:lpstr>Agency FB</vt:lpstr>
      <vt:lpstr>Arial</vt:lpstr>
      <vt:lpstr>Calibri</vt:lpstr>
      <vt:lpstr>Times New Roman</vt:lpstr>
      <vt:lpstr>Wingdings</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http://www.ypppt.com/</dc:description>
  <cp:lastModifiedBy/>
  <cp:revision>1</cp:revision>
  <dcterms:created xsi:type="dcterms:W3CDTF">2019-01-02T04:14:42Z</dcterms:created>
  <dcterms:modified xsi:type="dcterms:W3CDTF">2021-07-11T12:54:50Z</dcterms:modified>
</cp:coreProperties>
</file>